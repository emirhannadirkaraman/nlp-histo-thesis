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60"/>
  </p:notesMasterIdLst>
  <p:handoutMasterIdLst>
    <p:handoutMasterId r:id="rId61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4" autoAdjust="0"/>
    <p:restoredTop sz="79857" autoAdjust="0"/>
  </p:normalViewPr>
  <p:slideViewPr>
    <p:cSldViewPr snapToGrid="0">
      <p:cViewPr varScale="1">
        <p:scale>
          <a:sx n="128" d="100"/>
          <a:sy n="128" d="100"/>
        </p:scale>
        <p:origin x="584" y="160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09/08/2026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09/08/2026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Name the two halves of the title — extracting rules, and the histopathology setting — and move on. [0:20]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domain in one breath. The audience knows NLP, not pathology, so define IHC and morphology now and never again.</a:t>
            </a:r>
          </a:p>
          <a:p/>
          <a:p>
            <a:r>
              <a:t>The key move: the knowledge exists, it is just not in a form anything can query.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justifies everything downstream. Land the last bullet properly — it is why document extraction is measured separately rather than assumed.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them once, quickly. They are the spine — every results slide from here on answers exactly one of these, and I will name which.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once. Document extraction turns PDFs into typed elements in PostgreSQL; knowledge extraction turns those into scored rules. The dashed line is the provenance chain — the thing that makes RQ2 answerable.</a:t>
            </a:r>
          </a:p>
          <a:p/>
          <a:p>
            <a:r>
              <a:t>Say explicitly that the grey box is the only place a language model is involved.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the document-extraction half of the thesis. Nobody expects a PDF to be hostile.</a:t>
            </a:r>
          </a:p>
          <a:p/>
          <a:p>
            <a:r>
              <a:t>Point at the sidebar: 'Academic Editor', received and accepted dates, the citation block. All of it would otherwise land in the body text and be extracted as if it were a finding.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did not replace Docling. I measured it and then fixed what it got wrong, and each fix targets a failure I can show you. The next three slides show three of them.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footnotes carry the abbreviation expansions and the statistical caveats — exactly the qualifiers a downstream rule needs. A tight crop silently discards them.</a:t>
            </a:r>
          </a:p>
          <a:p/>
          <a:p>
            <a:r>
              <a:t>This one change accounts for more of the RQ1 gain than anything else.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Precision matters as much as recall here. Every false table is a region of text removed from the body — so a spurious detection does not just add noise, it deletes real content.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Small, unglamorous, and load-bearing: the model sees clean sentences, so a verbatim quote it returns can actually be matched back against the source. Without this, provenance checking fails on formatting noise.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rubric first — four dimensions, no partial credit, human-labelled. Then the numbers.</a:t>
            </a:r>
          </a:p>
          <a:p/>
          <a:p>
            <a:r>
              <a:t>If asked whether the rubric was designed after seeing the results: it was fixed first, and the sweep was run against it.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principle: push all the nondeterminism into one stage, then make everything downstream reproducible.</a:t>
            </a:r>
          </a:p>
          <a:p/>
          <a:p>
            <a:r>
              <a:t>NORMALIZE resolves entity names through a curated synonym dictionary, then UMLS — the biomedical terminology database — then an identity fallback. That ordering is deliberate: a clinician's mapping beats the automated linker.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mechanism, so take it slowly.</a:t>
            </a:r>
          </a:p>
          <a:p/>
          <a:p>
            <a:r>
              <a:t>Three cheap models read the same chunk. If they agree, we accept and stop. If they disagree, two mid-tier models get it. If those disagree, Claude Sonnet adjudicates and always emits.</a:t>
            </a:r>
          </a:p>
          <a:p/>
          <a:p>
            <a:r>
              <a:t>The bet is that agreement among cheap models is a usable proxy for confidence — and the whole cost argument rests on whether that bet pays. [1:20]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entity-heavy weighting was selected empirically, not chosen by hand.</a:t>
            </a:r>
          </a:p>
          <a:p/>
          <a:p>
            <a:r>
              <a:t>The line to underline: this measures agreement, not correctness. Five voters can share a misconception and agree confidently. Nothing in the scorer detects that — which is exactly why grounding runs afterwards.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Grounding is where an unsupported claim dies, and it costs real recall — six strict-F1 points, which I report rather than hide.</a:t>
            </a:r>
          </a:p>
          <a:p/>
          <a:p>
            <a:r>
              <a:t>I kept it anyway. An ungrounded rule in this domain is worse than a missing one.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shape rather than reading the fields. The point is that the rule is a typed record with a pointer back into the corpus, not a sentence of generated prose.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to say. First the carry-rate: provenance survives all seven stages, which is the RQ2 answer.</a:t>
            </a:r>
          </a:p>
          <a:p/>
          <a:p>
            <a:r>
              <a:t>Second, do not apologise for the funnel narrowing. Every drop is a claim that failed a check — that is the system working.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uncomfortable finding and the setup for the next slide.</a:t>
            </a:r>
          </a:p>
          <a:p/>
          <a:p>
            <a:r>
              <a:t>The cascade's best quality arrives only when almost everything escalates — which means the cheap tier is doing very little work at the quality end. Say it plainly; the next slide draws the consequence.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this the full ninety seconds. It is the most honest slide in the deck and the committee will respect it more than a win.</a:t>
            </a:r>
          </a:p>
          <a:p/>
          <a:p>
            <a:r>
              <a:t>The cascade reaches 0.7160. A single Sonnet call reaches 0.7129 — within noise — at 24 percent lower cost. On this corpus, at these prices, the cascade is not the cost-effective deployment.</a:t>
            </a:r>
          </a:p>
          <a:p/>
          <a:p>
            <a:r>
              <a:t>What survives is the framework: provenance by construction, cost and quality as calibrated knobs, and an offline replay that reproduces every number here without a new API call. The calibration numbers are corpus- and price-specific. The method is not.</a:t>
            </a:r>
          </a:p>
          <a:p/>
          <a:p>
            <a:r>
              <a:t>If asked why the middle of the curve looks empty — the knee is chosen by weighted-sum scalarization, which only reaches convex-hull vertices. 'balanced' is an ε-constraint point that fills it. [1:30]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model, two jobs, no fine-tuning for either — that is the reusability claim.</a:t>
            </a:r>
          </a:p>
          <a:p/>
          <a:p>
            <a:r>
              <a:t>The six-point cost is the price of refusing to emit unsupported rules. I report it as a trade, not as a loss.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configuration was frozen before this set was touched, and the two clusters are physically disjoint rather than a seeded split of one pool — which is what makes the claim defensible.</a:t>
            </a:r>
          </a:p>
          <a:p/>
          <a:p>
            <a:r>
              <a:t>The honest reading: this shows the calibration did not overfit. It does not show the system generalises to a different corpus.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rush this slide and do not sound defensive. Raising these yourself is worth more than surviving them in questions.</a:t>
            </a:r>
          </a:p>
          <a:p/>
          <a:p>
            <a:r>
              <a:t>The silver-label point is the one that matters: RQ1 is human-labelled, everything after it is agreement with a strong model.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framework, not the numbers. The negative result is part of the contribution — it is what makes the rest credible.</a:t>
            </a:r>
          </a:p>
          <a:p/>
          <a:p>
            <a:r>
              <a:t>Then stop talking.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w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3.xml"/><Relationship Id="rId4" Type="http://schemas.openxmlformats.org/officeDocument/2006/relationships/image" Target="../media/image3.jpeg"/><Relationship Id="rId5" Type="http://schemas.openxmlformats.org/officeDocument/2006/relationships/image" Target="../media/image4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4.xml"/><Relationship Id="rId4" Type="http://schemas.openxmlformats.org/officeDocument/2006/relationships/image" Target="../media/image1.w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theme" Target="../theme/theme5.xml"/><Relationship Id="rId20" Type="http://schemas.openxmlformats.org/officeDocument/2006/relationships/image" Target="../media/image1.wmf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6.xml"/><Relationship Id="rId3" Type="http://schemas.openxmlformats.org/officeDocument/2006/relationships/image" Target="../media/image4.emf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7.xml"/><Relationship Id="rId3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Connected Mobility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Department of Informatics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sz="1500" b="0">
                <a:solidFill>
                  <a:srgbClr val="000000"/>
                </a:solidFill>
              </a:rPr>
              <a:t>for Automatic Disease Detection in Histopathology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5BD"/>
                </a:solidFill>
              </a:rPr>
              <a:t>A Pipeline for Extracting Simple Rules from Medical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606040"/>
            <a:ext cx="85130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0">
                <a:solidFill>
                  <a:srgbClr val="000000"/>
                </a:solidFill>
              </a:rPr>
              <a:t>Emirhan Nadir Karaman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00000"/>
                </a:solidFill>
              </a:rPr>
              <a:t>Supervisor: Frederic Mrozinski, M.Sc.  ·  Examiner: apl. Prof. Dr. Georg Groh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00000"/>
                </a:solidFill>
              </a:rPr>
              <a:t>Chair of Connected Mobility · Department of Informatics · 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Diagnostic criteria are written for humans, one paper at a time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Histopathology diagnosis rests on rules of the form: this marker, in this tissue, points to this outcome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Those rules are stated in prose, scattered across tens of thousands of papers, and never collected anywhere machine-readable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A pathologist cannot read 1,000 papers. A model can — but then you have to trust what it says it read.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Two domain terms used throughout: </a:t>
            </a:r>
            <a:r>
              <a:rPr sz="1450" b="1">
                <a:solidFill>
                  <a:srgbClr val="000000"/>
                </a:solidFill>
              </a:rPr>
              <a:t>IHC</a:t>
            </a:r>
            <a:r>
              <a:rPr sz="1450" b="0">
                <a:solidFill>
                  <a:srgbClr val="000000"/>
                </a:solidFill>
              </a:rPr>
              <a:t> — a stain showing whether a protein is present. </a:t>
            </a:r>
            <a:r>
              <a:rPr sz="1450" b="1">
                <a:solidFill>
                  <a:srgbClr val="000000"/>
                </a:solidFill>
              </a:rPr>
              <a:t>Morphology</a:t>
            </a:r>
            <a:r>
              <a:rPr sz="1450" b="0">
                <a:solidFill>
                  <a:srgbClr val="000000"/>
                </a:solidFill>
              </a:rPr>
              <a:t> — what the tissue looks 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An LLM will answer. The problem is knowing whether to believe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The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Modern models extract these claims fluently — and also hallucinate, omit, and paraphrase away the qualifier that mattered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For a clinical use case, an unsourced claim is worthless. You need the sentence, the page, the coordinates.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So provenance is not a feature bolted on at the end — it is a hard constraint that shapes the whole architecture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And it forces two pipelines: you cannot trace a rule to a paragraph if the parser silently dropped the table that paragraph refers 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Five research questions, each answered by a measurement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RQ1</a:t>
            </a:r>
            <a:r>
              <a:rPr sz="1450" b="0">
                <a:solidFill>
                  <a:srgbClr val="000000"/>
                </a:solidFill>
              </a:rPr>
              <a:t> — how much does targeted post-processing improve document extraction over a strong off-the-shelf parser?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RQ2</a:t>
            </a:r>
            <a:r>
              <a:rPr sz="1450" b="0">
                <a:solidFill>
                  <a:srgbClr val="000000"/>
                </a:solidFill>
              </a:rPr>
              <a:t> — can every extracted rule be traced back to a source paragraph?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RQ3</a:t>
            </a:r>
            <a:r>
              <a:rPr sz="1450" b="0">
                <a:solidFill>
                  <a:srgbClr val="000000"/>
                </a:solidFill>
              </a:rPr>
              <a:t> — what does an agreement-based cascade of cheap and expensive models buy, in quality and in cost?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RQ4</a:t>
            </a:r>
            <a:r>
              <a:rPr sz="1450" b="0">
                <a:solidFill>
                  <a:srgbClr val="000000"/>
                </a:solidFill>
              </a:rPr>
              <a:t> — how well does one frozen NLI model serve two different roles?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RQ5</a:t>
            </a:r>
            <a:r>
              <a:rPr sz="1450" b="0">
                <a:solidFill>
                  <a:srgbClr val="000000"/>
                </a:solidFill>
              </a:rPr>
              <a:t> — does any of it hold on papers the system was not tuned 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Two pipelines, joined by a database that carries provenance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End-to-end architecture</a:t>
            </a:r>
          </a:p>
        </p:txBody>
      </p:sp>
      <p:pic>
        <p:nvPicPr>
          <p:cNvPr id="6" name="Picture 5" descr="fig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2835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115807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Only the MAP stage is stochastic. Everything else is deterministic or a database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Published PDFs are adversarial in ways nobody warns you about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Left: the page as published. Right: what the pipeline redacts before reading it.</a:t>
            </a:r>
          </a:p>
        </p:txBody>
      </p:sp>
      <p:pic>
        <p:nvPicPr>
          <p:cNvPr id="6" name="Picture 5" descr="fm_g1_header_footer_sidebar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247" y="1188720"/>
            <a:ext cx="6815505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Running headers, footers and side matter are removed geometrically, before any text assembly.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Docling as the backbone, plus three targeted fixes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Each fix aims at a named, measured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Docling</a:t>
            </a:r>
            <a:r>
              <a:rPr sz="1450" b="0">
                <a:solidFill>
                  <a:srgbClr val="000000"/>
                </a:solidFill>
              </a:rPr>
              <a:t> — an open-source layout-aware PDF parser. It stays the sole source of body text, section structure and figure regions.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Hybrid table detection</a:t>
            </a:r>
            <a:r>
              <a:rPr sz="1450" b="0">
                <a:solidFill>
                  <a:srgbClr val="000000"/>
                </a:solidFill>
              </a:rPr>
              <a:t> — Docling ∪ TATR (Microsoft's Table Transformer), any overlap merged into the bounding union, per page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Footnote expansion</a:t>
            </a:r>
            <a:r>
              <a:rPr sz="1450" b="0">
                <a:solidFill>
                  <a:srgbClr val="000000"/>
                </a:solidFill>
              </a:rPr>
              <a:t> — table crops extended downward ×1.2, because Docling crops tightly and cuts the footnotes off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Figure post-processing</a:t>
            </a:r>
            <a:r>
              <a:rPr sz="1450" b="0">
                <a:solidFill>
                  <a:srgbClr val="000000"/>
                </a:solidFill>
              </a:rPr>
              <a:t> — a &lt;50 pt icon filter and a geometric caption matcher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Two-pass ghost-text removal</a:t>
            </a:r>
            <a:r>
              <a:rPr sz="1450" b="0">
                <a:solidFill>
                  <a:srgbClr val="000000"/>
                </a:solidFill>
              </a:rPr>
              <a:t> — invisible text redacted, layout re-extracted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Footnote expansion is the single biggest lever in the document layer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Same table, off-the-shelf crop vs the pipeline's</a:t>
            </a:r>
          </a:p>
        </p:txBody>
      </p:sp>
      <p:pic>
        <p:nvPicPr>
          <p:cNvPr id="6" name="Picture 5" descr="01_foot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1188720"/>
            <a:ext cx="5596128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Rubric label moves from 'missing footnotes' to 'correct'. The crop grows downward to absorb the footnote block.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Three things a detector called a table, and none of them is one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Detector false positives, suppressed by the pipeline</a:t>
            </a:r>
          </a:p>
        </p:txBody>
      </p:sp>
      <p:pic>
        <p:nvPicPr>
          <p:cNvPr id="6" name="Picture 5" descr="fm_e14_false_posi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24608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740967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A journal masthead, an author byline, and a table nested inside a figure.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Text assembly also strips citations and layout artifacts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out/text_raw (pre-assembly) vs out/text (assembled)</a:t>
            </a:r>
          </a:p>
        </p:txBody>
      </p:sp>
      <p:pic>
        <p:nvPicPr>
          <p:cNvPr id="6" name="Picture 5" descr="fm_e16_text_cleanup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2883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163699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Citation markers, hyphenation across column breaks, and ligature codepoints are all normalised before a sentence reaches the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RQ1: the targeted fixes roughly double strict-F1 on tables and figures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27-PDF rubric set · human labels · strict-F1 requires every applicable dimension to be correct</a:t>
            </a:r>
          </a:p>
        </p:txBody>
      </p:sp>
      <p:pic>
        <p:nvPicPr>
          <p:cNvPr id="6" name="Picture 5" descr="fig_rq1_strict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253" y="1188720"/>
            <a:ext cx="4871493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Strict means no partial credit: a crop with the right region but a missing footnote scores zero.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Seven stages, and only the first one is stochastic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MAP → GROUNDING → NORMALIZE → GROUP → CANONICALIZE → RELATE → RESOLVE</a:t>
            </a:r>
          </a:p>
        </p:txBody>
      </p:sp>
      <p:pic>
        <p:nvPicPr>
          <p:cNvPr id="6" name="Picture 5" descr="fig_knowledg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2278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55846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Everything after MAP is deterministic — the same inputs give the same rules, every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Cheap voters decide; the strong model is called only on disagreement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Agreement-based cascading at the MAP stage</a:t>
            </a:r>
          </a:p>
        </p:txBody>
      </p:sp>
      <p:pic>
        <p:nvPicPr>
          <p:cNvPr id="6" name="Picture 5" descr="fig_abc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98" y="1188720"/>
            <a:ext cx="7805203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Five voters across three providers. Escalation happens when they disagree, not on a schedule.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Agreement is max-consensus over a similarity matrix, not a vote count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No ground truth is involved at this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Each voter returns a set of typed findings — structured records, not a string, so 'do they agree?' is not string comparison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Align every pair of voters one-to-one, then blend four signals: 0.50 biomedical entity overlap · 0.30 claim-embedding similarity · 0.15 category agreement · 0.05 cited-evidence overlap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Each voter scores its mean similarity to the others; the chunk's score is the </a:t>
            </a:r>
            <a:r>
              <a:rPr sz="1450" b="1">
                <a:solidFill>
                  <a:srgbClr val="000000"/>
                </a:solidFill>
              </a:rPr>
              <a:t>maximum</a:t>
            </a:r>
            <a:r>
              <a:rPr sz="1450" b="0">
                <a:solidFill>
                  <a:srgbClr val="000000"/>
                </a:solidFill>
              </a:rPr>
              <a:t> of those means, and the winner is the voter that achieved it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Accept at θ = 0.9, drop below 0.2, escalate in between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Grounding: every claim is checked against the sentence it cites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One frozen NLI model, no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MAP returns a claim plus the verbatim sentence it came from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An NLI model scores entailment on that pair; below 0.5 the finding is dropped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The model is </a:t>
            </a:r>
            <a:r>
              <a:rPr sz="1450" b="1">
                <a:solidFill>
                  <a:srgbClr val="000000"/>
                </a:solidFill>
              </a:rPr>
              <a:t>PubMedBERT-MNLI-MedNLI</a:t>
            </a:r>
            <a:r>
              <a:rPr sz="1450" b="0">
                <a:solidFill>
                  <a:srgbClr val="000000"/>
                </a:solidFill>
              </a:rPr>
              <a:t>, frozen — no fine-tuning, and the same model is reused later for relation classification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This is the check that catches a fluent, well-formed, unsupported claim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What one extracted rule actually looks like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Every field is either extracted or derived — nothing is free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subject</a:t>
            </a:r>
            <a:r>
              <a:rPr sz="1450" b="0">
                <a:solidFill>
                  <a:srgbClr val="000000"/>
                </a:solidFill>
              </a:rPr>
              <a:t> CD30  ·  </a:t>
            </a:r>
            <a:r>
              <a:rPr sz="1450" b="1">
                <a:solidFill>
                  <a:srgbClr val="000000"/>
                </a:solidFill>
              </a:rPr>
              <a:t>outcome</a:t>
            </a:r>
            <a:r>
              <a:rPr sz="1450" b="0">
                <a:solidFill>
                  <a:srgbClr val="000000"/>
                </a:solidFill>
              </a:rPr>
              <a:t> overall survival  ·  </a:t>
            </a:r>
            <a:r>
              <a:rPr sz="1450" b="1">
                <a:solidFill>
                  <a:srgbClr val="000000"/>
                </a:solidFill>
              </a:rPr>
              <a:t>relation</a:t>
            </a:r>
            <a:r>
              <a:rPr sz="1450" b="0">
                <a:solidFill>
                  <a:srgbClr val="000000"/>
                </a:solidFill>
              </a:rPr>
              <a:t> prognostic  ·  </a:t>
            </a:r>
            <a:r>
              <a:rPr sz="1450" b="1">
                <a:solidFill>
                  <a:srgbClr val="000000"/>
                </a:solidFill>
              </a:rPr>
              <a:t>direction</a:t>
            </a:r>
            <a:r>
              <a:rPr sz="1450" b="0">
                <a:solidFill>
                  <a:srgbClr val="000000"/>
                </a:solidFill>
              </a:rPr>
              <a:t> negative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scope</a:t>
            </a:r>
            <a:r>
              <a:rPr sz="1450" b="0">
                <a:solidFill>
                  <a:srgbClr val="000000"/>
                </a:solidFill>
              </a:rPr>
              <a:t> — the cohort and disease subtype the claim applies to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evidence</a:t>
            </a:r>
            <a:r>
              <a:rPr sz="1450" b="0">
                <a:solidFill>
                  <a:srgbClr val="000000"/>
                </a:solidFill>
              </a:rPr>
              <a:t> — PMCID, text-element id, sentence index, and the verbatim quote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</a:t>
            </a:r>
            <a:r>
              <a:rPr sz="1450" b="1">
                <a:solidFill>
                  <a:srgbClr val="000000"/>
                </a:solidFill>
              </a:rPr>
              <a:t>scores</a:t>
            </a:r>
            <a:r>
              <a:rPr sz="1450" b="0">
                <a:solidFill>
                  <a:srgbClr val="000000"/>
                </a:solidFill>
              </a:rPr>
              <a:t> — grounding score, support count, contradiction count, final score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From that chain you can reopen the source PDF at the right paragraph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RQ2: 1,747 rules, and every one traces back to a source paragraph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related15 · frozen five-voter cascade · θ = 0.9, grounding 0.5</a:t>
            </a:r>
          </a:p>
        </p:txBody>
      </p:sp>
      <p:pic>
        <p:nvPicPr>
          <p:cNvPr id="6" name="Picture 5" descr="fig_rq2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891" y="1188720"/>
            <a:ext cx="4330216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The funnel is lossy by design — each stage removes findings that cannot be supported.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RQ3a: top cascade quality requires near-universal escalation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Calibration on related15 · 474 chunks · strict-F1 vs Opus silver labels</a:t>
            </a:r>
          </a:p>
        </p:txBody>
      </p:sp>
      <p:pic>
        <p:nvPicPr>
          <p:cNvPr id="6" name="Picture 5" descr="fig_rq3a_theta_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44" y="1188720"/>
            <a:ext cx="5112511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At the shipped operating point, 95.6% of chunks reach the strong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RQ3b: the cascade ties the best single model, which costs 24% less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The thesis's central negative result — reported, not buried</a:t>
            </a:r>
          </a:p>
        </p:txBody>
      </p:sp>
      <p:pic>
        <p:nvPicPr>
          <p:cNvPr id="6" name="Picture 5" descr="fig_cost_quality_plan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761" y="1188720"/>
            <a:ext cx="6018477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Four operating points on the cascade's θ-curve. A single Sonnet sits above the frontier's knee at lower cost.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RQ4: one frozen NLI model, two roles — grounding costs six F1 points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Same model for claim-level grounding and pairwise relation classification</a:t>
            </a:r>
          </a:p>
        </p:txBody>
      </p:sp>
      <p:pic>
        <p:nvPicPr>
          <p:cNvPr id="6" name="Picture 5" descr="fig_grounding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3004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284348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The grounding filter is a deliberate precision-for-recall trade, quantified rather than assumed.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RQ5: held-out performance sits within noise of calibration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heldout15 — 15 papers, disjoint from calibration, randomly sampled, configuration frozen before evaluation</a:t>
            </a:r>
          </a:p>
        </p:txBody>
      </p:sp>
      <p:pic>
        <p:nvPicPr>
          <p:cNvPr id="6" name="Picture 5" descr="fig_heldou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68" y="1188720"/>
            <a:ext cx="4889462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Two physically separate clusters, so the held-out set is structurally impossible to tune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Every number after RQ1 measures agreement with an LLM, not a pathologist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Limitations and threats to validity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The reference labels are </a:t>
            </a:r>
            <a:r>
              <a:rPr sz="1450" b="1">
                <a:solidFill>
                  <a:srgbClr val="000000"/>
                </a:solidFill>
              </a:rPr>
              <a:t>silver</a:t>
            </a:r>
            <a:r>
              <a:rPr sz="1450" b="0">
                <a:solidFill>
                  <a:srgbClr val="000000"/>
                </a:solidFill>
              </a:rPr>
              <a:t> — generated by Claude Opus. They are not clinical ground truth and I never call them that.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A clinician-labelled evaluation is the obvious next step, and the one thing that would change the standing of every knowledge-extraction number here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Calibration used 15 related papers; held-out is 15 more from the same corpus and the same journals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Cost is a price-weighted unit from a hand-compiled price book of list prices — the thesis states no currency, which is a genuine gap in the write-up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Four questions answered, one negative result reported rather than buried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Document extraction and provenance meet their targets — RQ1 and RQ2, decisively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The cascade is calibrated, reproducible, and </a:t>
            </a:r>
            <a:r>
              <a:rPr sz="1450" b="1">
                <a:solidFill>
                  <a:srgbClr val="000000"/>
                </a:solidFill>
              </a:rPr>
              <a:t>ties</a:t>
            </a:r>
            <a:r>
              <a:rPr sz="1450" b="0">
                <a:solidFill>
                  <a:srgbClr val="000000"/>
                </a:solidFill>
              </a:rPr>
              <a:t> a single strong model at higher cost — RQ3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One frozen NLI model serves two roles; held-out sits within noise — RQ4, RQ5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The contribution is not the calibration numbers, which are corpus- and price-specific. It is the framework: provenance by construction, cost and quality as explicit calibrated knobs, and an offline replay protocol that reproduces every reported number without a single new API 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591</TotalTime>
  <Words>16355</Words>
  <Application>Microsoft Macintosh PowerPoint</Application>
  <PresentationFormat>On-screen Show (16:9)</PresentationFormat>
  <Paragraphs>1660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Arial</vt:lpstr>
      <vt:lpstr>Calibri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A Pipeline for Extracting Simple Rules from Medical Literature for Automatic Disease Detection in Histopathology</vt:lpstr>
      <vt:lpstr>Diagnostic knowledge is trapped in prose, and an LLM's word for it is not enough</vt:lpstr>
      <vt:lpstr>Five research questions, each answered by a measurement</vt:lpstr>
      <vt:lpstr>Two pipelines, joined by a database that carries provenance</vt:lpstr>
      <vt:lpstr>Docling plus three targeted fixes, each aimed at a named failure</vt:lpstr>
      <vt:lpstr>Two-pass extraction removes an invisible “FOR PEER REVIEW” header</vt:lpstr>
      <vt:lpstr>Illustrative extraction example from the evaluation corpus</vt:lpstr>
      <vt:lpstr>Seven stages, only the MAP stage is stochastic</vt:lpstr>
      <vt:lpstr>Cheap voters decide; the strong model is called on disagreement</vt:lpstr>
      <vt:lpstr>How the agreement scorer picks a winner</vt:lpstr>
      <vt:lpstr>Four frozen datasets: one human-labeled, three LLM-labeled</vt:lpstr>
      <vt:lpstr>RQ1: Footnote capture and figure post-processing roughly double strict-F1</vt:lpstr>
      <vt:lpstr>Footnote expansion is the single biggest lever in the document layer</vt:lpstr>
      <vt:lpstr>RQ2: 1,747 rules, and every one traces back to a source paragraph</vt:lpstr>
      <vt:lpstr>What one extracted rule actually looks like</vt:lpstr>
      <vt:lpstr>RQ3a: Top cascade quality requires near-universal escalation</vt:lpstr>
      <vt:lpstr>How the shipped configuration was chosen: six experiments, in order</vt:lpstr>
      <vt:lpstr>RQ3b: The cascade ties the best single model, which costs 24% less</vt:lpstr>
      <vt:lpstr>RQ4: One frozen NLI model, two roles: grounding costs 6 F1 points</vt:lpstr>
      <vt:lpstr>RQ5: Held-out performance sits within noise of calibration</vt:lpstr>
      <vt:lpstr>Every number after RQ1 measures agreement with an LLM, not a pathologist</vt:lpstr>
      <vt:lpstr>Four questions answered; one negative result reported, not buried</vt:lpstr>
      <vt:lpstr>Backup</vt:lpstr>
      <vt:lpstr>Post-submission audit: the sub-figure merge step never executes</vt:lpstr>
      <vt:lpstr>B1 · Research questions, and their answers</vt:lpstr>
      <vt:lpstr>B2 · Corpus acquisition and the page-cap trade-off</vt:lpstr>
      <vt:lpstr>B3 · Why these 15 calibration papers: an integer linear program</vt:lpstr>
      <vt:lpstr>B4 · The document-extraction rubric: four dimensions, no partial credit</vt:lpstr>
      <vt:lpstr>B5 · Full document-extraction sweep, all key variants</vt:lpstr>
      <vt:lpstr>B6 · How a pipeline finding is matched to a silver label</vt:lpstr>
      <vt:lpstr>B7 · The pinned cascade configuration of record</vt:lpstr>
      <vt:lpstr>B8 · θ sweep and the gate ablation</vt:lpstr>
      <vt:lpstr>B9 · Cost model, operating points, and all single-model baselines</vt:lpstr>
      <vt:lpstr>B10 · Significance testing: paper-level clustered paired bootstrap</vt:lpstr>
      <vt:lpstr>B11 · Grounding score distribution and threshold trade-off</vt:lpstr>
      <vt:lpstr>B12 · Relation classification, per class, both input modes</vt:lpstr>
      <vt:lpstr>B13 · Held-out knowledge-extraction funnel, side by side</vt:lpstr>
      <vt:lpstr>B14 · Provenance chain and offline replay</vt:lpstr>
      <vt:lpstr>B15 · Operating points: why the knee misses the middle</vt:lpstr>
      <vt:lpstr>Expansion slides</vt:lpstr>
      <vt:lpstr>E1 · The icon filter removes journal furniture, not science</vt:lpstr>
      <vt:lpstr>E2 · Same pixels, correct caption: the geometric matcher</vt:lpstr>
      <vt:lpstr>E3 · A hidden duplicate paragraph would have been extracted twice</vt:lpstr>
      <vt:lpstr>E4 · Paragraph stitching is purely syntactic, which cuts both ways</vt:lpstr>
      <vt:lpstr>E5 · The corpus graph is small, but one contradiction is real</vt:lpstr>
      <vt:lpstr>E6 · Every component is mature; the audited integration is not</vt:lpstr>
      <vt:lpstr>E7 · Header, footer and sidebar are redacted before text assembly</vt:lpstr>
      <vt:lpstr>E8 · Three things a detector called a table, and none of them is one</vt:lpstr>
      <vt:lpstr>E9 · Three artifacts the baseline failed to produce correctly</vt:lpstr>
      <vt:lpstr>E10 · Text assembly also strips citations and layout artifacts</vt:lpstr>
      <vt:lpstr>E11 · The agreement scorer, end to end</vt:lpstr>
      <vt:lpstr>A Pipeline for Extracting Simple Rules from Medical Literature for Automatic Disease Detection in Histopathology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Emirhan Nadir Karaman</cp:lastModifiedBy>
  <cp:revision>49</cp:revision>
  <cp:lastPrinted>2015-07-30T14:04:45Z</cp:lastPrinted>
  <dcterms:created xsi:type="dcterms:W3CDTF">2020-10-03T23:03:33Z</dcterms:created>
  <dcterms:modified xsi:type="dcterms:W3CDTF">2026-08-09T15:06:08Z</dcterms:modified>
</cp:coreProperties>
</file>