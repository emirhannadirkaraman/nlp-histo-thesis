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61"/>
  </p:notesMasterIdLst>
  <p:handoutMasterIdLst>
    <p:handoutMasterId r:id="rId62"/>
  </p:handoutMasterIdLst>
  <p:sldIdLst>
    <p:sldId id="355" r:id="rId8"/>
    <p:sldId id="257" r:id="rId9"/>
    <p:sldId id="258" r:id="rId10"/>
    <p:sldId id="259" r:id="rId11"/>
    <p:sldId id="260" r:id="rId12"/>
    <p:sldId id="261" r:id="rId13"/>
    <p:sldId id="360" r:id="rId14"/>
    <p:sldId id="362" r:id="rId15"/>
    <p:sldId id="292" r:id="rId16"/>
    <p:sldId id="359" r:id="rId17"/>
    <p:sldId id="366" r:id="rId18"/>
    <p:sldId id="368" r:id="rId19"/>
    <p:sldId id="293" r:id="rId20"/>
    <p:sldId id="358" r:id="rId21"/>
    <p:sldId id="304" r:id="rId22"/>
    <p:sldId id="294" r:id="rId23"/>
    <p:sldId id="262" r:id="rId24"/>
    <p:sldId id="263" r:id="rId25"/>
    <p:sldId id="298" r:id="rId26"/>
    <p:sldId id="364" r:id="rId27"/>
    <p:sldId id="264" r:id="rId28"/>
    <p:sldId id="265" r:id="rId29"/>
    <p:sldId id="289" r:id="rId30"/>
    <p:sldId id="266" r:id="rId31"/>
    <p:sldId id="296" r:id="rId32"/>
    <p:sldId id="267" r:id="rId33"/>
    <p:sldId id="299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356" r:id="rId55"/>
    <p:sldId id="288" r:id="rId56"/>
    <p:sldId id="297" r:id="rId57"/>
    <p:sldId id="300" r:id="rId58"/>
    <p:sldId id="303" r:id="rId59"/>
    <p:sldId id="305" r:id="rId60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01" autoAdjust="0"/>
    <p:restoredTop sz="69071" autoAdjust="0"/>
  </p:normalViewPr>
  <p:slideViewPr>
    <p:cSldViewPr snapToGrid="0">
      <p:cViewPr>
        <p:scale>
          <a:sx n="93" d="100"/>
          <a:sy n="93" d="100"/>
        </p:scale>
        <p:origin x="1216" y="448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-8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10/08/2026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10/08/2026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Good morning. I'm Emirhan Karaman; this is my Master's thesis, supervised by Frederic</a:t>
            </a:r>
          </a:p>
          <a:p>
            <a:r>
              <a:t>Mrozinski and examined by Professor Groh.</a:t>
            </a:r>
          </a:p>
          <a:p/>
          <a:p>
            <a:r>
              <a:t>The title splits in two. Input: histopathology papers. Output: small, typed, subject-outcome rules</a:t>
            </a:r>
          </a:p>
          <a:p>
            <a:r>
              <a:t>a pathologist could CHECK. That word does the work — everything follows from taking it seriously.</a:t>
            </a:r>
          </a:p>
          <a:p/>
          <a:p>
            <a:r>
              <a:t>[0:20]  -&gt;  "Let me start with why that's hard."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Histopathology diagnosis rests on facts that live in prose — which biomarker in which</a:t>
            </a:r>
          </a:p>
          <a:p>
            <a:r>
              <a:t>subtype, which morphology supports which diagnosis, better or worse prognosis. Those facts exist,</a:t>
            </a:r>
          </a:p>
          <a:p>
            <a:r>
              <a:t>scattered across thousands of papers no pathologist can read.</a:t>
            </a:r>
          </a:p>
          <a:p/>
          <a:p>
            <a:r>
              <a:t>Language models can. But their failure modes are exactly the ones that matter here: they invent</a:t>
            </a:r>
          </a:p>
          <a:p>
            <a:r>
              <a:t>plausible claims, drop the qualifier that made a claim true, and paraphrase until you cannot find</a:t>
            </a:r>
          </a:p>
          <a:p>
            <a:r>
              <a:t>the original sentence. Clinically, a claim you cannot verify is not a weak result — it is not a</a:t>
            </a:r>
          </a:p>
          <a:p>
            <a:r>
              <a:t>result.</a:t>
            </a:r>
          </a:p>
          <a:p/>
          <a:p>
            <a:r>
              <a:t>So the requirement is traceability. The gap: layout parsing, entity linking, entailment checking,</a:t>
            </a:r>
          </a:p>
          <a:p>
            <a:r>
              <a:t>cost-aware cascading are each mature alone. Combining them into one auditable system, evaluated</a:t>
            </a:r>
          </a:p>
          <a:p>
            <a:r>
              <a:t>under a joint cost AND quality constraint, is rare.</a:t>
            </a:r>
          </a:p>
          <a:p/>
          <a:p>
            <a:r>
              <a:t>[0:50]  -&gt;  "I turned that into five questions, each with a number attached."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t>RQ1 is the document layer — and how much of the gain is mine rather than the</a:t>
            </a:r>
          </a:p>
          <a:p>
            <a:r>
              <a:t>off-the-shelf tool. RQ2 is provenance. RQ3 is cost, and where the interesting result lives. RQ4</a:t>
            </a:r>
          </a:p>
          <a:p>
            <a:r>
              <a:t>asks whether one frozen NLI model does two jobs. RQ5 asks whether the calibration overfits.</a:t>
            </a:r>
          </a:p>
          <a:p/>
          <a:p>
            <a:r>
              <a:t>One caveat up front, because it conditions everything after RQ1: the reference labels for RQ2–RQ5</a:t>
            </a:r>
          </a:p>
          <a:p>
            <a:r>
              <a:t>came from Claude Opus, not a human expert. Those scores measure AGREEMENT WITH THE LABELLER. RQ1</a:t>
            </a:r>
          </a:p>
          <a:p>
            <a:r>
              <a:t>is the exception — human labels, written rubric.</a:t>
            </a:r>
          </a:p>
          <a:p/>
          <a:p>
            <a:r>
              <a:t>[0:40]  -&gt;  "Here is the system those questions ask about."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t>Four stages. Select and filter from PMC Open Access — 977 papers. Document extraction</a:t>
            </a:r>
          </a:p>
          <a:p>
            <a:r>
              <a:t>turns each PDF into hierarchical text, figure and table crops. Knowledge extraction turns sentences</a:t>
            </a:r>
          </a:p>
          <a:p>
            <a:r>
              <a:t>into typed findings, then rules. Everything is written to artifacts that replay offline.</a:t>
            </a:r>
          </a:p>
          <a:p/>
          <a:p>
            <a:r>
              <a:t>Take one thing from this diagram: the database in the middle is not storage, it is the provenance</a:t>
            </a:r>
          </a:p>
          <a:p>
            <a:r>
              <a:t>backbone. Every object carries back-pointers — the chain along the bottom — and the data model</a:t>
            </a:r>
          </a:p>
          <a:p>
            <a:r>
              <a:t>enforces it, so it cannot silently break.</a:t>
            </a:r>
          </a:p>
          <a:p/>
          <a:p>
            <a:r>
              <a:t>The caveat I will repeat: provenance enables auditability. It is not proof of correctness. It tells</a:t>
            </a:r>
          </a:p>
          <a:p>
            <a:r>
              <a:t>you where a claim came from, not that it is true.</a:t>
            </a:r>
          </a:p>
          <a:p/>
          <a:p>
            <a:r>
              <a:t>[0:50]  -&gt;  "Let's start at the bottom — turning a PDF into something structured."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backbone is Docling, an open-source layout-aware parser, and it stays the sole</a:t>
            </a:r>
          </a:p>
          <a:p>
            <a:r>
              <a:t>source of body text, section structure and figure regions. I measured it and fixed what it got</a:t>
            </a:r>
          </a:p>
          <a:p>
            <a:r>
              <a:t>wrong.</a:t>
            </a:r>
          </a:p>
          <a:p/>
          <a:p>
            <a:r>
              <a:t>Three fixes. Table detection: Microsoft's Table Transformer runs alongside Docling and I take the</a:t>
            </a:r>
          </a:p>
          <a:p>
            <a:r>
              <a:t>union of overlapping boxes — threshold-free. Footnote expansion: Docling crops tables tightly and</a:t>
            </a:r>
          </a:p>
          <a:p>
            <a:r>
              <a:t>cuts footnotes off, so I extend the crop down twenty percent. That sounds trivial; it is the single</a:t>
            </a:r>
          </a:p>
          <a:p>
            <a:r>
              <a:t>biggest lever in the document layer. Figure post-processing: a fifty-point size filter and my own</a:t>
            </a:r>
          </a:p>
          <a:p>
            <a:r>
              <a:t>geometric caption matcher.</a:t>
            </a:r>
          </a:p>
          <a:p/>
          <a:p>
            <a:r>
              <a:t>Fourth, the two-pass extractor: some PDFs carry invisible text under the visible text. I render</a:t>
            </a:r>
          </a:p>
          <a:p>
            <a:r>
              <a:t>each region, test the pixels, redact, and re-run Docling.</a:t>
            </a:r>
          </a:p>
          <a:p/>
          <a:p>
            <a:r>
              <a:t>[0:50]  -&gt;  "That's the description. Here is what one failure actually looks like."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t>Illustration, not evidence — the evidence is the rubric numbers shortly. This shows what</a:t>
            </a:r>
          </a:p>
          <a:p>
            <a:r>
              <a:t>those numbers MEAN.</a:t>
            </a:r>
          </a:p>
          <a:p/>
          <a:p>
            <a:r>
              <a:t>One paper, three tables. Table 1 starts on page 3 and continues on page 4 under "Table 1. Cont." —</a:t>
            </a:r>
          </a:p>
          <a:p>
            <a:r>
              <a:t>an ordinary journal convention.</a:t>
            </a:r>
          </a:p>
          <a:p/>
          <a:p>
            <a:r>
              <a:t>Left, the region in the PDF. Middle, what Docling-only emitted: nothing. Both halves never</a:t>
            </a:r>
          </a:p>
          <a:p>
            <a:r>
              <a:t>recovered. Right, the hybrid detector emits both, and I annotated each as correct.</a:t>
            </a:r>
          </a:p>
          <a:p/>
          <a:p>
            <a:r>
              <a:t>The failure generalises: page-by-page detection makes a table spanning a page break look like two</a:t>
            </a:r>
          </a:p>
          <a:p>
            <a:r>
              <a:t>partial tables, and a detector tuned for whole tables proposes neither.</a:t>
            </a:r>
          </a:p>
          <a:p/>
          <a:p>
            <a:r>
              <a:t>[0:45]  -&gt;  "Multiply that across 27 papers and four dimensions, and you get RQ1."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F957-F4F9-DF3B-46D9-4A47D6EF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4D619-51EF-7E4B-B906-F0FA6B8A5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7292B-3E81-8205-EBC2-40E170652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t>Table detection is shape detection. TATR finds ruled boxes with aligned text and does not</a:t>
            </a:r>
          </a:p>
          <a:p>
            <a:r>
              <a:t>care what is inside them.</a:t>
            </a:r>
          </a:p>
          <a:p/>
          <a:p>
            <a:r>
              <a:t>I show these in page context because WHERE each sits is what makes it wrong — a cropped byline</a:t>
            </a:r>
          </a:p>
          <a:p>
            <a:r>
              <a:t>looks like a small table.</a:t>
            </a:r>
          </a:p>
          <a:p/>
          <a:p>
            <a:r>
              <a:t>Three real false positives. Left, a journal running header — rules and columns, detected as a table</a:t>
            </a:r>
          </a:p>
          <a:p>
            <a:r>
              <a:t>on six consecutive pages. Fix: drop any table whose top edge is within fifty points of the page</a:t>
            </a:r>
          </a:p>
          <a:p>
            <a:r>
              <a:t>top; it fires 666 times corpus-wide. Middle, an author byline separated by vertical bars, which is</a:t>
            </a:r>
          </a:p>
          <a:p>
            <a:r>
              <a:t>a grid. Right, a forest plot — there IS a table inside, but it belongs to the figure, and emitting</a:t>
            </a:r>
          </a:p>
          <a:p>
            <a:r>
              <a:t>it separately double-counts and breaks the crop. Dropped by a containment rule.</a:t>
            </a:r>
          </a:p>
          <a:p/>
          <a:p>
            <a:r>
              <a:t>None of these is clever. Three narrow geometric rules, each removing one recurring class of</a:t>
            </a:r>
          </a:p>
          <a:p>
            <a:r>
              <a:t>nonsense.</a:t>
            </a:r>
          </a:p>
          <a:p/>
          <a:p>
            <a:r>
              <a:t>[0:50]</a:t>
            </a:r>
          </a:p>
          <a:p/>
          <a:p>
            <a:r>
              <a:t>[CHECK] slides 7 and 8 still carry the same title — one is probably an accidental duplicate; deleting a slide is your call, not mine.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A4D0-8518-E241-8550-6D52823FF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06993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Precision matters as much as recall. Every false table is a region of text removed from</a:t>
            </a:r>
          </a:p>
          <a:p>
            <a:r>
              <a:t>the body — a spurious detection does not just add noise, it deletes real content.</a:t>
            </a:r>
          </a:p>
          <a:p/>
          <a:p>
            <a:r>
              <a:t>[0:25]</a:t>
            </a:r>
          </a:p>
          <a:p/>
          <a:p>
            <a:r>
              <a:t>[CHECK] slides 7 and 8 still carry the same title — one is probably an accidental duplicate; deleting a slide is your call, not 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The fault mode nobody sees, because by definition you cannot see it.</a:t>
            </a:r>
          </a:p>
          <a:p/>
          <a:p>
            <a:r>
              <a:t>The purple boxes are text Docling extracted. Render the page and none of it is there. The publisher</a:t>
            </a:r>
          </a:p>
          <a:p>
            <a:r>
              <a:t>left the pre-publication running header in the file as an invisible layer — "Dermatopathology 2025,</a:t>
            </a:r>
          </a:p>
          <a:p>
            <a:r>
              <a:t>12, x FOR PEER REVIEW" — sitting on top of the real header. Docling reads the text layer, and the</a:t>
            </a:r>
          </a:p>
          <a:p>
            <a:r>
              <a:t>text layer says both.</a:t>
            </a:r>
          </a:p>
          <a:p/>
          <a:p>
            <a:r>
              <a:t>My detection is pixel-based, not font-based: render each element's box and test whether anything</a:t>
            </a:r>
          </a:p>
          <a:p>
            <a:r>
              <a:t>was drawn. Blank means invisible, and those text objects are redacted before a second pass. That</a:t>
            </a:r>
          </a:p>
          <a:p>
            <a:r>
              <a:t>rule accounts for 7,595 of 9,836 rejections corpus-wide.</a:t>
            </a:r>
          </a:p>
          <a:p/>
          <a:p>
            <a:r>
              <a:t>Why it matters: every one of those fragments would otherwise become a sentence and be sent to a</a:t>
            </a:r>
          </a:p>
          <a:p>
            <a:r>
              <a:t>model as content.</a:t>
            </a:r>
          </a:p>
          <a:p/>
          <a:p>
            <a:r>
              <a:t>[0:50]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Table footnotes carry the abbreviation expansions and the statistical caveats — exactly</a:t>
            </a:r>
          </a:p>
          <a:p>
            <a:r>
              <a:t>the qualifiers a downstream rule needs. A tight crop silently discards them. This one change</a:t>
            </a:r>
          </a:p>
          <a:p>
            <a:r>
              <a:t>accounts for more of the RQ1 gain than anything else.</a:t>
            </a:r>
          </a:p>
          <a:p/>
          <a:p>
            <a:r>
              <a:t>[0:30]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6783-0CCA-9EA6-E10D-41C37B28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B15B6-5CE9-B043-20C3-65273CEA8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913C9-E2AF-4F41-5A11-1BFC19E63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t>The other half of the figure story, and the least glamorous fix in the thesis.</a:t>
            </a:r>
          </a:p>
          <a:p/>
          <a:p>
            <a:r>
              <a:t>Off-the-shelf Docling emitted 139 figure crops on the rubric set; 73 were rated "icon" — ORCID</a:t>
            </a:r>
          </a:p>
          <a:p>
            <a:r>
              <a:t>marks, the "check for updates" badge, a licence badge, the masthead. Every open-access paper has</a:t>
            </a:r>
          </a:p>
          <a:p>
            <a:r>
              <a:t>these on page one.</a:t>
            </a:r>
          </a:p>
          <a:p/>
          <a:p>
            <a:r>
              <a:t>The rule is a size filter: width AND height must reach fifty points. The masthead is 178 wide but</a:t>
            </a:r>
          </a:p>
          <a:p>
            <a:r>
              <a:t>36 tall, so it fails on height — that is why it is AND, not area.</a:t>
            </a:r>
          </a:p>
          <a:p/>
          <a:p>
            <a:r>
              <a:t>Corpus-wide this drops about forty percent of picture elements. With the caption matcher next, these</a:t>
            </a:r>
          </a:p>
          <a:p>
            <a:r>
              <a:t>two account for the whole figure gain.</a:t>
            </a:r>
          </a:p>
          <a:p/>
          <a:p>
            <a:r>
              <a:t>[0:40]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39903-3EE3-1620-6620-EFB895BB8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9416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D5C9E-E3B1-F883-1C96-9FE7C89E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48C64-DF5E-8BD0-2FAD-B8D52628D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AC2E5-B16D-D326-C7F5-B09B7B8B8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subtlest document-layer fix and the easiest to under-rate.</a:t>
            </a:r>
          </a:p>
          <a:p/>
          <a:p>
            <a:r>
              <a:t>The figure sits in the left column; its caption is beside it, in the right column. Docling's matcher</a:t>
            </a:r>
          </a:p>
          <a:p>
            <a:r>
              <a:t>searches downward, finds nothing, returns an empty string.</a:t>
            </a:r>
          </a:p>
          <a:p/>
          <a:p>
            <a:r>
              <a:t>The crop is byte-identical between baseline and pipeline — same box, IoU exactly 1.0. The figure was</a:t>
            </a:r>
          </a:p>
          <a:p>
            <a:r>
              <a:t>never the problem. What changed is the string attached to it.</a:t>
            </a:r>
          </a:p>
          <a:p/>
          <a:p>
            <a:r>
              <a:t>My matcher scores candidates by edge-to-edge gap in both axes and parses the figure number out of</a:t>
            </a:r>
          </a:p>
          <a:p>
            <a:r>
              <a:t>the caption to check consistency. Sixteen labels corrected on the rubric set; correct captions go</a:t>
            </a:r>
          </a:p>
          <a:p>
            <a:r>
              <a:t>from 60.6 to 90.3 percent.</a:t>
            </a:r>
          </a:p>
          <a:p/>
          <a:p>
            <a:r>
              <a:t>A caption is not cosmetic. It is the only human-readable description of what a figure shows — the</a:t>
            </a:r>
          </a:p>
          <a:p>
            <a:r>
              <a:t>first thing an auditor reads.</a:t>
            </a:r>
          </a:p>
          <a:p/>
          <a:p>
            <a:r>
              <a:t>[0:45]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CCAF5-0D0E-91EF-BFA2-ABAD0E81D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930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A nastier variant, and this one is real scientific text, not journal furniture.</a:t>
            </a:r>
          </a:p>
          <a:p/>
          <a:p>
            <a:r>
              <a:t>This paper carries a hidden duplicate of a genuine body paragraph. The visible copy is there; a</a:t>
            </a:r>
          </a:p>
          <a:p>
            <a:r>
              <a:t>second sits underneath in a compressed, invisible layer.</a:t>
            </a:r>
          </a:p>
          <a:p/>
          <a:p>
            <a:r>
              <a:t>The pixel test does not always catch it, because the hidden copy can overlap real ink. So there is a</a:t>
            </a:r>
          </a:p>
          <a:p>
            <a:r>
              <a:t>second rule — character density. This node claims 170 characters in a box 8.6 points tall, about</a:t>
            </a:r>
          </a:p>
          <a:p>
            <a:r>
              <a:t>twenty characters per point, physically impossible for rendered type.</a:t>
            </a:r>
          </a:p>
          <a:p/>
          <a:p>
            <a:r>
              <a:t>The consequence if you skip it: the paragraph reaches MAP twice, the model extracts the same finding</a:t>
            </a:r>
          </a:p>
          <a:p>
            <a:r>
              <a:t>twice, and the copies agree perfectly. The cascade sees strong agreement and accepts cheaply. A</a:t>
            </a:r>
          </a:p>
          <a:p>
            <a:r>
              <a:t>duplicate looks exactly like corroboration.</a:t>
            </a:r>
          </a:p>
          <a:p/>
          <a:p>
            <a:r>
              <a:t>That is why this stage exists — not tidiness, but not manufacturing false support.</a:t>
            </a:r>
          </a:p>
          <a:p/>
          <a:p>
            <a:r>
              <a:t>[0:45]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4039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slide that earns the document-extraction half of the thesis. Nobody expects a PDF to</a:t>
            </a:r>
          </a:p>
          <a:p>
            <a:r>
              <a:t>be hostile.</a:t>
            </a:r>
          </a:p>
          <a:p/>
          <a:p>
            <a:r>
              <a:t>Point at the sidebar: Academic Editor, received and accepted dates, the citation block. All of it</a:t>
            </a:r>
          </a:p>
          <a:p>
            <a:r>
              <a:t>would otherwise land in body text and be extracted as a finding.</a:t>
            </a:r>
          </a:p>
          <a:p/>
          <a:p>
            <a:r>
              <a:t>[0:30]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Two smaller cleanup stages during text assembly.</a:t>
            </a:r>
          </a:p>
          <a:p/>
          <a:p>
            <a:r>
              <a:t>Citation stripping: bracketed markers removed, double spaces collapsed. A citation mid-sentence</a:t>
            </a:r>
          </a:p>
          <a:p>
            <a:r>
              <a:t>corrupts the sentence segmentation MAP depends on, and the marker carries no meaning out of context.</a:t>
            </a:r>
          </a:p>
          <a:p/>
          <a:p>
            <a:r>
              <a:t>filter_artifacts: drops elements with no alphabetic characters, short sidebar metadata lines, and</a:t>
            </a:r>
          </a:p>
          <a:p>
            <a:r>
              <a:t>single-line elements outside the vertical range of the page's anchor blocks.</a:t>
            </a:r>
          </a:p>
          <a:p/>
          <a:p>
            <a:r>
              <a:t>Two honest caveats. This overlaps with the header/footer masking — belt-and-braces rather than</a:t>
            </a:r>
          </a:p>
          <a:p>
            <a:r>
              <a:t>elegance. And the NER-based rule is the only place in the document layer where a model decides what</a:t>
            </a:r>
          </a:p>
          <a:p>
            <a:r>
              <a:t>to keep; I did not evaluate it separately.</a:t>
            </a:r>
          </a:p>
          <a:p/>
          <a:p>
            <a:r>
              <a:t>[0:40]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7292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Layout parsers return paragraphs in fragments — broken by a column boundary, a page</a:t>
            </a:r>
          </a:p>
          <a:p>
            <a:r>
              <a:t>break, a floating figure. The stitcher rejoins them on syntactic cues: a trailing hyphen, comma or</a:t>
            </a:r>
          </a:p>
          <a:p>
            <a:r>
              <a:t>connective; a fragment starting lower-case.</a:t>
            </a:r>
          </a:p>
          <a:p/>
          <a:p>
            <a:r>
              <a:t>It works — I verified ten clean joins on the rubric set.</a:t>
            </a:r>
          </a:p>
          <a:p/>
          <a:p>
            <a:r>
              <a:t>But the rule is purely syntactic, and this is the failure. A sentence ends "...proliferation of" —</a:t>
            </a:r>
          </a:p>
          <a:p>
            <a:r>
              <a:t>trailing "of", so the stitcher looks for a continuation. The next element in reading order is the</a:t>
            </a:r>
          </a:p>
          <a:p>
            <a:r>
              <a:t>copyright footer, and it glues them together.</a:t>
            </a:r>
          </a:p>
          <a:p/>
          <a:p>
            <a:r>
              <a:t>The status matters: the thesis already says paragraph-merging errors happen without leaving a signal</a:t>
            </a:r>
          </a:p>
          <a:p>
            <a:r>
              <a:t>in the rubric evaluation — the rubric scores crops, not prose, so this class is invisible to my own</a:t>
            </a:r>
          </a:p>
          <a:p>
            <a:r>
              <a:t>RQ1 metric. What I add is a concrete instance. I do not know the rate.</a:t>
            </a:r>
          </a:p>
          <a:p/>
          <a:p>
            <a:r>
              <a:t>[0:45]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58950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Seven stages. MAP is the only one that calls a language model: ten consecutive sentences</a:t>
            </a:r>
          </a:p>
          <a:p>
            <a:r>
              <a:t>in, typed findings out against a strict schema — claim, subject and outcome entities, relation type,</a:t>
            </a:r>
          </a:p>
          <a:p>
            <a:r>
              <a:t>direction, category, scope, and a verbatim evidence span.</a:t>
            </a:r>
          </a:p>
          <a:p/>
          <a:p>
            <a:r>
              <a:t>GROUNDING checks each claim against the paragraph it cites with an NLI model. NORMALIZE maps entities</a:t>
            </a:r>
          </a:p>
          <a:p>
            <a:r>
              <a:t>to canonical forms and UMLS ids. GROUP collects findings sharing subject, outcome, relation and</a:t>
            </a:r>
          </a:p>
          <a:p>
            <a:r>
              <a:t>category. CANONICALIZE picks one representative per direction — lossless. RELATE finds support and</a:t>
            </a:r>
          </a:p>
          <a:p>
            <a:r>
              <a:t>contradiction. RESOLVE scores.</a:t>
            </a:r>
          </a:p>
          <a:p/>
          <a:p>
            <a:r>
              <a:t>Underline the bold line: after MAP, nothing generates text. Every downstream stage merges, selects or</a:t>
            </a:r>
          </a:p>
          <a:p>
            <a:r>
              <a:t>scores. That is the structural reason provenance survives. One safeguard: after MAP returns, I</a:t>
            </a:r>
          </a:p>
          <a:p>
            <a:r>
              <a:t>overwrite the model's quote with the real source text from the database.</a:t>
            </a:r>
          </a:p>
          <a:p/>
          <a:p>
            <a:r>
              <a:t>[0:50]  -&gt;  "MAP is the stochastic step and the expensive one — so that's where the cascade goes."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cascade sits on MAP. Three cheap voters from OpenAI and Google run on every chunk. A</a:t>
            </a:r>
          </a:p>
          <a:p>
            <a:r>
              <a:t>scorer builds a pairwise similarity matrix, takes each voter's mean similarity to the others, and the</a:t>
            </a:r>
          </a:p>
          <a:p>
            <a:r>
              <a:t>agreement score is the MAXIMUM of those means — so the winner is the output most aligned with</a:t>
            </a:r>
          </a:p>
          <a:p>
            <a:r>
              <a:t>consensus.</a:t>
            </a:r>
          </a:p>
          <a:p/>
          <a:p>
            <a:r>
              <a:t>That drives a three-way decision. Above theta, accept and stop. Below a reject threshold, emit</a:t>
            </a:r>
          </a:p>
          <a:p>
            <a:r>
              <a:t>nothing. In between, escalate — two mid-tier voters, then Claude Sonnet, whose output is accepted</a:t>
            </a:r>
          </a:p>
          <a:p>
            <a:r>
              <a:t>unconditionally.</a:t>
            </a:r>
          </a:p>
          <a:p/>
          <a:p>
            <a:r>
              <a:t>Two design points that matter for the results. Every voter runs at temperature zero: the diversity is</a:t>
            </a:r>
          </a:p>
          <a:p>
            <a:r>
              <a:t>PROVIDER diversity, not sampling noise. And — I flag it now because it predicts the negative result —</a:t>
            </a:r>
          </a:p>
          <a:p>
            <a:r>
              <a:t>if the cheap voters disagree often you pay for them AND the strong model. The cascade is only cheaper</a:t>
            </a:r>
          </a:p>
          <a:p>
            <a:r>
              <a:t>if agreement is common. Hold that thought.</a:t>
            </a:r>
          </a:p>
          <a:p/>
          <a:p>
            <a:r>
              <a:t>[0:55]  -&gt;  "That's the system. Now — how do you evaluate it honestly?"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The machinery behind accept/reject/escalate, and worth being precise because the cost</a:t>
            </a:r>
          </a:p>
          <a:p>
            <a:r>
              <a:t>argument rests on it.</a:t>
            </a:r>
          </a:p>
          <a:p/>
          <a:p>
            <a:r>
              <a:t>Every voter returns a set of typed findings, not a string — so "do they agree?" is not string</a:t>
            </a:r>
          </a:p>
          <a:p>
            <a:r>
              <a:t>comparison. I align the two sets one-to-one and score the alignment. The winning scorer blends four</a:t>
            </a:r>
          </a:p>
          <a:p>
            <a:r>
              <a:t>signals, weights on the slide: entity overlap dominates at 0.50, claim embedding 0.30, category 0.15,</a:t>
            </a:r>
          </a:p>
          <a:p>
            <a:r>
              <a:t>cited evidence 0.05. Entity-heavy was selected empirically, not by hand.</a:t>
            </a:r>
          </a:p>
          <a:p/>
          <a:p>
            <a:r>
              <a:t>Each voter takes its mean similarity to the others; the chunk score is the maximum, and the winner is</a:t>
            </a:r>
          </a:p>
          <a:p>
            <a:r>
              <a:t>the voter that achieved it. Ties break on grounding quality.</a:t>
            </a:r>
          </a:p>
          <a:p/>
          <a:p>
            <a:r>
              <a:t>Underline the last line: this measures agreement, not correctness. If all five voters share a</a:t>
            </a:r>
          </a:p>
          <a:p>
            <a:r>
              <a:t>misconception they agree strongly and the cascade accepts confidently and cheaply. Nothing in the</a:t>
            </a:r>
          </a:p>
          <a:p>
            <a:r>
              <a:t>scorer detects that — which is why grounding runs afterwards.</a:t>
            </a:r>
          </a:p>
          <a:p/>
          <a:p>
            <a:r>
              <a:t>[0:50]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Grounding is where an unsupported claim dies, and it costs real recall — six strict-F1</a:t>
            </a:r>
          </a:p>
          <a:p>
            <a:r>
              <a:t>points, which I report rather than hide. I kept it anyway. An ungrounded rule in this domain is worse</a:t>
            </a:r>
          </a:p>
          <a:p>
            <a:r>
              <a:t>than a missing one.</a:t>
            </a:r>
          </a:p>
          <a:p/>
          <a:p>
            <a:r>
              <a:t>[0:30]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Four frozen datasets, and the disclosure goes on the table before any result.</a:t>
            </a:r>
          </a:p>
          <a:p/>
          <a:p>
            <a:r>
              <a:t>977 histopathology papers from PMC Open Access. The RQ1 rubric set is 27 PDFs I annotated by hand</a:t>
            </a:r>
          </a:p>
          <a:p>
            <a:r>
              <a:t>against a written four-dimension rubric — the only human labels in the thesis, annotated by me alone.</a:t>
            </a:r>
          </a:p>
          <a:p>
            <a:r>
              <a:t>The calibration cluster is fifteen papers chosen by an integer linear program maximising pairwise</a:t>
            </a:r>
          </a:p>
          <a:p>
            <a:r>
              <a:t>relatedness. The held-out set is fifteen more, random and disjoint. The relation set is three hundred</a:t>
            </a:r>
          </a:p>
          <a:p>
            <a:r>
              <a:t>synthetic pairs, generated label-first.</a:t>
            </a:r>
          </a:p>
          <a:p/>
          <a:p>
            <a:r>
              <a:t>The orange column is the honest part. For everything except RQ1 the labels come from Claude Opus. So</a:t>
            </a:r>
          </a:p>
          <a:p>
            <a:r>
              <a:t>strict-F1 of 0.716 means agreement with Opus — not with a pathologist. No experiment in this thesis</a:t>
            </a:r>
          </a:p>
          <a:p>
            <a:r>
              <a:t>lifts that bound.</a:t>
            </a:r>
          </a:p>
          <a:p/>
          <a:p>
            <a:r>
              <a:t>Note also: 2,223 is the count of SILVER findings; the 2,294 on the next slide is PIPELINE findings.</a:t>
            </a:r>
          </a:p>
          <a:p>
            <a:r>
              <a:t>Different quantities.</a:t>
            </a:r>
          </a:p>
          <a:p/>
          <a:p>
            <a:r>
              <a:t>[0:55]  -&gt;  "Starting with the one place I do have human labels — RQ1."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The only slide backed by human labels, and the metric is deliberately harsh. Strict-F1</a:t>
            </a:r>
          </a:p>
          <a:p>
            <a:r>
              <a:t>counts a table as a true positive only if it is perfect on EVERY applicable dimension — geometry,</a:t>
            </a:r>
          </a:p>
          <a:p>
            <a:r>
              <a:t>caption, footnote, masking. A near-miss earns zero.</a:t>
            </a:r>
          </a:p>
          <a:p/>
          <a:p>
            <a:r>
              <a:t>Tables 0.366 to 0.838. Figures 0.447 to 0.840. Roughly double, on both.</a:t>
            </a:r>
          </a:p>
          <a:p/>
          <a:p>
            <a:r>
              <a:t>The attribution matters more than the headline. The second detector alone moves strict-F1 from 0.400</a:t>
            </a:r>
          </a:p>
          <a:p>
            <a:r>
              <a:t>to 0.420 — almost nothing. Footnote expansion alone gets you to 0.800. Together, 0.838. The dominant</a:t>
            </a:r>
          </a:p>
          <a:p>
            <a:r>
              <a:t>lever is FOOTNOTES; the hybrid detector recovers tables missed entirely, which is a smaller</a:t>
            </a:r>
          </a:p>
          <a:p>
            <a:r>
              <a:t>population but the one that matters for recall.</a:t>
            </a:r>
          </a:p>
          <a:p/>
          <a:p>
            <a:r>
              <a:t>For figures the gain is post-processing, not detection: the icon filter cuts false positives from 73</a:t>
            </a:r>
          </a:p>
          <a:p>
            <a:r>
              <a:t>to 14, the caption matcher takes correct captions from 61 to 90 percent. The thesis names a third</a:t>
            </a:r>
          </a:p>
          <a:p>
            <a:r>
              <a:t>mechanism, sub-figure merging; after submission I verified it never runs.</a:t>
            </a:r>
          </a:p>
          <a:p/>
          <a:p>
            <a:r>
              <a:t>One honest cost: expanding crops downward drops mask-F1 from 94.3 to 91.9. I took that trade</a:t>
            </a:r>
          </a:p>
          <a:p>
            <a:r>
              <a:t>knowingly.</a:t>
            </a:r>
          </a:p>
          <a:p/>
          <a:p>
            <a:r>
              <a:t>One number that defends the hybrid detector better than that +0.020, which is measured before</a:t>
            </a:r>
          </a:p>
          <a:p>
            <a:r>
              <a:t>footnote expansion. With the same footnote expansion and geometry fixes, swapping only the</a:t>
            </a:r>
          </a:p>
          <a:p>
            <a:r>
              <a:t>detector: TATR alone 0.649, hybrid 0.838. The union is what keeps Docling's own proposals.</a:t>
            </a:r>
          </a:p>
          <a:p/>
          <a:p>
            <a:r>
              <a:t>[1:05]  -&gt;  "So the document layer works. What does the knowledge layer produce on top of it?"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t>The mechanism behind the RQ1 headline, and it is almost embarrassingly simple: extend the</a:t>
            </a:r>
          </a:p>
          <a:p>
            <a:r>
              <a:t>table crop downward twenty percent and re-check what falls inside.</a:t>
            </a:r>
          </a:p>
          <a:p/>
          <a:p>
            <a:r>
              <a:t>The green band is what the pipeline added — the significance note, the abbreviation key, the dagger</a:t>
            </a:r>
          </a:p>
          <a:p>
            <a:r>
              <a:t>footnotes. Docling's crop stops at the last data row, a reasonable definition of "the table" and</a:t>
            </a:r>
          </a:p>
          <a:p>
            <a:r>
              <a:t>completely wrong for downstream use.</a:t>
            </a:r>
          </a:p>
          <a:p/>
          <a:p>
            <a:r>
              <a:t>Footnote precision goes from 43.8 to 91.4 percent. On its own this takes table strict-F1 from 0.400</a:t>
            </a:r>
          </a:p>
          <a:p>
            <a:r>
              <a:t>to 0.800 — worth more than the second detector by a wide margin.</a:t>
            </a:r>
          </a:p>
          <a:p/>
          <a:p>
            <a:r>
              <a:t>The honest cost is on the right: a bigger crop sometimes swallows body text, so mask-F1 drops about</a:t>
            </a:r>
          </a:p>
          <a:p>
            <a:r>
              <a:t>two and a half points.</a:t>
            </a:r>
          </a:p>
          <a:p/>
          <a:p>
            <a:r>
              <a:t>[0:40]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Fifteen papers, frozen configuration. MAP produces 2,294 findings — PIPELINE findings,</a:t>
            </a:r>
          </a:p>
          <a:p>
            <a:r>
              <a:t>not the 2,223 silver labels. Grounding removes about sixteen percent. Everything after barely moves</a:t>
            </a:r>
          </a:p>
          <a:p>
            <a:r>
              <a:t>the count, and we end with 1,747 rules, about 117 per paper.</a:t>
            </a:r>
          </a:p>
          <a:p/>
          <a:p>
            <a:r>
              <a:t>The shallow funnel is itself a finding: the findings leaving MAP are already mostly atomic and</a:t>
            </a:r>
          </a:p>
          <a:p>
            <a:r>
              <a:t>distinct. Had they been redundant, consolidation would have collapsed them.</a:t>
            </a:r>
          </a:p>
          <a:p/>
          <a:p>
            <a:r>
              <a:t>The number I would defend hardest is on the right. All 1,747 rules resolve to at least one source</a:t>
            </a:r>
          </a:p>
          <a:p>
            <a:r>
              <a:t>paragraph — not 99 percent, all of them. That is structural: a rule cannot exist in the data model</a:t>
            </a:r>
          </a:p>
          <a:p>
            <a:r>
              <a:t>without its back-pointer chain.</a:t>
            </a:r>
          </a:p>
          <a:p/>
          <a:p>
            <a:r>
              <a:t>Two honest gaps in grey. Only 86 percent of figures have a caption attached. And cross-reference</a:t>
            </a:r>
          </a:p>
          <a:p>
            <a:r>
              <a:t>linking resolves about half the time — not used downstream, but not solved.</a:t>
            </a:r>
          </a:p>
          <a:p/>
          <a:p>
            <a:r>
              <a:t>[0:50]  -&gt;  "Those rules came out of the cascade. Was the cascade worth it?"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One actual rule, verbatim from the frozen output.</a:t>
            </a:r>
          </a:p>
          <a:p/>
          <a:p>
            <a:r>
              <a:t>Subject PHH3, a mitosis marker. Outcome survival. Relation prognostic, direction negative. The</a:t>
            </a:r>
          </a:p>
          <a:p>
            <a:r>
              <a:t>predicate is the model's own compressed statement. The grounding score is 0.9997 — the NLI model</a:t>
            </a:r>
          </a:p>
          <a:p>
            <a:r>
              <a:t>checking the claim against the paragraph it cites.</a:t>
            </a:r>
          </a:p>
          <a:p/>
          <a:p>
            <a:r>
              <a:t>Two fields to draw out. The ID chain: member_normal_ids points at the normalized findings this was</a:t>
            </a:r>
          </a:p>
          <a:p>
            <a:r>
              <a:t>built from, which point at MAP findings, which point at text elements carrying page and bounding box.</a:t>
            </a:r>
          </a:p>
          <a:p>
            <a:r>
              <a:t>That is provenance as data, not documentation.</a:t>
            </a:r>
          </a:p>
          <a:p/>
          <a:p>
            <a:r>
              <a:t>And is_conflicted is True — the source group contained more than one polarity. The system does not</a:t>
            </a:r>
          </a:p>
          <a:p>
            <a:r>
              <a:t>silently pick a winner; it flags the group and keeps both directions, because the point is to surface</a:t>
            </a:r>
          </a:p>
          <a:p>
            <a:r>
              <a:t>candidates for a human.</a:t>
            </a:r>
          </a:p>
          <a:p/>
          <a:p>
            <a:r>
              <a:t>The final score of 0.62 is a ranking signal, not a probability.</a:t>
            </a:r>
          </a:p>
          <a:p/>
          <a:p>
            <a:r>
              <a:t>[0:45]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Calibration on fifteen related papers, 474 chunks.</a:t>
            </a:r>
          </a:p>
          <a:p/>
          <a:p>
            <a:r>
              <a:t>Blue is quality against theta. It rises then flattens — 0.7 to 0.8 buys about five points of</a:t>
            </a:r>
          </a:p>
          <a:p>
            <a:r>
              <a:t>strict-F1; 0.8 to 0.9 buys 0.0085. Less than one point.</a:t>
            </a:r>
          </a:p>
          <a:p/>
          <a:p>
            <a:r>
              <a:t>Orange is why this slide exists. Escalation climbs with theta, and at my operating point, theta 0.9,</a:t>
            </a:r>
          </a:p>
          <a:p>
            <a:r>
              <a:t>95.6 percent of chunks escalate. Almost every chunk reaches Sonnet anyway.</a:t>
            </a:r>
          </a:p>
          <a:p/>
          <a:p>
            <a:r>
              <a:t>State the implication plainly rather than let them find it: at that setting the cascade is barely a</a:t>
            </a:r>
          </a:p>
          <a:p>
            <a:r>
              <a:t>cascade. It is a strong model with an expensive pre-filter. The cheap voters are paid for on every</a:t>
            </a:r>
          </a:p>
          <a:p>
            <a:r>
              <a:t>chunk and resolve about one in twenty on their own. That is not a tuning bug — it is what agreement</a:t>
            </a:r>
          </a:p>
          <a:p>
            <a:r>
              <a:t>looks like when the schema is rich and voters genuinely disagree.</a:t>
            </a:r>
          </a:p>
          <a:p/>
          <a:p>
            <a:r>
              <a:t>So: should you just call the strong model directly?</a:t>
            </a:r>
          </a:p>
          <a:p/>
          <a:p>
            <a:r>
              <a:t>[0:50]  -&gt;  "That question is RQ3 — the thesis's central negative result."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Whether the shipped configuration was tuned or just picked. This is the audit trail.</a:t>
            </a:r>
          </a:p>
          <a:p/>
          <a:p>
            <a:r>
              <a:t>Six stages, each fixing one knob and handing the rest forward. E05 screens the structural choices —</a:t>
            </a:r>
          </a:p>
          <a:p>
            <a:r>
              <a:t>twelve combinations — and the structured hybrid scorer beats plain embedding on every embedder, the</a:t>
            </a:r>
          </a:p>
          <a:p>
            <a:r>
              <a:t>cleanest result in the calibration. E06 refines the blend weights. E06b and E06c ask whether any</a:t>
            </a:r>
          </a:p>
          <a:p>
            <a:r>
              <a:t>voter earns its place; dropping Claude Haiku is quality-neutral at eighteen percent lower cost, which</a:t>
            </a:r>
          </a:p>
          <a:p>
            <a:r>
              <a:t>is how six voters became five. E07 sweeps thresholds, E08 ablates the gates, E08b gives the final</a:t>
            </a:r>
          </a:p>
          <a:p>
            <a:r>
              <a:t>curve.</a:t>
            </a:r>
          </a:p>
          <a:p/>
          <a:p>
            <a:r>
              <a:t>Two things I would defend. The order is deliberate — one knob at a time makes the search linear</a:t>
            </a:r>
          </a:p>
          <a:p>
            <a:r>
              <a:t>rather than combinatorial, at the cost of assuming the knobs are separable. That assumption is not</a:t>
            </a:r>
          </a:p>
          <a:p>
            <a:r>
              <a:t>tested.</a:t>
            </a:r>
          </a:p>
          <a:p/>
          <a:p>
            <a:r>
              <a:t>And all six replay from cached voter outputs. Every number regenerates on a laptop with no network</a:t>
            </a:r>
          </a:p>
          <a:p>
            <a:r>
              <a:t>and no spend, byte-identical.</a:t>
            </a:r>
          </a:p>
          <a:p/>
          <a:p>
            <a:r>
              <a:t>[0:45]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The result I would lead with if I could report only one, and it is negative.</a:t>
            </a:r>
          </a:p>
          <a:p/>
          <a:p>
            <a:r>
              <a:t>The cascade at its best reaches 0.7160 at a cost of 23.66 per chunk. A single Claude Sonnet call</a:t>
            </a:r>
          </a:p>
          <a:p>
            <a:r>
              <a:t>reaches 0.7129 at 18.00. The difference is +0.0031, and the ninety-five percent interval from a</a:t>
            </a:r>
          </a:p>
          <a:p>
            <a:r>
              <a:t>paper-level clustered paired bootstrap — ten thousand resamples, papers as the unit — runs from minus</a:t>
            </a:r>
          </a:p>
          <a:p>
            <a:r>
              <a:t>0.0002 to plus 0.0068. It crosses zero. THIS IS NOT A STATISTICALLY SIGNIFICANT IMPROVEMENT. And the</a:t>
            </a:r>
          </a:p>
          <a:p>
            <a:r>
              <a:t>single model is about twenty-four percent cheaper.</a:t>
            </a:r>
          </a:p>
          <a:p/>
          <a:p>
            <a:r>
              <a:t>So under the silver cost-quality criterion the cascade is not cost-justified against the strong single</a:t>
            </a:r>
          </a:p>
          <a:p>
            <a:r>
              <a:t>model. I say it in those words because it would be easy to call 0.7160 versus 0.7129 "the cascade</a:t>
            </a:r>
          </a:p>
          <a:p>
            <a:r>
              <a:t>wins" and technically not be lying.</a:t>
            </a:r>
          </a:p>
          <a:p/>
          <a:p>
            <a:r>
              <a:t>The other half is real too. Against every OTHER single model the cascade wins by six to twenty-six</a:t>
            </a:r>
          </a:p>
          <a:p>
            <a:r>
              <a:t>points, all significant. The next best, Haiku, trails by more than six. So this is not "the cascade</a:t>
            </a:r>
          </a:p>
          <a:p>
            <a:r>
              <a:t>doesn't work" — it is "the cascade doesn't beat the one model that is already very good and already</a:t>
            </a:r>
          </a:p>
          <a:p>
            <a:r>
              <a:t>cheaper".</a:t>
            </a:r>
          </a:p>
          <a:p/>
          <a:p>
            <a:r>
              <a:t>One counter-consideration, carefully. The silver labels come from Opus; the Sonnet baseline is also</a:t>
            </a:r>
          </a:p>
          <a:p>
            <a:r>
              <a:t>Anthropic. There is a plausible family-resemblance advantage, and my five voters are entirely</a:t>
            </a:r>
          </a:p>
          <a:p>
            <a:r>
              <a:t>non-Anthropic — so the measured gap is arguably conservative. But I did NOT measure that. It does not</a:t>
            </a:r>
          </a:p>
          <a:p>
            <a:r>
              <a:t>turn a null result into a positive one.</a:t>
            </a:r>
          </a:p>
          <a:p/>
          <a:p>
            <a:r>
              <a:t>On cost units: a price-weighted unit from a hand-compiled price book of list prices. The thesis states</a:t>
            </a:r>
          </a:p>
          <a:p>
            <a:r>
              <a:t>no currency — a genuine gap in the write-up.</a:t>
            </a:r>
          </a:p>
          <a:p/>
          <a:p>
            <a:r>
              <a:t>[1:20]  -&gt;  "RQ4 is a cleaner result: one frozen model doing two jobs."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t>One model, frozen, no fine-tuning: a PubMedBERT cross-encoder trained on MNLI and MedNLI,</a:t>
            </a:r>
          </a:p>
          <a:p>
            <a:r>
              <a:t>doing two jobs.</a:t>
            </a:r>
          </a:p>
          <a:p/>
          <a:p>
            <a:r>
              <a:t>Grounding first. For each claim I run entailment against the paragraph it cites. The distribution is</a:t>
            </a:r>
          </a:p>
          <a:p>
            <a:r>
              <a:t>strongly bimodal — 77.5 percent above 0.9, about 14 percent below 0.3. Little in the middle, which is</a:t>
            </a:r>
          </a:p>
          <a:p>
            <a:r>
              <a:t>reassuring.</a:t>
            </a:r>
          </a:p>
          <a:p/>
          <a:p>
            <a:r>
              <a:t>Now the honest part. Turning the filter OFF gives the best strict-F1, 0.716. At 0.5 it drops to 0.652</a:t>
            </a:r>
          </a:p>
          <a:p>
            <a:r>
              <a:t>— six points. And of the 371 findings removed, about 86 percent actually agreed with the silver</a:t>
            </a:r>
          </a:p>
          <a:p>
            <a:r>
              <a:t>labels.</a:t>
            </a:r>
          </a:p>
          <a:p/>
          <a:p>
            <a:r>
              <a:t>I kept it, and I defend that rather than apologise. The filter enforces that a claim is entailed by</a:t>
            </a:r>
          </a:p>
          <a:p>
            <a:r>
              <a:t>the text it points at. A finding that agrees with Opus but is not supported by its own cited paragraph</a:t>
            </a:r>
          </a:p>
          <a:p>
            <a:r>
              <a:t>is exactly the failure this thesis exists to prevent. Six points of agreement-with-a-labeller, traded</a:t>
            </a:r>
          </a:p>
          <a:p>
            <a:r>
              <a:t>for a property the labeller cannot measure.</a:t>
            </a:r>
          </a:p>
          <a:p/>
          <a:p>
            <a:r>
              <a:t>Job two is relation classification — about 92 percent on three hundred synthetic pairs. But read the</a:t>
            </a:r>
          </a:p>
          <a:p>
            <a:r>
              <a:t>orange caveat: class-balanced, synthetic, label-first. An optimistic ceiling.</a:t>
            </a:r>
          </a:p>
          <a:p/>
          <a:p>
            <a:r>
              <a:t>[0:55]  -&gt;  "Does any of this survive on papers I didn't calibrate on?"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Fifteen new papers, random, disjoint. The configuration was frozen before I ran this —</a:t>
            </a:r>
          </a:p>
          <a:p>
            <a:r>
              <a:t>theta, voters, weights, thresholds.</a:t>
            </a:r>
          </a:p>
          <a:p/>
          <a:p>
            <a:r>
              <a:t>Strict-F1 goes from 0.7160 to 0.7128 — a gap of 0.0032, inside the bootstrap noise band. The funnel</a:t>
            </a:r>
          </a:p>
          <a:p>
            <a:r>
              <a:t>keeps its shape, and provenance is again a hundred percent: 1,273 of 1,273.</a:t>
            </a:r>
          </a:p>
          <a:p/>
          <a:p>
            <a:r>
              <a:t>Read the left curve carefully: it is DESCRIPTIVE. I did not tune theta on the held-out set — that</a:t>
            </a:r>
          </a:p>
          <a:p>
            <a:r>
              <a:t>would defeat the purpose.</a:t>
            </a:r>
          </a:p>
          <a:p/>
          <a:p>
            <a:r>
              <a:t>One number moved: escalation goes from 95.6 to 99.0 percent. On unseen papers the cheap voters agree</a:t>
            </a:r>
          </a:p>
          <a:p>
            <a:r>
              <a:t>even less. That reinforces the RQ3 conclusion rather than softening it — the economics get worse on</a:t>
            </a:r>
          </a:p>
          <a:p>
            <a:r>
              <a:t>unfamiliar material.</a:t>
            </a:r>
          </a:p>
          <a:p/>
          <a:p>
            <a:r>
              <a:t>The claim this licenses is narrow: the configuration does not overfit related15. It does NOT show</a:t>
            </a:r>
          </a:p>
          <a:p>
            <a:r>
              <a:t>generalization to other subfields, non-PMC papers, or non-English literature.</a:t>
            </a:r>
          </a:p>
          <a:p/>
          <a:p>
            <a:r>
              <a:t>[0:45]  -&gt;  "Which brings me to what these numbers do not support."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I would rather state these than be asked them.</a:t>
            </a:r>
          </a:p>
          <a:p/>
          <a:p>
            <a:r>
              <a:t>The first bounds everything after RQ1. Strict-F1 measures agreement with Opus. If Opus is</a:t>
            </a:r>
          </a:p>
          <a:p>
            <a:r>
              <a:t>systematically wrong, my pipeline is rewarded for being wrong the same way, and no experiment inside</a:t>
            </a:r>
          </a:p>
          <a:p>
            <a:r>
              <a:t>this design detects it. It needs expert annotation — the top item in future work.</a:t>
            </a:r>
          </a:p>
          <a:p/>
          <a:p>
            <a:r>
              <a:t>The second is aimed at RQ3. My level-three fallback is Sonnet; my silver labeller is Opus. Same</a:t>
            </a:r>
          </a:p>
          <a:p>
            <a:r>
              <a:t>family. So a Sonnet-heavy system may match the silver partly through family resemblance. I argued</a:t>
            </a:r>
          </a:p>
          <a:p>
            <a:r>
              <a:t>that makes my null result conservative — that is a REASONED EXPECTATION, not a measurement.</a:t>
            </a:r>
          </a:p>
          <a:p/>
          <a:p>
            <a:r>
              <a:t>Third, the human labels are 27 papers annotated by me alone: no second annotator, no</a:t>
            </a:r>
          </a:p>
          <a:p>
            <a:r>
              <a:t>inter-annotator agreement. The trend is clear; the individual percentages should not be read to the</a:t>
            </a:r>
          </a:p>
          <a:p>
            <a:r>
              <a:t>decimal.</a:t>
            </a:r>
          </a:p>
          <a:p/>
          <a:p>
            <a:r>
              <a:t>Fourth, the 92 percent relation accuracy is synthetic and class-balanced. A ceiling.</a:t>
            </a:r>
          </a:p>
          <a:p/>
          <a:p>
            <a:r>
              <a:t>And the scope: English, open-access, histopathology. The system emits candidates for expert</a:t>
            </a:r>
          </a:p>
          <a:p>
            <a:r>
              <a:t>validation. Confidence scores are ranking signals, not clinical probabilities.</a:t>
            </a:r>
          </a:p>
          <a:p/>
          <a:p>
            <a:r>
              <a:t>[0:55]  -&gt;  "So — five questions. Here are the five answers."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Five questions, five answers.</a:t>
            </a:r>
          </a:p>
          <a:p/>
          <a:p>
            <a:r>
              <a:t>RQ1 — met. Document extraction roughly doubles strict-F1 on tables and figures, against human labels.</a:t>
            </a:r>
          </a:p>
          <a:p/>
          <a:p>
            <a:r>
              <a:t>RQ2 — met. Provenance is complete: every one of 1,747 rules resolves to a source paragraph.</a:t>
            </a:r>
          </a:p>
          <a:p>
            <a:r>
              <a:t>Structural, not incidental.</a:t>
            </a:r>
          </a:p>
          <a:p/>
          <a:p>
            <a:r>
              <a:t>RQ3 — negative, and I will not soften it. The cascade reaches the same quality as a single Sonnet</a:t>
            </a:r>
          </a:p>
          <a:p>
            <a:r>
              <a:t>call, the difference is not significant, and Sonnet is twenty-four percent cheaper. What survives is</a:t>
            </a:r>
          </a:p>
          <a:p>
            <a:r>
              <a:t>that the cascade beats every cheaper model decisively, and that its five governing voters are</a:t>
            </a:r>
          </a:p>
          <a:p>
            <a:r>
              <a:t>entirely non-Anthropic — so the defensible value is PROVIDER INDEPENDENCE, not accuracy. That is</a:t>
            </a:r>
          </a:p>
          <a:p>
            <a:r>
              <a:t>worth something. It is just not the property I set out to demonstrate.</a:t>
            </a:r>
          </a:p>
          <a:p/>
          <a:p>
            <a:r>
              <a:t>RQ4 — the NLI backbone works in both roles, with the grounding trade made deliberately.</a:t>
            </a:r>
          </a:p>
          <a:p/>
          <a:p>
            <a:r>
              <a:t>RQ5 — no meaningful overfitting.</a:t>
            </a:r>
          </a:p>
          <a:p/>
          <a:p>
            <a:r>
              <a:t>The closing line is the contribution. Not this operating point — theta 0.9 with those five voters is</a:t>
            </a:r>
          </a:p>
          <a:p>
            <a:r>
              <a:t>specific to this corpus and today's prices, and will be stale within a year. What lasts is the</a:t>
            </a:r>
          </a:p>
          <a:p>
            <a:r>
              <a:t>framework: provenance guaranteed by the data model rather than by discipline, cost and quality as</a:t>
            </a:r>
          </a:p>
          <a:p>
            <a:r>
              <a:t>explicit knobs, and an offline replay protocol that reproduces every number without a single new API</a:t>
            </a:r>
          </a:p>
          <a:p>
            <a:r>
              <a:t>call.</a:t>
            </a:r>
          </a:p>
          <a:p/>
          <a:p>
            <a:r>
              <a:t>Thank you — happy to take questions.</a:t>
            </a:r>
          </a:p>
          <a:p/>
          <a:p>
            <a:r>
              <a:t>[1:00]  -&gt;  END OF MAIN TALK. Stay on this slide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speech. Land on the conclusion slide during questions and jump here by slide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when asked to restate a research question exactly. The answers column is from the thesis's own summary-of-findings section, not from Chapter 6, which is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cap exists to bound Docling runtime and memory. It drops under a tenth of papers while removing nearly half the page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Expect: 'isn't that cherry-picking?' Answer: yes, deliberately, and disclosed. The cluster maximises relatedness so cross-paper relations are possible at all. The held-out set is random precisely to test whether that choice inflated the result. It did not inflate strict-F1 (0.7128 vs 0.7160) but it did inflate relation counts (25 vs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harshness is the point: it is the metric under which a 'mostly right' table crop still fails, which is the standard a downstream auditor would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ablation the committee will want. Read down the strict-F1 column: detection alone 40.0 → 42.0; footnotes alone 80.0; both 83.8.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strict/loose gap is where the schema bites: the pipeline usually finds the right claim (loose 0.886) but disagrees with the </a:t>
            </a:r>
            <a:r>
              <a:rPr dirty="0" err="1"/>
              <a:t>labeller</a:t>
            </a:r>
            <a:r>
              <a:rPr dirty="0"/>
              <a:t> about direction or category often enough to drop to 0.716.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asked why Haiku was dropped: E06b/E06c showed dropping it was strict-F1-neutral (0.7147 five-voter vs 0.7131 six-voter, inside the noise band) at 18% lower cost per 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if asked whether the gates are doing anything. Answer honestly: measurably almost nothing on strict-F1, and that was never their purpose. The polarity gate is a guard against silently emitting two contradictory polarities for the same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Concede the missing currency unit immediately if asked; do not improvise one. The numbers are internally consistent and comparable across systems, which is what the frontier needs, but the axis should have been labelled.</a:t>
            </a:r>
          </a:p>
          <a:p>
            <a:endParaRPr/>
          </a:p>
          <a:p>
            <a:r>
              <a:t>Four operating points, ascending cost. Quality is the shipped configuration - it is simply the</a:t>
            </a:r>
          </a:p>
          <a:p>
            <a:r>
              <a:t>maximum, no coefficient and no threshold involved. Economy and balanced are the same method, the</a:t>
            </a:r>
          </a:p>
          <a:p>
            <a:r>
              <a:t>epsilon-constraint: cheapest configuration clearing a quality floor, at 0.50 and 0.60 respectively.</a:t>
            </a:r>
          </a:p>
          <a:p>
            <a:r>
              <a:t>The knee is the odd one out - it maximises strict-F1 minus lambda times cost.</a:t>
            </a:r>
          </a:p>
          <a:p>
            <a:endParaRPr/>
          </a:p>
          <a:p>
            <a:r>
              <a:t>Read the bold line rather than the table if you are short of time: a third more spend buys seven</a:t>
            </a:r>
          </a:p>
          <a:p>
            <a:r>
              <a:t>percent, and a third again buys one. That is the diminishing-returns shape, and it is the same</a:t>
            </a:r>
          </a:p>
          <a:p>
            <a:r>
              <a:t>point the cost-quality argument rests on.</a:t>
            </a:r>
          </a:p>
          <a:p>
            <a:endParaRPr/>
          </a:p>
          <a:p>
            <a:r>
              <a:t>If asked why nothing sits between economy at 3.38 and the knee at 21.80 - which is the sharpest</a:t>
            </a:r>
          </a:p>
          <a:p>
            <a:r>
              <a:t>question this slide invites - jump to B15. Short answer: the knee is chosen by a weighted sum, and</a:t>
            </a:r>
          </a:p>
          <a:p>
            <a:r>
              <a:t>a weighted sum can only ever return a vertex of the convex hull. Seven configurations here are</a:t>
            </a:r>
          </a:p>
          <a:p>
            <a:r>
              <a:t>Pareto-optimal but only three are on that hull, so theta 0.4 through 0.7 are unreachable by any</a:t>
            </a:r>
          </a:p>
          <a:p>
            <a:r>
              <a:t>lambda at all. Balanced exists because the epsilon-constraint has no such blind spot. Nothing about</a:t>
            </a:r>
          </a:p>
          <a:p>
            <a:r>
              <a:t>the shipped configuration changes - quality depends on neither lambda nor a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pushed on 'the CI is only just crossing zero': agreed, it is marginal — the upper bound is positive and the lower bound is barely negative. But a marginal interval is not evidence of an effect, and I will not present it 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0.5 was pinned as a design decision for source faithfulness, not chosen to </a:t>
            </a:r>
            <a:r>
              <a:rPr dirty="0" err="1"/>
              <a:t>maximise</a:t>
            </a:r>
            <a:r>
              <a:rPr dirty="0"/>
              <a:t> F1 — the F1-maximising choice is to switch the filter off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reading: predicate_only actually scores marginally higher, and the mode the pipeline ships cannot demonstrate its own mechanism on this dataset. Both facts are in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clearest evidence that the ILP cluster choice mattered for relations but not for strict-F1. Do not oversell the knowledge-graph angle on randomly sampled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reproducibility answer. The command is `</a:t>
            </a:r>
            <a:r>
              <a:rPr dirty="0" err="1"/>
              <a:t>nlp-histo</a:t>
            </a:r>
            <a:r>
              <a:rPr dirty="0"/>
              <a:t> replay results` and it is free — it reads cached artifacts, it does not call any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slide for "how did you choose the operating points", and the honest answer has a</a:t>
            </a:r>
          </a:p>
          <a:p>
            <a:r>
              <a:t>methodological wrinkle worth owning.</a:t>
            </a:r>
          </a:p>
          <a:p>
            <a:endParaRPr/>
          </a:p>
          <a:p>
            <a:r>
              <a:t>Quality is just argmax strict-F1 - no coefficient, no threshold. That is the shipped configuration.</a:t>
            </a:r>
          </a:p>
          <a:p>
            <a:r>
              <a:t>Economy and the knee are reporting points that summarise the rest of the curve.</a:t>
            </a:r>
          </a:p>
          <a:p>
            <a:endParaRPr/>
          </a:p>
          <a:p>
            <a:r>
              <a:t>The knee uses weighted-sum scalarization: maximise strict-F1 minus lambda times cost, with lambda</a:t>
            </a:r>
          </a:p>
          <a:p>
            <a:r>
              <a:t>at 0.20. I swept lambda afterwards. The chosen cell only holds for lambda between roughly 0.12 and</a:t>
            </a:r>
          </a:p>
          <a:p>
            <a:r>
              <a:t>0.21, and above 0.21 the knee stops being a knee - it collapses straight onto the economy point.</a:t>
            </a:r>
          </a:p>
          <a:p>
            <a:endParaRPr/>
          </a:p>
          <a:p>
            <a:r>
              <a:t>But the more interesting finding is that re-tuning lambda would not have helped. A weighted sum can</a:t>
            </a:r>
          </a:p>
          <a:p>
            <a:r>
              <a:t>only ever return a vertex of the upper convex hull of the cost-quality points. Any Pareto-optimal</a:t>
            </a:r>
          </a:p>
          <a:p>
            <a:r>
              <a:t>point sitting in a concave stretch loses to a blend of its neighbours for every lambda. On this</a:t>
            </a:r>
          </a:p>
          <a:p>
            <a:r>
              <a:t>curve seven cells are Pareto-optimal and only three are on the hull, so theta 0.4 through 0.7 are</a:t>
            </a:r>
          </a:p>
          <a:p>
            <a:r>
              <a:t>unreachable by any lambda whatsoever. That is the standard limitation of the method, stated in</a:t>
            </a:r>
          </a:p>
          <a:p>
            <a:r>
              <a:t>Boyd, which is the source I cite for it.</a:t>
            </a:r>
          </a:p>
          <a:p>
            <a:endParaRPr/>
          </a:p>
          <a:p>
            <a:r>
              <a:t>The practical consequence: the knee sits at ninety-two percent of the quality cost. It is not</a:t>
            </a:r>
          </a:p>
          <a:p>
            <a:r>
              <a:t>really a middle ground. Everything between 3.38 and 21.80 was unrepresented.</a:t>
            </a:r>
          </a:p>
          <a:p>
            <a:endParaRPr/>
          </a:p>
          <a:p>
            <a:r>
              <a:t>The fix is not a better lambda, it is a different selection rule. Epsilon-constraint - cheapest</a:t>
            </a:r>
          </a:p>
          <a:p>
            <a:r>
              <a:t>configuration clearing a quality floor - does not blend the objectives, so it reads the concave</a:t>
            </a:r>
          </a:p>
          <a:p>
            <a:r>
              <a:t>region directly. I was already using it for the economy point at a 0.50 floor; balanced is the</a:t>
            </a:r>
          </a:p>
          <a:p>
            <a:r>
              <a:t>same method at 0.60, and it selects theta 0.7: thirty-one percent cheaper than quality for about</a:t>
            </a:r>
          </a:p>
          <a:p>
            <a:r>
              <a:t>six strict-F1 points.</a:t>
            </a:r>
          </a:p>
          <a:p>
            <a:endParaRPr/>
          </a:p>
          <a:p>
            <a:r>
              <a:t>If asked whether this changes any result: no. The shipped configuration is the quality point, which</a:t>
            </a:r>
          </a:p>
          <a:p>
            <a:r>
              <a:t>depends on neither lambda nor a floor. No published number moves.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Divider. Everything after this point is written to main-slide standard and can be moved into the main line for a 30- or 45-minute slot. See PRESENTATION.md, 'Scaling the talk to the slot'.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The relation layer is the smallest part of the output and I want to present it honestly: 46 rule</a:t>
            </a:r>
          </a:p>
          <a:p>
            <a:r>
              <a:rPr dirty="0"/>
              <a:t>nodes participate in any edge at all, 25 edges, 22 connected components, the largest with three</a:t>
            </a:r>
          </a:p>
          <a:p>
            <a:r>
              <a:rPr dirty="0"/>
              <a:t>nodes. This is not a knowledge graph in the ambitious sense.</a:t>
            </a:r>
          </a:p>
          <a:p>
            <a:endParaRPr dirty="0"/>
          </a:p>
          <a:p>
            <a:r>
              <a:rPr dirty="0"/>
              <a:t>But look at the contradiction on the right, because it is the single best illustration of what the</a:t>
            </a:r>
          </a:p>
          <a:p>
            <a:r>
              <a:rPr dirty="0"/>
              <a:t>system is for. Both statements come from the SAME paper. One says SBEM expression does not</a:t>
            </a:r>
          </a:p>
          <a:p>
            <a:r>
              <a:rPr dirty="0"/>
              <a:t>correlate with </a:t>
            </a:r>
            <a:r>
              <a:rPr dirty="0" err="1"/>
              <a:t>tumour</a:t>
            </a:r>
            <a:r>
              <a:rPr dirty="0"/>
              <a:t> grade. The other says increased SBEM levels are strongly associated with</a:t>
            </a:r>
          </a:p>
          <a:p>
            <a:r>
              <a:rPr dirty="0"/>
              <a:t>higher grade, with a p-value of 0.0015. The NLI model scores the contradiction above 0.99 in both</a:t>
            </a:r>
          </a:p>
          <a:p>
            <a:r>
              <a:rPr dirty="0"/>
              <a:t>directions, so this is not a threshold artefact.</a:t>
            </a:r>
          </a:p>
          <a:p>
            <a:endParaRPr dirty="0"/>
          </a:p>
          <a:p>
            <a:r>
              <a:rPr dirty="0"/>
              <a:t>That is a genuine internal inconsistency in a published paper - possibly a different cohort, a</a:t>
            </a:r>
          </a:p>
          <a:p>
            <a:r>
              <a:rPr dirty="0"/>
              <a:t>different assay, or an error - and it surfaced automatically, with both source sentences attached</a:t>
            </a:r>
          </a:p>
          <a:p>
            <a:r>
              <a:rPr dirty="0"/>
              <a:t>and traceable to their paragraphs. The system does not adjudicate; it hands a pathologist two</a:t>
            </a:r>
          </a:p>
          <a:p>
            <a:r>
              <a:rPr dirty="0"/>
              <a:t>sentences and says "these disagree, look".</a:t>
            </a:r>
          </a:p>
          <a:p>
            <a:endParaRPr dirty="0"/>
          </a:p>
          <a:p>
            <a:r>
              <a:rPr dirty="0"/>
              <a:t>The honest limit is at the bottom. 25 edges from 1,747 rules is sparse, and that is the</a:t>
            </a:r>
          </a:p>
          <a:p>
            <a:r>
              <a:rPr dirty="0"/>
              <a:t>comparability gate doing its job - both claims must be polarity-bearing and share subject,</a:t>
            </a:r>
          </a:p>
          <a:p>
            <a:r>
              <a:rPr dirty="0"/>
              <a:t>outcome, category and relation type. On the randomly sampled held-out set it produces four edges</a:t>
            </a:r>
          </a:p>
          <a:p>
            <a:r>
              <a:rPr dirty="0"/>
              <a:t>and no cross-paper links at all. So I would not oversell this as a corpus-scale graph.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If you want the one-sentence positioning: nothing in this pipeline is a new algorithm, and that is</a:t>
            </a:r>
          </a:p>
          <a:p>
            <a:r>
              <a:t>deliberate.</a:t>
            </a:r>
          </a:p>
          <a:p>
            <a:endParaRPr/>
          </a:p>
          <a:p>
            <a:r>
              <a:t>Layout-aware parsing is mature. Entity normalization against UMLS is mature. Biomedical entailment</a:t>
            </a:r>
          </a:p>
          <a:p>
            <a:r>
              <a:t>is mature. Cost-aware cascading has an established literature, and I integrate a published</a:t>
            </a:r>
          </a:p>
          <a:p>
            <a:r>
              <a:t>framework rather than proposing one. Each of these has its own benchmark and its own definition of</a:t>
            </a:r>
          </a:p>
          <a:p>
            <a:r>
              <a:t>success, and each is evaluated in isolation.</a:t>
            </a:r>
          </a:p>
          <a:p>
            <a:endParaRPr/>
          </a:p>
          <a:p>
            <a:r>
              <a:t>What is rare - and what the thesis actually contributes - is the combination: all of them in a</a:t>
            </a:r>
          </a:p>
          <a:p>
            <a:r>
              <a:t>single system where every output is traceable, evaluated under cost AND quality at the same time.</a:t>
            </a:r>
          </a:p>
          <a:p>
            <a:endParaRPr/>
          </a:p>
          <a:p>
            <a:r>
              <a:t>Two rejections worth stating because they were real forks. First, OCR-free end-to-end document</a:t>
            </a:r>
          </a:p>
          <a:p>
            <a:r>
              <a:t>models - Donut, mPLUG-DocOwl2 - can read a page image directly and skip the layout stage entirely.</a:t>
            </a:r>
          </a:p>
          <a:p>
            <a:r>
              <a:t>I did not use them because they do not return token-level bounding boxes, and without coordinates</a:t>
            </a:r>
          </a:p>
          <a:p>
            <a:r>
              <a:t>provenance stops being structural and becomes a claim. That would have undercut the central design</a:t>
            </a:r>
          </a:p>
          <a:p>
            <a:r>
              <a:t>commitment.</a:t>
            </a:r>
          </a:p>
          <a:p>
            <a:endParaRPr/>
          </a:p>
          <a:p>
            <a:r>
              <a:t>Second, I rejected chain-of-thought self-checking and LLM self-repair loops. Both ask a model to</a:t>
            </a:r>
          </a:p>
          <a:p>
            <a:r>
              <a:t>audit itself. I preferred cross-provider agreement plus entailment against the actual source text,</a:t>
            </a:r>
          </a:p>
          <a:p>
            <a:r>
              <a:t>because both of those are external checks.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Three more cases, all from the rubric set, all verified against my own annotations.</a:t>
            </a:r>
          </a:p>
          <a:p>
            <a:endParaRPr dirty="0"/>
          </a:p>
          <a:p>
            <a:r>
              <a:rPr dirty="0"/>
              <a:t>On the left, a table the </a:t>
            </a:r>
            <a:r>
              <a:rPr dirty="0" err="1"/>
              <a:t>Docling</a:t>
            </a:r>
            <a:r>
              <a:rPr dirty="0"/>
              <a:t>-only configuration never emitted at all. TATR proposes it, the</a:t>
            </a:r>
          </a:p>
          <a:p>
            <a:r>
              <a:rPr dirty="0"/>
              <a:t>union keeps it, and the rubric rates the resulting crop correct. This is the same mechanism as the</a:t>
            </a:r>
          </a:p>
          <a:p>
            <a:r>
              <a:rPr dirty="0"/>
              <a:t>split table on slide six, on a simpler case - an ordinary single-page table that one detector</a:t>
            </a:r>
          </a:p>
          <a:p>
            <a:r>
              <a:rPr dirty="0"/>
              <a:t>happened to miss.</a:t>
            </a:r>
          </a:p>
          <a:p>
            <a:endParaRPr dirty="0"/>
          </a:p>
          <a:p>
            <a:r>
              <a:rPr dirty="0"/>
              <a:t>The middle and right panels are caption failures. Blue marks the region the pipeline emitted;</a:t>
            </a:r>
          </a:p>
          <a:p>
            <a:r>
              <a:rPr dirty="0"/>
              <a:t>orange dashed marks the caption it attached. You can see the spatial relationship the matcher has</a:t>
            </a:r>
          </a:p>
          <a:p>
            <a:r>
              <a:rPr dirty="0"/>
              <a:t>to solve - caption above the table in one case, below the figure in the other. The crop itself is</a:t>
            </a:r>
          </a:p>
          <a:p>
            <a:r>
              <a:rPr dirty="0"/>
              <a:t>byte-identical to the baseline's; only the attached string changes.</a:t>
            </a:r>
          </a:p>
          <a:p>
            <a:endParaRPr dirty="0"/>
          </a:p>
          <a:p>
            <a:r>
              <a:rPr dirty="0"/>
              <a:t>I show a table case and a figure case together because the matcher is the same code and both</a:t>
            </a:r>
          </a:p>
          <a:p>
            <a:r>
              <a:rPr dirty="0"/>
              <a:t>failure modes are common. Eleven figures on the rubric set had no caption at all; five more had</a:t>
            </a:r>
          </a:p>
          <a:p>
            <a:r>
              <a:rPr dirty="0"/>
              <a:t>the caption to the side; and one table had none.</a:t>
            </a:r>
          </a:p>
          <a:p>
            <a:endParaRPr dirty="0"/>
          </a:p>
          <a:p>
            <a:r>
              <a:rPr dirty="0"/>
              <a:t>The line at the bottom is the point I would make if pressed on why captions deserve a slide. A</a:t>
            </a:r>
          </a:p>
          <a:p>
            <a:r>
              <a:rPr dirty="0"/>
              <a:t>caption is the only human-readable description of what a table or figure contains. If a rule cites</a:t>
            </a:r>
          </a:p>
          <a:p>
            <a:r>
              <a:rPr dirty="0"/>
              <a:t>Table 2 and Table 2 has no caption, the auditor has to reconstruct from the crop what the table</a:t>
            </a:r>
          </a:p>
          <a:p>
            <a:r>
              <a:rPr dirty="0"/>
              <a:t>was even measuring. Provenance without a caption is a coordinate, not an explanation.</a:t>
            </a:r>
          </a:p>
          <a:p>
            <a:endParaRPr dirty="0"/>
          </a:p>
          <a:p>
            <a:r>
              <a:rPr dirty="0"/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whole scoring method in one slide, and it is worth walking because every accept,</a:t>
            </a:r>
          </a:p>
          <a:p>
            <a:r>
              <a:t>escalate and reject decision in the cascade comes out of it.</a:t>
            </a:r>
          </a:p>
          <a:p/>
          <a:p>
            <a:r>
              <a:t>Start with what goes in. Not raw model text - the voter outputs that already survived the schema</a:t>
            </a:r>
          </a:p>
          <a:p>
            <a:r>
              <a:t>and provenance gates, each one a set of typed findings. So "do these voters agree?" is a question</a:t>
            </a:r>
          </a:p>
          <a:p>
            <a:r>
              <a:t>about structured records, not string overlap.</a:t>
            </a:r>
          </a:p>
          <a:p/>
          <a:p>
            <a:r>
              <a:t>Two degenerate cases are handled before any matrix exists. Zero eligible voters is a reject. Exactly</a:t>
            </a:r>
          </a:p>
          <a:p>
            <a:r>
              <a:t>one voter is scored 1.0 - by construction, because a single output trivially agrees with itself.</a:t>
            </a:r>
          </a:p>
          <a:p>
            <a:r>
              <a:t>That number is an artifact, not evidence, and it is exactly why the shipped configuration sets</a:t>
            </a:r>
          </a:p>
          <a:p>
            <a:r>
              <a:t>legacy_single_voter_policy to escalate: a lone survivor has no agreement signal, so it goes up the</a:t>
            </a:r>
          </a:p>
          <a:p>
            <a:r>
              <a:t>cascade rather than being accepted on a synthetic score.</a:t>
            </a:r>
          </a:p>
          <a:p/>
          <a:p>
            <a:r>
              <a:t>Voters that returned nothing are then dropped, because leaving them in would drag every real</a:t>
            </a:r>
          </a:p>
          <a:p>
            <a:r>
              <a:t>voter's average down and manufacture disagreement. If fewer than two survive, the chunk escalates.</a:t>
            </a:r>
          </a:p>
          <a:p/>
          <a:p>
            <a:r>
              <a:t>Only then is the matrix built, pairwise over the survivors, using the hybrid scorer whose weights</a:t>
            </a:r>
          </a:p>
          <a:p>
            <a:r>
              <a:t>are on the slide - entity overlap dominant at 0.50, claim embedding 0.30, category 0.15, cited</a:t>
            </a:r>
          </a:p>
          <a:p>
            <a:r>
              <a:t>evidence 0.05. Each voter takes its mean similarity to the others; the chunk's score is the maximum</a:t>
            </a:r>
          </a:p>
          <a:p>
            <a:r>
              <a:t>of those means, and the winner is the voter that achieved it. Ties break on grounding quality.</a:t>
            </a:r>
          </a:p>
          <a:p/>
          <a:p>
            <a:r>
              <a:t>Two things I would emphasise. First, maximum rather than mean: one tightly agreeing pair carries the</a:t>
            </a:r>
          </a:p>
          <a:p>
            <a:r>
              <a:t>chunk even if a third voter dissents completely. That is deliberate - it is a consensus detector,</a:t>
            </a:r>
          </a:p>
          <a:p>
            <a:r>
              <a:t>not a unanimity detector. Second, this method returns a score, not a verdict. Theta at 0.9 and</a:t>
            </a:r>
          </a:p>
          <a:p>
            <a:r>
              <a:t>theta-reject at 0.2 are applied one layer up, which is what let me sweep those thresholds offline</a:t>
            </a:r>
          </a:p>
          <a:p>
            <a:r>
              <a:t>without re-running a single voter.</a:t>
            </a:r>
          </a:p>
          <a:p/>
          <a:p>
            <a:r>
              <a:t>And the caveat from the agreement-scorer slide stands: this measures agreement, not correctness. Voters can agree and all</a:t>
            </a:r>
          </a:p>
          <a:p>
            <a:r>
              <a:t>be wrong. Nothing here detects that, which is why grounding runs against the source text afterwards.</a:t>
            </a:r>
          </a:p>
          <a:p/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w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3.xml"/><Relationship Id="rId4" Type="http://schemas.openxmlformats.org/officeDocument/2006/relationships/image" Target="../media/image3.jpeg"/><Relationship Id="rId5" Type="http://schemas.openxmlformats.org/officeDocument/2006/relationships/image" Target="../media/image4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4.xml"/><Relationship Id="rId4" Type="http://schemas.openxmlformats.org/officeDocument/2006/relationships/image" Target="../media/image1.w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theme" Target="../theme/theme5.xml"/><Relationship Id="rId20" Type="http://schemas.openxmlformats.org/officeDocument/2006/relationships/image" Target="../media/image1.wm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6.xml"/><Relationship Id="rId3" Type="http://schemas.openxmlformats.org/officeDocument/2006/relationships/image" Target="../media/image4.emf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7.xml"/><Relationship Id="rId3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Connected Mobility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Department of Informatics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90" y="1934817"/>
            <a:ext cx="6381749" cy="2236683"/>
          </a:xfrm>
        </p:spPr>
        <p:txBody>
          <a:bodyPr/>
          <a:lstStyle/>
          <a:p>
            <a:r>
              <a:rPr lang="de-DE" sz="1600" dirty="0">
                <a:solidFill>
                  <a:schemeClr val="tx1"/>
                </a:solidFill>
              </a:rPr>
              <a:t>Master‘s Thesis in </a:t>
            </a:r>
            <a:r>
              <a:rPr lang="de-DE" sz="1600" dirty="0" err="1">
                <a:solidFill>
                  <a:schemeClr val="tx1"/>
                </a:solidFill>
              </a:rPr>
              <a:t>Informatics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Emirhan Nadir Karaman</a:t>
            </a:r>
          </a:p>
          <a:p>
            <a:endParaRPr lang="de-DE" sz="600" dirty="0">
              <a:solidFill>
                <a:schemeClr val="tx1"/>
              </a:solidFill>
            </a:endParaRPr>
          </a:p>
          <a:p>
            <a:r>
              <a:rPr lang="de-DE" dirty="0">
                <a:solidFill>
                  <a:schemeClr val="tx1"/>
                </a:solidFill>
              </a:rPr>
              <a:t>Technische Universität München</a:t>
            </a:r>
          </a:p>
          <a:p>
            <a:r>
              <a:rPr lang="de-DE" dirty="0">
                <a:solidFill>
                  <a:schemeClr val="tx1"/>
                </a:solidFill>
              </a:rPr>
              <a:t>School of </a:t>
            </a:r>
            <a:r>
              <a:rPr lang="de-DE" dirty="0" err="1">
                <a:solidFill>
                  <a:schemeClr val="tx1"/>
                </a:solidFill>
              </a:rPr>
              <a:t>Computation</a:t>
            </a:r>
            <a:r>
              <a:rPr lang="de-DE" dirty="0">
                <a:solidFill>
                  <a:schemeClr val="tx1"/>
                </a:solidFill>
              </a:rPr>
              <a:t>, Information and Technology</a:t>
            </a:r>
          </a:p>
          <a:p>
            <a:r>
              <a:rPr lang="de-DE" dirty="0">
                <a:solidFill>
                  <a:schemeClr val="tx1"/>
                </a:solidFill>
              </a:rPr>
              <a:t>Chair of </a:t>
            </a:r>
            <a:r>
              <a:rPr lang="de-DE" dirty="0" err="1">
                <a:solidFill>
                  <a:schemeClr val="tx1"/>
                </a:solidFill>
              </a:rPr>
              <a:t>Connected</a:t>
            </a:r>
            <a:r>
              <a:rPr lang="de-DE" dirty="0">
                <a:solidFill>
                  <a:schemeClr val="tx1"/>
                </a:solidFill>
              </a:rPr>
              <a:t> Mobility</a:t>
            </a:r>
          </a:p>
          <a:p>
            <a:r>
              <a:rPr lang="de-DE" dirty="0">
                <a:solidFill>
                  <a:schemeClr val="tx1"/>
                </a:solidFill>
              </a:rPr>
              <a:t>Supervisor: Frederic Mrozinski, </a:t>
            </a:r>
            <a:r>
              <a:rPr lang="de-DE" dirty="0" err="1">
                <a:solidFill>
                  <a:schemeClr val="tx1"/>
                </a:solidFill>
              </a:rPr>
              <a:t>M.Sc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r>
              <a:rPr lang="de-DE" dirty="0">
                <a:solidFill>
                  <a:schemeClr val="tx1"/>
                </a:solidFill>
              </a:rPr>
              <a:t>Examiner: </a:t>
            </a:r>
            <a:r>
              <a:rPr lang="de-DE" dirty="0" err="1">
                <a:solidFill>
                  <a:schemeClr val="tx1"/>
                </a:solidFill>
              </a:rPr>
              <a:t>apl</a:t>
            </a:r>
            <a:r>
              <a:rPr lang="de-DE" dirty="0">
                <a:solidFill>
                  <a:schemeClr val="tx1"/>
                </a:solidFill>
              </a:rPr>
              <a:t>. Prof. Dr. Georg Groh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Munich, 11. August 2026</a:t>
            </a:r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326" y="2288521"/>
            <a:ext cx="2919367" cy="254806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90A71CA-71E6-3728-DD59-CDF789B3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300" dirty="0">
                <a:solidFill>
                  <a:srgbClr val="000000"/>
                </a:solidFill>
              </a:rPr>
              <a:t>A Pipeline for </a:t>
            </a:r>
            <a:r>
              <a:rPr sz="2300" dirty="0" err="1">
                <a:solidFill>
                  <a:srgbClr val="000000"/>
                </a:solidFill>
              </a:rPr>
              <a:t>Extracting</a:t>
            </a:r>
            <a:r>
              <a:rPr sz="2300" dirty="0">
                <a:solidFill>
                  <a:srgbClr val="000000"/>
                </a:solidFill>
              </a:rPr>
              <a:t> Simple Rules </a:t>
            </a:r>
            <a:r>
              <a:rPr sz="2300" dirty="0" err="1">
                <a:solidFill>
                  <a:srgbClr val="000000"/>
                </a:solidFill>
              </a:rPr>
              <a:t>from</a:t>
            </a:r>
            <a:r>
              <a:rPr sz="2300" dirty="0">
                <a:solidFill>
                  <a:srgbClr val="000000"/>
                </a:solidFill>
              </a:rPr>
              <a:t> Medical </a:t>
            </a:r>
            <a:r>
              <a:rPr sz="2300" dirty="0" err="1">
                <a:solidFill>
                  <a:srgbClr val="000000"/>
                </a:solidFill>
              </a:rPr>
              <a:t>Literature</a:t>
            </a:r>
            <a:endParaRPr sz="2300" dirty="0">
              <a:solidFill>
                <a:srgbClr val="000000"/>
              </a:solidFill>
            </a:endParaRPr>
          </a:p>
          <a:p>
            <a:r>
              <a:rPr sz="2300" dirty="0">
                <a:solidFill>
                  <a:srgbClr val="000000"/>
                </a:solidFill>
              </a:rPr>
              <a:t>for </a:t>
            </a:r>
            <a:r>
              <a:rPr sz="2300" dirty="0" err="1">
                <a:solidFill>
                  <a:srgbClr val="000000"/>
                </a:solidFill>
              </a:rPr>
              <a:t>Automatic</a:t>
            </a:r>
            <a:r>
              <a:rPr sz="2300" dirty="0">
                <a:solidFill>
                  <a:srgbClr val="000000"/>
                </a:solidFill>
              </a:rPr>
              <a:t> Disease </a:t>
            </a:r>
            <a:r>
              <a:rPr sz="2300" dirty="0" err="1">
                <a:solidFill>
                  <a:srgbClr val="000000"/>
                </a:solidFill>
              </a:rPr>
              <a:t>Detection</a:t>
            </a:r>
            <a:r>
              <a:rPr sz="2300" dirty="0">
                <a:solidFill>
                  <a:srgbClr val="000000"/>
                </a:solidFill>
              </a:rPr>
              <a:t> in </a:t>
            </a:r>
            <a:r>
              <a:rPr sz="2300" dirty="0" err="1">
                <a:solidFill>
                  <a:srgbClr val="000000"/>
                </a:solidFill>
              </a:rPr>
              <a:t>Histopathology</a:t>
            </a:r>
            <a:endParaRPr sz="2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Diagnostic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knowledge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trapped</a:t>
            </a:r>
            <a:r>
              <a:rPr sz="2200" b="0" dirty="0">
                <a:solidFill>
                  <a:srgbClr val="000000"/>
                </a:solidFill>
              </a:rPr>
              <a:t> in </a:t>
            </a:r>
            <a:r>
              <a:rPr sz="2200" b="0" dirty="0" err="1">
                <a:solidFill>
                  <a:srgbClr val="000000"/>
                </a:solidFill>
              </a:rPr>
              <a:t>prose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an </a:t>
            </a:r>
            <a:r>
              <a:rPr sz="2200" b="0" dirty="0" err="1">
                <a:solidFill>
                  <a:srgbClr val="000000"/>
                </a:solidFill>
              </a:rPr>
              <a:t>LLM's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word</a:t>
            </a:r>
            <a:r>
              <a:rPr sz="2200" b="0" dirty="0">
                <a:solidFill>
                  <a:srgbClr val="000000"/>
                </a:solidFill>
              </a:rPr>
              <a:t> for it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not </a:t>
            </a:r>
            <a:r>
              <a:rPr sz="2200" b="0" dirty="0" err="1">
                <a:solidFill>
                  <a:srgbClr val="000000"/>
                </a:solidFill>
              </a:rPr>
              <a:t>enough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Motivation and research gap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35758"/>
            <a:ext cx="8513064" cy="156042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Facts live in text: biomarker expression, morphology, prognostic direction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LLMs can read at scale</a:t>
            </a:r>
            <a:r>
              <a:rPr lang="en-US" sz="1600" b="0" dirty="0">
                <a:solidFill>
                  <a:srgbClr val="000000"/>
                </a:solidFill>
              </a:rPr>
              <a:t>;</a:t>
            </a:r>
            <a:r>
              <a:rPr sz="1600" b="0" dirty="0">
                <a:solidFill>
                  <a:srgbClr val="000000"/>
                </a:solidFill>
              </a:rPr>
              <a:t> but </a:t>
            </a:r>
            <a:r>
              <a:rPr lang="en-US" sz="1600" b="0" dirty="0">
                <a:solidFill>
                  <a:srgbClr val="000000"/>
                </a:solidFill>
              </a:rPr>
              <a:t>they </a:t>
            </a:r>
            <a:r>
              <a:rPr sz="1600" b="0" dirty="0">
                <a:solidFill>
                  <a:srgbClr val="000000"/>
                </a:solidFill>
              </a:rPr>
              <a:t>hallucinate, omit qualifiers, and paraphrase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A claim you cannot trace back to a </a:t>
            </a:r>
            <a:r>
              <a:rPr lang="en-US" sz="1600" b="0" dirty="0">
                <a:solidFill>
                  <a:srgbClr val="000000"/>
                </a:solidFill>
              </a:rPr>
              <a:t>source</a:t>
            </a:r>
            <a:r>
              <a:rPr sz="1600" b="0" dirty="0">
                <a:solidFill>
                  <a:srgbClr val="000000"/>
                </a:solidFill>
              </a:rPr>
              <a:t> is not usable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Components are mature in isolation; the audited end-to-end system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3703320"/>
            <a:ext cx="8513064" cy="32932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dirty="0">
                <a:solidFill>
                  <a:srgbClr val="005293"/>
                </a:solidFill>
              </a:rPr>
              <a:t>Auditability is a hard requirement</a:t>
            </a:r>
            <a:r>
              <a:rPr lang="en-US" sz="1900" b="1" dirty="0">
                <a:solidFill>
                  <a:srgbClr val="005293"/>
                </a:solidFill>
              </a:rPr>
              <a:t>,</a:t>
            </a:r>
            <a:r>
              <a:rPr sz="1900" b="1" dirty="0">
                <a:solidFill>
                  <a:srgbClr val="005293"/>
                </a:solidFill>
              </a:rPr>
              <a:t> not a feature added afterwards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Five </a:t>
            </a:r>
            <a:r>
              <a:rPr sz="2200" b="0" dirty="0" err="1">
                <a:solidFill>
                  <a:srgbClr val="000000"/>
                </a:solidFill>
              </a:rPr>
              <a:t>research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questions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each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answered</a:t>
            </a:r>
            <a:r>
              <a:rPr sz="2200" b="0" dirty="0">
                <a:solidFill>
                  <a:srgbClr val="000000"/>
                </a:solidFill>
              </a:rPr>
              <a:t> by a </a:t>
            </a:r>
            <a:r>
              <a:rPr sz="2200" b="0" dirty="0" err="1">
                <a:solidFill>
                  <a:srgbClr val="000000"/>
                </a:solidFill>
              </a:rPr>
              <a:t>measurement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30121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RQ1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Document extraction. </a:t>
            </a:r>
            <a:r>
              <a:rPr sz="1350" dirty="0">
                <a:solidFill>
                  <a:srgbClr val="000000"/>
                </a:solidFill>
              </a:rPr>
              <a:t>How faithfully are text, tables, figures and captions recovered</a:t>
            </a:r>
            <a:r>
              <a:rPr lang="en-US" sz="1350" dirty="0">
                <a:solidFill>
                  <a:srgbClr val="000000"/>
                </a:solidFill>
              </a:rPr>
              <a:t>, </a:t>
            </a:r>
            <a:r>
              <a:rPr sz="1350" dirty="0">
                <a:solidFill>
                  <a:srgbClr val="000000"/>
                </a:solidFill>
              </a:rPr>
              <a:t>and how much does the pipeline add over an off-the-shelf baseline?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RQ2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Knowledge extraction &amp; provenance. </a:t>
            </a:r>
            <a:r>
              <a:rPr sz="1350" dirty="0">
                <a:solidFill>
                  <a:srgbClr val="000000"/>
                </a:solidFill>
              </a:rPr>
              <a:t>What is the quality of the extracted findings and rules, and is provenance preserved end-to-end?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RQ3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Cost–quality trade-off. </a:t>
            </a:r>
            <a:r>
              <a:rPr sz="1350" dirty="0">
                <a:solidFill>
                  <a:srgbClr val="000000"/>
                </a:solidFill>
              </a:rPr>
              <a:t>Is the agreement-based cascade worth its cost against a single strong model?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RQ4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Grounding &amp; relation classification. </a:t>
            </a:r>
            <a:r>
              <a:rPr sz="1350" dirty="0">
                <a:solidFill>
                  <a:srgbClr val="000000"/>
                </a:solidFill>
              </a:rPr>
              <a:t>How does one shared biomedical NLI model perform in both roles?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RQ5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Held-out generalization. </a:t>
            </a:r>
            <a:r>
              <a:rPr sz="1350" dirty="0">
                <a:solidFill>
                  <a:srgbClr val="000000"/>
                </a:solidFill>
              </a:rPr>
              <a:t>Does a configuration calibrated on one set of papers transfer, or does it overfit?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2215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RQ2–RQ5 are measured against LLM-generated silver labels</a:t>
            </a:r>
            <a:r>
              <a:rPr lang="en-US" sz="1200" b="0" dirty="0">
                <a:solidFill>
                  <a:srgbClr val="E37222"/>
                </a:solidFill>
              </a:rPr>
              <a:t>: </a:t>
            </a:r>
            <a:r>
              <a:rPr sz="1200" b="0" dirty="0">
                <a:solidFill>
                  <a:srgbClr val="E37222"/>
                </a:solidFill>
              </a:rPr>
              <a:t>agreement with the label</a:t>
            </a:r>
            <a:r>
              <a:rPr lang="en-US" sz="1200" b="0" dirty="0">
                <a:solidFill>
                  <a:srgbClr val="E37222"/>
                </a:solidFill>
              </a:rPr>
              <a:t>er</a:t>
            </a:r>
            <a:r>
              <a:rPr sz="1200" b="0" dirty="0">
                <a:solidFill>
                  <a:srgbClr val="E37222"/>
                </a:solidFill>
              </a:rPr>
              <a:t>, not with ground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Two pipelines, joined by a database that carries provenance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End-to-end architecture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335024"/>
            <a:ext cx="851306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95959"/>
                </a:solidFill>
              </a:rPr>
              <a:t>PMC Open Access PDFs  →  977 ingested papers  →  typed, traceable rule candidates</a:t>
            </a:r>
          </a:p>
        </p:txBody>
      </p:sp>
      <p:pic>
        <p:nvPicPr>
          <p:cNvPr id="14" name="Picture 13" descr="fig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96" y="1664208"/>
            <a:ext cx="7404007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4302184"/>
            <a:ext cx="8513064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Provenance chain:  final rule → canonical rule → normal finding → MAP finding → text element → document (page, span, coordinates)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Docling</a:t>
            </a:r>
            <a:r>
              <a:rPr sz="2200" b="0" dirty="0">
                <a:solidFill>
                  <a:srgbClr val="000000"/>
                </a:solidFill>
              </a:rPr>
              <a:t> plus </a:t>
            </a:r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targeted</a:t>
            </a:r>
            <a:r>
              <a:rPr sz="2200" b="0" dirty="0">
                <a:solidFill>
                  <a:srgbClr val="000000"/>
                </a:solidFill>
              </a:rPr>
              <a:t> fixes, </a:t>
            </a:r>
            <a:r>
              <a:rPr sz="2200" b="0" dirty="0" err="1">
                <a:solidFill>
                  <a:srgbClr val="000000"/>
                </a:solidFill>
              </a:rPr>
              <a:t>each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aimed</a:t>
            </a:r>
            <a:r>
              <a:rPr sz="2200" b="0" dirty="0">
                <a:solidFill>
                  <a:srgbClr val="000000"/>
                </a:solidFill>
              </a:rPr>
              <a:t> at a </a:t>
            </a:r>
            <a:r>
              <a:rPr sz="2200" b="0" dirty="0" err="1">
                <a:solidFill>
                  <a:srgbClr val="000000"/>
                </a:solidFill>
              </a:rPr>
              <a:t>named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failure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Docling</a:t>
            </a:r>
            <a:r>
              <a:rPr lang="en-US" sz="1350" dirty="0">
                <a:solidFill>
                  <a:srgbClr val="0065BD"/>
                </a:solidFill>
              </a:rPr>
              <a:t> backbone:</a:t>
            </a:r>
            <a:r>
              <a:rPr sz="1350" dirty="0">
                <a:solidFill>
                  <a:srgbClr val="0065BD"/>
                </a:solidFill>
              </a:rPr>
              <a:t> sole source of body text, section structure and figure regions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16444"/>
            <a:ext cx="8513064" cy="22606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Hybrid table detection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 err="1">
                <a:solidFill>
                  <a:srgbClr val="000000"/>
                </a:solidFill>
              </a:rPr>
              <a:t>Docling</a:t>
            </a:r>
            <a:r>
              <a:rPr sz="1600" b="1" dirty="0">
                <a:solidFill>
                  <a:srgbClr val="000000"/>
                </a:solidFill>
              </a:rPr>
              <a:t> + TATR, overlapping boxes merged by union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350" dirty="0">
                <a:solidFill>
                  <a:srgbClr val="595959"/>
                </a:solidFill>
              </a:rPr>
              <a:t>targets tables </a:t>
            </a:r>
            <a:r>
              <a:rPr lang="en-US" sz="1350" dirty="0" err="1">
                <a:solidFill>
                  <a:srgbClr val="595959"/>
                </a:solidFill>
              </a:rPr>
              <a:t>Docling</a:t>
            </a:r>
            <a:r>
              <a:rPr lang="en-US" sz="1350" dirty="0">
                <a:solidFill>
                  <a:srgbClr val="595959"/>
                </a:solidFill>
              </a:rPr>
              <a:t> never proposes, e.g. split across a page boundary</a:t>
            </a:r>
            <a:endParaRPr lang="en-US" sz="135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Footnote expansion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table crop extended downward ×1.2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footnotes cut off below a tight crop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Figure post-processing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icon filter (&lt;50 pt) and a geometric caption matcher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logos emitted as figures, and captions attached to the wrong figure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Two-pass ghost-text removal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invisible text redacted, layout re-extracted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279392"/>
            <a:ext cx="8513064" cy="22929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8C8C8C"/>
                </a:solidFill>
              </a:rPr>
              <a:t>Input is the PDF only</a:t>
            </a:r>
            <a:r>
              <a:rPr lang="en-US" sz="1250" b="0" dirty="0">
                <a:solidFill>
                  <a:srgbClr val="8C8C8C"/>
                </a:solidFill>
              </a:rPr>
              <a:t>: </a:t>
            </a:r>
            <a:r>
              <a:rPr sz="1250" b="0" dirty="0">
                <a:solidFill>
                  <a:srgbClr val="8C8C8C"/>
                </a:solidFill>
              </a:rPr>
              <a:t>never JATS-XML, by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Illustrative </a:t>
            </a:r>
            <a:r>
              <a:rPr sz="2200" b="0" dirty="0" err="1">
                <a:solidFill>
                  <a:srgbClr val="000000"/>
                </a:solidFill>
              </a:rPr>
              <a:t>extraction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example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from</a:t>
            </a:r>
            <a:r>
              <a:rPr sz="2200" b="0" dirty="0">
                <a:solidFill>
                  <a:srgbClr val="000000"/>
                </a:solidFill>
              </a:rPr>
              <a:t> the </a:t>
            </a:r>
            <a:r>
              <a:rPr sz="2200" b="0" dirty="0" err="1">
                <a:solidFill>
                  <a:srgbClr val="000000"/>
                </a:solidFill>
              </a:rPr>
              <a:t>evaluation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corpus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8" name="Picture 7" descr="fig_docl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06" y="987552"/>
            <a:ext cx="7996843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4462272"/>
            <a:ext cx="8513064" cy="21390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8C8C8C"/>
                </a:solidFill>
              </a:rPr>
              <a:t>Illustration only</a:t>
            </a:r>
            <a:r>
              <a:rPr lang="en-US" sz="1150" b="0" dirty="0">
                <a:solidFill>
                  <a:srgbClr val="8C8C8C"/>
                </a:solidFill>
              </a:rPr>
              <a:t>, </a:t>
            </a:r>
            <a:r>
              <a:rPr sz="1150" b="0" dirty="0">
                <a:solidFill>
                  <a:srgbClr val="8C8C8C"/>
                </a:solidFill>
              </a:rPr>
              <a:t>not additional evaluation evidence. The quantitative result is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F916-02CC-02EC-2AD5-07234FFF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5E07E-E5E3-DDCE-37DB-4B949DADF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things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detector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table</a:t>
            </a:r>
            <a:r>
              <a:rPr sz="2200" b="0" dirty="0">
                <a:solidFill>
                  <a:srgbClr val="000000"/>
                </a:solidFill>
              </a:rPr>
              <a:t>, and </a:t>
            </a:r>
            <a:r>
              <a:rPr sz="2200" b="0" dirty="0" err="1">
                <a:solidFill>
                  <a:srgbClr val="000000"/>
                </a:solidFill>
              </a:rPr>
              <a:t>none</a:t>
            </a:r>
            <a:r>
              <a:rPr sz="2200" b="0" dirty="0">
                <a:solidFill>
                  <a:srgbClr val="000000"/>
                </a:solidFill>
              </a:rPr>
              <a:t> of </a:t>
            </a:r>
            <a:r>
              <a:rPr sz="2200" b="0" dirty="0" err="1">
                <a:solidFill>
                  <a:srgbClr val="000000"/>
                </a:solidFill>
              </a:rPr>
              <a:t>them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3A25D-712F-871B-C744-A6CAE24AA3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Detector false positives suppressed by the pipeline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FD8071-4594-007D-4923-2221060471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4E082E9D-0C98-B06E-E36E-10FA20E6A68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4_false_positives_page.png">
            <a:extLst>
              <a:ext uri="{FF2B5EF4-FFF2-40B4-BE49-F238E27FC236}">
                <a16:creationId xmlns:a16="http://schemas.microsoft.com/office/drawing/2014/main" id="{26C706DC-A31C-6A75-95AB-BAADFC614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537" y="1375441"/>
            <a:ext cx="6652878" cy="28903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17079F-757B-0AA1-188F-E86427F88BBD}"/>
              </a:ext>
            </a:extLst>
          </p:cNvPr>
          <p:cNvSpPr txBox="1"/>
          <p:nvPr/>
        </p:nvSpPr>
        <p:spPr>
          <a:xfrm>
            <a:off x="310896" y="4265747"/>
            <a:ext cx="8513064" cy="49859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005293"/>
                </a:solidFill>
              </a:rPr>
              <a:t>Corpus-wide: 666 regions dropped by </a:t>
            </a:r>
            <a:r>
              <a:rPr sz="1300" b="1" dirty="0" err="1">
                <a:solidFill>
                  <a:srgbClr val="005293"/>
                </a:solidFill>
              </a:rPr>
              <a:t>drop_tables_in_top_pts</a:t>
            </a:r>
            <a:r>
              <a:rPr sz="1300" b="1" dirty="0">
                <a:solidFill>
                  <a:srgbClr val="005293"/>
                </a:solidFill>
              </a:rPr>
              <a:t>, 67 by </a:t>
            </a:r>
            <a:r>
              <a:rPr sz="1300" b="1" dirty="0" err="1">
                <a:solidFill>
                  <a:srgbClr val="005293"/>
                </a:solidFill>
              </a:rPr>
              <a:t>drop_tables_inside_figures</a:t>
            </a:r>
            <a:r>
              <a:rPr sz="1300" b="1" dirty="0">
                <a:solidFill>
                  <a:srgbClr val="005293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 table detector is a shape detector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ruled boxes with aligned text look like tables whatever they contain.</a:t>
            </a:r>
          </a:p>
        </p:txBody>
      </p:sp>
    </p:spTree>
    <p:extLst>
      <p:ext uri="{BB962C8B-B14F-4D97-AF65-F5344CB8AC3E}">
        <p14:creationId xmlns:p14="http://schemas.microsoft.com/office/powerpoint/2010/main" val="1230863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m_e14_false_posi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02533"/>
            <a:ext cx="8503920" cy="2460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" y="3740967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A journal masthead, an author byline, and a table nested inside a figure.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9F64536-3AD6-9714-5BCE-D8392242C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things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detector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table</a:t>
            </a:r>
            <a:r>
              <a:rPr sz="2200" b="0" dirty="0">
                <a:solidFill>
                  <a:srgbClr val="000000"/>
                </a:solidFill>
              </a:rPr>
              <a:t>, and </a:t>
            </a:r>
            <a:r>
              <a:rPr sz="2200" b="0" dirty="0" err="1">
                <a:solidFill>
                  <a:srgbClr val="000000"/>
                </a:solidFill>
              </a:rPr>
              <a:t>none</a:t>
            </a:r>
            <a:r>
              <a:rPr sz="2200" b="0" dirty="0">
                <a:solidFill>
                  <a:srgbClr val="000000"/>
                </a:solidFill>
              </a:rPr>
              <a:t> of </a:t>
            </a:r>
            <a:r>
              <a:rPr sz="2200" b="0" dirty="0" err="1">
                <a:solidFill>
                  <a:srgbClr val="000000"/>
                </a:solidFill>
              </a:rPr>
              <a:t>them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A0EEA04-CFF1-A70E-C3DE-1061CA69CEE5}"/>
              </a:ext>
            </a:extLst>
          </p:cNvPr>
          <p:cNvSpPr txBox="1">
            <a:spLocks/>
          </p:cNvSpPr>
          <p:nvPr/>
        </p:nvSpPr>
        <p:spPr>
          <a:xfrm>
            <a:off x="310896" y="996696"/>
            <a:ext cx="8138160" cy="274320"/>
          </a:xfrm>
          <a:prstGeom prst="rect">
            <a:avLst/>
          </a:prstGeom>
        </p:spPr>
        <p:txBody>
          <a:bodyPr wrap="square"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>
                <a:solidFill>
                  <a:srgbClr val="0065BD"/>
                </a:solidFill>
              </a:rPr>
              <a:t>Detector false positives suppressed by the pipeline</a:t>
            </a:r>
            <a:endParaRPr lang="en-US" sz="1350" dirty="0">
              <a:solidFill>
                <a:srgbClr val="0065BD"/>
              </a:solidFill>
            </a:endParaRPr>
          </a:p>
        </p:txBody>
      </p:sp>
      <p:sp>
        <p:nvSpPr>
          <p:cNvPr id="18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9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Two-pass </a:t>
            </a:r>
            <a:r>
              <a:rPr sz="2200" b="0" dirty="0" err="1">
                <a:solidFill>
                  <a:srgbClr val="000000"/>
                </a:solidFill>
              </a:rPr>
              <a:t>extraction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removes</a:t>
            </a:r>
            <a:r>
              <a:rPr sz="2200" b="0" dirty="0">
                <a:solidFill>
                  <a:srgbClr val="000000"/>
                </a:solidFill>
              </a:rPr>
              <a:t> an invisible “FOR PEER REVIEW” </a:t>
            </a:r>
            <a:r>
              <a:rPr sz="2200" b="0" dirty="0" err="1">
                <a:solidFill>
                  <a:srgbClr val="000000"/>
                </a:solidFill>
              </a:rPr>
              <a:t>header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PMC11755463 p2 · rule R1_blank_pixels · 45 of 67 nodes on this page rejected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ghost_text_header_p02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389" y="1371600"/>
            <a:ext cx="5566077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2999232"/>
            <a:ext cx="8513064" cy="133472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dirty="0">
                <a:solidFill>
                  <a:srgbClr val="000000"/>
                </a:solidFill>
              </a:rPr>
              <a:t>The purple boxes are text </a:t>
            </a:r>
            <a:r>
              <a:rPr sz="1400" b="1" dirty="0" err="1">
                <a:solidFill>
                  <a:srgbClr val="000000"/>
                </a:solidFill>
              </a:rPr>
              <a:t>Docling</a:t>
            </a:r>
            <a:r>
              <a:rPr sz="1400" b="1" dirty="0">
                <a:solidFill>
                  <a:srgbClr val="000000"/>
                </a:solidFill>
              </a:rPr>
              <a:t> extracted. None of it is visible in the rendered page.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000000"/>
                </a:solidFill>
              </a:rPr>
              <a:t>The publisher left the pre-publication header “Dermatopathology 2025, 12, x FOR PEER REVIEW” in an invisible layer, on top of the real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595959"/>
                </a:solidFill>
              </a:rPr>
              <a:t>Detection is pixel-based: render the element's bounding box, test whether anything was actually drawn. 7,595 of 9,836 rejections corpus-wide come from this rule.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sz="2200" b="0" dirty="0" err="1">
                <a:solidFill>
                  <a:srgbClr val="000000"/>
                </a:solidFill>
              </a:rPr>
              <a:t>Footnote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expansion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Same table, off-the-shelf crop vs the pipeline's</a:t>
            </a:r>
          </a:p>
        </p:txBody>
      </p:sp>
      <p:pic>
        <p:nvPicPr>
          <p:cNvPr id="6" name="Picture 5" descr="01_footno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1386608"/>
            <a:ext cx="5239928" cy="2911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Rubric label moves from 'missing footnotes' to 'correct'. The crop grows downward to absorb the footnote block.</a:t>
            </a:r>
          </a:p>
        </p:txBody>
      </p:sp>
      <p:sp>
        <p:nvSpPr>
          <p:cNvPr id="8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88E44-8075-4C74-1D4C-226EED6A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29FB3A-8406-640B-E29E-8B7ABB0CD7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E9E6FF4-CB64-144D-9CBB-25D2D1CB29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7_icons_p01.png">
            <a:extLst>
              <a:ext uri="{FF2B5EF4-FFF2-40B4-BE49-F238E27FC236}">
                <a16:creationId xmlns:a16="http://schemas.microsoft.com/office/drawing/2014/main" id="{D882FF81-876F-60DA-207F-7E8FEA6C4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642" y="1509205"/>
            <a:ext cx="2103120" cy="31546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FB33D4-941E-B93E-B372-FFE4D5CC8CFF}"/>
              </a:ext>
            </a:extLst>
          </p:cNvPr>
          <p:cNvSpPr txBox="1"/>
          <p:nvPr/>
        </p:nvSpPr>
        <p:spPr>
          <a:xfrm>
            <a:off x="4565660" y="1588668"/>
            <a:ext cx="3611880" cy="25581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 err="1">
                <a:solidFill>
                  <a:srgbClr val="005293"/>
                </a:solidFill>
              </a:rPr>
              <a:t>min_figure_pts</a:t>
            </a:r>
            <a:r>
              <a:rPr sz="1500" b="1" dirty="0">
                <a:solidFill>
                  <a:srgbClr val="005293"/>
                </a:solidFill>
              </a:rPr>
              <a:t> = 50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150" b="0" dirty="0">
                <a:solidFill>
                  <a:srgbClr val="595959"/>
                </a:solidFill>
              </a:rPr>
              <a:t>width AND height must both reach 50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What </a:t>
            </a:r>
            <a:r>
              <a:rPr sz="1250" b="0" dirty="0" err="1">
                <a:solidFill>
                  <a:srgbClr val="000000"/>
                </a:solidFill>
              </a:rPr>
              <a:t>Docling</a:t>
            </a:r>
            <a:r>
              <a:rPr sz="1250" b="0" dirty="0">
                <a:solidFill>
                  <a:srgbClr val="000000"/>
                </a:solidFill>
              </a:rPr>
              <a:t> emitted as scientific figures: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two ORCID marks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14×10 pt and 22×11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a “check for updates”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53×18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the CC-BY </a:t>
            </a:r>
            <a:r>
              <a:rPr sz="1200" b="0" dirty="0" err="1">
                <a:solidFill>
                  <a:srgbClr val="000000"/>
                </a:solidFill>
              </a:rPr>
              <a:t>licence</a:t>
            </a:r>
            <a:r>
              <a:rPr sz="1200" b="0" dirty="0">
                <a:solidFill>
                  <a:srgbClr val="000000"/>
                </a:solidFill>
              </a:rPr>
              <a:t>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59×22 pt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•  the journal masthead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178×36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Corpus-wide: 3,065 of 7,544 picture elements dropped (40.6%)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BEB165-B7C5-2ACF-118B-F1FECF0A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lang="en-US" sz="2200" dirty="0"/>
              <a:t>The icon filter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EB6953A-CFF2-8136-5AD7-05BCADB7F41B}"/>
              </a:ext>
            </a:extLst>
          </p:cNvPr>
          <p:cNvSpPr txBox="1">
            <a:spLocks/>
          </p:cNvSpPr>
          <p:nvPr/>
        </p:nvSpPr>
        <p:spPr>
          <a:xfrm>
            <a:off x="311161" y="996696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dirty="0">
                <a:solidFill>
                  <a:srgbClr val="0065BD"/>
                </a:solidFill>
              </a:rPr>
              <a:t>PMC10297671 p1 · every boxed region was rated 'icon' by the annotator</a:t>
            </a:r>
          </a:p>
        </p:txBody>
      </p:sp>
    </p:spTree>
    <p:extLst>
      <p:ext uri="{BB962C8B-B14F-4D97-AF65-F5344CB8AC3E}">
        <p14:creationId xmlns:p14="http://schemas.microsoft.com/office/powerpoint/2010/main" val="368469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7953-4070-4251-DDE5-B2EC2C60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3B995E-5BBD-B740-D538-2905528D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Same </a:t>
            </a:r>
            <a:r>
              <a:rPr sz="2200" b="0" dirty="0" err="1">
                <a:solidFill>
                  <a:srgbClr val="000000"/>
                </a:solidFill>
              </a:rPr>
              <a:t>pixels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correct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caption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>
                <a:solidFill>
                  <a:srgbClr val="000000"/>
                </a:solidFill>
              </a:rPr>
              <a:t>the </a:t>
            </a:r>
            <a:r>
              <a:rPr sz="2200" b="0" dirty="0" err="1">
                <a:solidFill>
                  <a:srgbClr val="000000"/>
                </a:solidFill>
              </a:rPr>
              <a:t>geometric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matcher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3C51E-543E-7BA5-A0DB-FB719B19AB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PMC12129649_NEUP-45-177 p4 · identical bounding box (</a:t>
            </a:r>
            <a:r>
              <a:rPr sz="1350" dirty="0" err="1">
                <a:solidFill>
                  <a:srgbClr val="0065BD"/>
                </a:solidFill>
              </a:rPr>
              <a:t>IoU</a:t>
            </a:r>
            <a:r>
              <a:rPr sz="1350" dirty="0">
                <a:solidFill>
                  <a:srgbClr val="0065BD"/>
                </a:solidFill>
              </a:rPr>
              <a:t> 1.0), caption string differs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857BD5-3AA3-157C-77C5-58BB3DC55C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D5EE149-A542-D1DF-D4C8-EB39A504FE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3_side_caption_page.png">
            <a:extLst>
              <a:ext uri="{FF2B5EF4-FFF2-40B4-BE49-F238E27FC236}">
                <a16:creationId xmlns:a16="http://schemas.microsoft.com/office/drawing/2014/main" id="{74BBCD6B-9568-ECF3-2153-A021952C5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89" y="1298448"/>
            <a:ext cx="7549567" cy="36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44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A </a:t>
            </a:r>
            <a:r>
              <a:rPr sz="2200" b="0" dirty="0" err="1">
                <a:solidFill>
                  <a:srgbClr val="000000"/>
                </a:solidFill>
              </a:rPr>
              <a:t>hidden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duplicate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paragraph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would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have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been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extracted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twice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PMC10296831 p4 · rule R3_dense_text · “170 chars in an 8.6 pt box</a:t>
            </a:r>
            <a:r>
              <a:rPr lang="en-US" sz="1350" dirty="0">
                <a:solidFill>
                  <a:srgbClr val="0065BD"/>
                </a:solidFill>
              </a:rPr>
              <a:t> = </a:t>
            </a:r>
            <a:r>
              <a:rPr sz="1350" dirty="0">
                <a:solidFill>
                  <a:srgbClr val="0065BD"/>
                </a:solidFill>
              </a:rPr>
              <a:t>19.8 chars/pt”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hidden_duplicate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3" y="1316736"/>
            <a:ext cx="818706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85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lang="de-DE" sz="2200" dirty="0">
                <a:solidFill>
                  <a:srgbClr val="000000"/>
                </a:solidFill>
              </a:rPr>
              <a:t>End </a:t>
            </a:r>
            <a:r>
              <a:rPr lang="de-DE" sz="2200" dirty="0" err="1">
                <a:solidFill>
                  <a:srgbClr val="000000"/>
                </a:solidFill>
              </a:rPr>
              <a:t>result</a:t>
            </a:r>
            <a:r>
              <a:rPr lang="de-DE" sz="2200" dirty="0">
                <a:solidFill>
                  <a:srgbClr val="000000"/>
                </a:solidFill>
              </a:rPr>
              <a:t> </a:t>
            </a:r>
            <a:r>
              <a:rPr lang="de-DE" sz="2200" dirty="0" err="1">
                <a:solidFill>
                  <a:srgbClr val="000000"/>
                </a:solidFill>
              </a:rPr>
              <a:t>before</a:t>
            </a:r>
            <a:r>
              <a:rPr lang="de-DE" sz="2200" dirty="0">
                <a:solidFill>
                  <a:srgbClr val="000000"/>
                </a:solidFill>
              </a:rPr>
              <a:t> the </a:t>
            </a:r>
            <a:r>
              <a:rPr lang="de-DE" sz="2200" dirty="0" err="1">
                <a:solidFill>
                  <a:srgbClr val="000000"/>
                </a:solidFill>
              </a:rPr>
              <a:t>text</a:t>
            </a:r>
            <a:r>
              <a:rPr lang="de-DE" sz="2200" dirty="0">
                <a:solidFill>
                  <a:srgbClr val="000000"/>
                </a:solidFill>
              </a:rPr>
              <a:t> </a:t>
            </a:r>
            <a:r>
              <a:rPr lang="de-DE" sz="2200" dirty="0" err="1">
                <a:solidFill>
                  <a:srgbClr val="000000"/>
                </a:solidFill>
              </a:rPr>
              <a:t>assembly</a:t>
            </a:r>
            <a:r>
              <a:rPr lang="de-DE" sz="2200" dirty="0">
                <a:solidFill>
                  <a:srgbClr val="000000"/>
                </a:solidFill>
              </a:rPr>
              <a:t> </a:t>
            </a:r>
            <a:r>
              <a:rPr lang="de-DE" sz="2200" dirty="0" err="1">
                <a:solidFill>
                  <a:srgbClr val="000000"/>
                </a:solidFill>
              </a:rPr>
              <a:t>stage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Left: the page as published. Right: what the pipeline redacts before reading it.</a:t>
            </a:r>
          </a:p>
        </p:txBody>
      </p:sp>
      <p:pic>
        <p:nvPicPr>
          <p:cNvPr id="6" name="Picture 5" descr="fm_g1_header_footer_sideba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75" y="1467198"/>
            <a:ext cx="6815505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" y="4576158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Running headers, footers and side matter are removed geometrically, before any text assembly.</a:t>
            </a:r>
          </a:p>
        </p:txBody>
      </p:sp>
      <p:sp>
        <p:nvSpPr>
          <p:cNvPr id="8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Text </a:t>
            </a:r>
            <a:r>
              <a:rPr sz="2200" b="0" dirty="0" err="1">
                <a:solidFill>
                  <a:srgbClr val="000000"/>
                </a:solidFill>
              </a:rPr>
              <a:t>assembly</a:t>
            </a:r>
            <a:r>
              <a:rPr sz="2200" b="0" dirty="0">
                <a:solidFill>
                  <a:srgbClr val="000000"/>
                </a:solidFill>
              </a:rPr>
              <a:t> also </a:t>
            </a:r>
            <a:r>
              <a:rPr sz="2200" b="0" dirty="0" err="1">
                <a:solidFill>
                  <a:srgbClr val="000000"/>
                </a:solidFill>
              </a:rPr>
              <a:t>strips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citations</a:t>
            </a:r>
            <a:r>
              <a:rPr sz="2200" b="0" dirty="0">
                <a:solidFill>
                  <a:srgbClr val="000000"/>
                </a:solidFill>
              </a:rPr>
              <a:t> and </a:t>
            </a:r>
            <a:r>
              <a:rPr sz="2200" b="0" dirty="0" err="1">
                <a:solidFill>
                  <a:srgbClr val="000000"/>
                </a:solidFill>
              </a:rPr>
              <a:t>layout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artifacts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out/text_raw (pre-assembly) vs out/text (assembled)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6_text_cleanup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74707"/>
            <a:ext cx="8513064" cy="288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78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Paragraph </a:t>
            </a:r>
            <a:r>
              <a:rPr sz="2200" b="0" dirty="0" err="1">
                <a:solidFill>
                  <a:srgbClr val="000000"/>
                </a:solidFill>
              </a:rPr>
              <a:t>stitching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purely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syntactic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which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cuts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both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ways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ContextAwareStitcher · out/text_raw vs out/text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pic>
        <p:nvPicPr>
          <p:cNvPr id="13" name="Picture 12" descr="12_text_merge_erro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04" y="1316736"/>
            <a:ext cx="7134446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4187952"/>
            <a:ext cx="8513064" cy="2215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200" b="0" dirty="0">
                <a:solidFill>
                  <a:srgbClr val="E37222"/>
                </a:solidFill>
              </a:rPr>
              <a:t>Merge </a:t>
            </a:r>
            <a:r>
              <a:rPr sz="1200" b="0" dirty="0">
                <a:solidFill>
                  <a:srgbClr val="E37222"/>
                </a:solidFill>
              </a:rPr>
              <a:t>errors leave no signal in the rubric, because the rubric only scores crops.</a:t>
            </a:r>
          </a:p>
        </p:txBody>
      </p:sp>
    </p:spTree>
    <p:extLst>
      <p:ext uri="{BB962C8B-B14F-4D97-AF65-F5344CB8AC3E}">
        <p14:creationId xmlns:p14="http://schemas.microsoft.com/office/powerpoint/2010/main" val="1088154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Seven </a:t>
            </a:r>
            <a:r>
              <a:rPr sz="2200" b="0" dirty="0" err="1">
                <a:solidFill>
                  <a:srgbClr val="000000"/>
                </a:solidFill>
              </a:rPr>
              <a:t>stages</a:t>
            </a:r>
            <a:r>
              <a:rPr lang="de-DE"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only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lang="de-DE" sz="2200" b="0" dirty="0">
                <a:solidFill>
                  <a:srgbClr val="000000"/>
                </a:solidFill>
              </a:rPr>
              <a:t>the MAP </a:t>
            </a:r>
            <a:r>
              <a:rPr lang="de-DE" sz="2200" b="0" dirty="0" err="1">
                <a:solidFill>
                  <a:srgbClr val="000000"/>
                </a:solidFill>
              </a:rPr>
              <a:t>stage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stochastic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412978"/>
            <a:ext cx="8513064" cy="25237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0000"/>
                </a:solidFill>
              </a:rPr>
              <a:t>Only MAP calls a language model. Every later stage merges, selects or scores</a:t>
            </a:r>
            <a:r>
              <a:rPr lang="en-US" sz="1400" b="1" dirty="0">
                <a:solidFill>
                  <a:srgbClr val="000000"/>
                </a:solidFill>
              </a:rPr>
              <a:t> deterministically</a:t>
            </a:r>
            <a:r>
              <a:rPr sz="1400" b="1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14" name="Picture 13" descr="fig_knowledg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03" y="1719072"/>
            <a:ext cx="7679392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3877056"/>
            <a:ext cx="8513064" cy="87049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595959"/>
                </a:solidFill>
              </a:rPr>
              <a:t>Typed MAP finding:  claim · subject/outcome entity · relation type · direction · category · scope · verbatim evidence · confidence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005293"/>
                </a:solidFill>
              </a:rPr>
              <a:t>The verbatim support is overwritten with the source text looked up from the database</a:t>
            </a:r>
            <a:r>
              <a:rPr lang="en-US" sz="1250" dirty="0">
                <a:solidFill>
                  <a:srgbClr val="005293"/>
                </a:solidFill>
              </a:rPr>
              <a:t>. A</a:t>
            </a:r>
            <a:r>
              <a:rPr sz="1250" b="0" dirty="0">
                <a:solidFill>
                  <a:srgbClr val="005293"/>
                </a:solidFill>
              </a:rPr>
              <a:t> quoted span cannot be hallucinated</a:t>
            </a:r>
            <a:r>
              <a:rPr lang="en-US" sz="1250" dirty="0">
                <a:solidFill>
                  <a:srgbClr val="005293"/>
                </a:solidFill>
              </a:rPr>
              <a:t>.</a:t>
            </a:r>
            <a:endParaRPr sz="1250" b="0" dirty="0">
              <a:solidFill>
                <a:srgbClr val="005293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ADE0B6-D637-B7D5-355F-C859C243BA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/>
          <a:lstStyle/>
          <a:p>
            <a:r>
              <a:rPr lang="en-US" sz="1350" dirty="0">
                <a:solidFill>
                  <a:srgbClr val="0065BD"/>
                </a:solidFill>
              </a:rPr>
              <a:t>MAP → GROUNDING → NORMALIZE → GROUP → CANONICALIZE → RELATE → RESOLVE</a:t>
            </a:r>
          </a:p>
          <a:p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lang="de-DE" sz="2200" b="0" dirty="0">
                <a:solidFill>
                  <a:srgbClr val="000000"/>
                </a:solidFill>
              </a:rPr>
              <a:t>Agreement-</a:t>
            </a:r>
            <a:r>
              <a:rPr lang="de-DE" sz="2200" dirty="0">
                <a:solidFill>
                  <a:srgbClr val="000000"/>
                </a:solidFill>
              </a:rPr>
              <a:t>Based Cascading: </a:t>
            </a:r>
            <a:r>
              <a:rPr lang="de-DE" sz="2200" dirty="0" err="1">
                <a:solidFill>
                  <a:srgbClr val="000000"/>
                </a:solidFill>
              </a:rPr>
              <a:t>c</a:t>
            </a:r>
            <a:r>
              <a:rPr sz="2200" b="0" dirty="0" err="1">
                <a:solidFill>
                  <a:srgbClr val="000000"/>
                </a:solidFill>
              </a:rPr>
              <a:t>heap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voters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decide</a:t>
            </a:r>
            <a:r>
              <a:rPr sz="2200" b="0" dirty="0">
                <a:solidFill>
                  <a:srgbClr val="000000"/>
                </a:solidFill>
              </a:rPr>
              <a:t>; the strong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on </a:t>
            </a:r>
            <a:r>
              <a:rPr sz="2200" b="0" dirty="0" err="1">
                <a:solidFill>
                  <a:srgbClr val="000000"/>
                </a:solidFill>
              </a:rPr>
              <a:t>disagreement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Agreement-based cascading at the MAP stage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integrated and calibrated after Kolawole et al. (2025)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abc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3038"/>
            <a:ext cx="5760720" cy="22946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1481328"/>
            <a:ext cx="2377440" cy="218111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L1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3 cheap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Flash-Lite · GPT-4o mini · GPT-4.1 nano</a:t>
            </a:r>
            <a:r>
              <a:rPr lang="tr-TR" sz="115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parallel, every chunk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L2 </a:t>
            </a:r>
            <a:r>
              <a:rPr lang="en-US" sz="1400" b="1" dirty="0">
                <a:solidFill>
                  <a:srgbClr val="005293"/>
                </a:solidFill>
              </a:rPr>
              <a:t>–</a:t>
            </a:r>
            <a:r>
              <a:rPr sz="1400" b="1" dirty="0">
                <a:solidFill>
                  <a:srgbClr val="005293"/>
                </a:solidFill>
              </a:rPr>
              <a:t> 2 mid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 · GPT-4.1 mini</a:t>
            </a:r>
            <a:r>
              <a:rPr lang="en-US" sz="1150" b="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only on L1 disagreement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L3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Claude Sonnet 4.6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595959"/>
                </a:solidFill>
              </a:rPr>
              <a:t>unconditional accept</a:t>
            </a:r>
            <a:r>
              <a:rPr lang="en-US" sz="1150" b="0" dirty="0">
                <a:solidFill>
                  <a:srgbClr val="595959"/>
                </a:solidFill>
              </a:rPr>
              <a:t>, </a:t>
            </a:r>
            <a:r>
              <a:rPr sz="1150" b="0" dirty="0">
                <a:solidFill>
                  <a:srgbClr val="595959"/>
                </a:solidFill>
              </a:rPr>
              <a:t>no scorer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4206240"/>
            <a:ext cx="8513064" cy="50372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5293"/>
                </a:solidFill>
              </a:rPr>
              <a:t>accept if  s ≥ </a:t>
            </a:r>
            <a:r>
              <a:rPr sz="1500" b="1" dirty="0" err="1">
                <a:solidFill>
                  <a:srgbClr val="005293"/>
                </a:solidFill>
              </a:rPr>
              <a:t>θ</a:t>
            </a:r>
            <a:r>
              <a:rPr sz="1500" b="1" dirty="0">
                <a:solidFill>
                  <a:srgbClr val="005293"/>
                </a:solidFill>
              </a:rPr>
              <a:t>      ·      reject if  s ≤ </a:t>
            </a:r>
            <a:r>
              <a:rPr sz="1500" b="1" dirty="0" err="1">
                <a:solidFill>
                  <a:srgbClr val="005293"/>
                </a:solidFill>
              </a:rPr>
              <a:t>θ_reject</a:t>
            </a:r>
            <a:r>
              <a:rPr sz="1500" b="1" dirty="0">
                <a:solidFill>
                  <a:srgbClr val="005293"/>
                </a:solidFill>
              </a:rPr>
              <a:t>      ·      otherwise escalate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95959"/>
                </a:solidFill>
              </a:rPr>
              <a:t>All voters at temperature 0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diversity comes from providers, not from sampling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How the </a:t>
            </a:r>
            <a:r>
              <a:rPr sz="2200" b="0" dirty="0" err="1">
                <a:solidFill>
                  <a:srgbClr val="000000"/>
                </a:solidFill>
              </a:rPr>
              <a:t>agreement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scorer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picks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winner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Max-consensus over an N×N similarity matrix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no ground truth involved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36932"/>
            <a:ext cx="8513064" cy="314547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returns a set of typed findings for the chunk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Align every pair of voters one-to-one, then score the alignment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the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voter's score = its mean similarity to the others; the chunk's agreement score = the maximum of those means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0" dirty="0">
                <a:solidFill>
                  <a:srgbClr val="000000"/>
                </a:solidFill>
              </a:rPr>
              <a:t>•  The winner is the most consensus-aligned voter. Ties break on grounding quality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fraction of findings with a non-empty evidence chain, then sources per finding.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dirty="0">
                <a:solidFill>
                  <a:srgbClr val="E37222"/>
                </a:solidFill>
              </a:rPr>
              <a:t>The score measures agreement, not correctness. Voters can </a:t>
            </a:r>
            <a:r>
              <a:rPr lang="en-US" sz="1350" b="1" dirty="0">
                <a:solidFill>
                  <a:srgbClr val="E37222"/>
                </a:solidFill>
              </a:rPr>
              <a:t>agree, and all be wrong, which is exactly why GROUNDING runs afterward.</a:t>
            </a:r>
            <a:endParaRPr sz="1350" b="1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sz="2200" b="0" dirty="0">
                <a:solidFill>
                  <a:srgbClr val="000000"/>
                </a:solidFill>
              </a:rPr>
              <a:t>Grounding: </a:t>
            </a:r>
            <a:r>
              <a:rPr sz="2200" b="0" dirty="0" err="1">
                <a:solidFill>
                  <a:srgbClr val="000000"/>
                </a:solidFill>
              </a:rPr>
              <a:t>every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claim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checked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against</a:t>
            </a:r>
            <a:r>
              <a:rPr sz="2200" b="0" dirty="0">
                <a:solidFill>
                  <a:srgbClr val="000000"/>
                </a:solidFill>
              </a:rPr>
              <a:t> the </a:t>
            </a:r>
            <a:r>
              <a:rPr sz="2200" b="0" dirty="0" err="1">
                <a:solidFill>
                  <a:srgbClr val="000000"/>
                </a:solidFill>
              </a:rPr>
              <a:t>sentence</a:t>
            </a:r>
            <a:r>
              <a:rPr sz="2200" b="0" dirty="0">
                <a:solidFill>
                  <a:srgbClr val="000000"/>
                </a:solidFill>
              </a:rPr>
              <a:t> it </a:t>
            </a:r>
            <a:r>
              <a:rPr sz="2200" b="0" dirty="0" err="1">
                <a:solidFill>
                  <a:srgbClr val="000000"/>
                </a:solidFill>
              </a:rPr>
              <a:t>cites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0896" y="1542961"/>
            <a:ext cx="8513064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MAP returns a claim plus the verbatim sentence it came from</a:t>
            </a:r>
          </a:p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An NLI model scores entailment on that pair; below 0.5 the finding is dropped</a:t>
            </a:r>
          </a:p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The model is </a:t>
            </a:r>
            <a:r>
              <a:rPr sz="1450" b="1" dirty="0" err="1">
                <a:solidFill>
                  <a:srgbClr val="000000"/>
                </a:solidFill>
              </a:rPr>
              <a:t>PubMedBERT</a:t>
            </a:r>
            <a:r>
              <a:rPr sz="1450" b="1" dirty="0">
                <a:solidFill>
                  <a:srgbClr val="000000"/>
                </a:solidFill>
              </a:rPr>
              <a:t>-MNLI-</a:t>
            </a:r>
            <a:r>
              <a:rPr sz="1450" b="1" dirty="0" err="1">
                <a:solidFill>
                  <a:srgbClr val="000000"/>
                </a:solidFill>
              </a:rPr>
              <a:t>MedNLI</a:t>
            </a:r>
            <a:r>
              <a:rPr sz="1450" b="0" dirty="0">
                <a:solidFill>
                  <a:srgbClr val="000000"/>
                </a:solidFill>
              </a:rPr>
              <a:t>, </a:t>
            </a:r>
            <a:r>
              <a:rPr lang="en-US" sz="1450" b="0" dirty="0">
                <a:solidFill>
                  <a:srgbClr val="000000"/>
                </a:solidFill>
              </a:rPr>
              <a:t>used as is</a:t>
            </a:r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450" b="0" dirty="0">
                <a:solidFill>
                  <a:srgbClr val="000000"/>
                </a:solidFill>
              </a:rPr>
              <a:t>the same model is reused later for relation classification</a:t>
            </a:r>
          </a:p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This is the check that catches a fluent, well-formed, unsupported claim</a:t>
            </a:r>
          </a:p>
        </p:txBody>
      </p:sp>
      <p:sp useBgFill="1">
        <p:nvSpPr>
          <p:cNvPr id="6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 useBgFill="1">
        <p:nvSpPr>
          <p:cNvPr id="7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758F427-A06B-694B-1269-B4DAC4F3B6C2}"/>
              </a:ext>
            </a:extLst>
          </p:cNvPr>
          <p:cNvSpPr txBox="1">
            <a:spLocks/>
          </p:cNvSpPr>
          <p:nvPr/>
        </p:nvSpPr>
        <p:spPr>
          <a:xfrm>
            <a:off x="310896" y="996696"/>
            <a:ext cx="8138160" cy="274320"/>
          </a:xfrm>
          <a:prstGeom prst="rect">
            <a:avLst/>
          </a:prstGeom>
        </p:spPr>
        <p:txBody>
          <a:bodyPr wrap="square"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dirty="0">
                <a:solidFill>
                  <a:srgbClr val="0065BD"/>
                </a:solidFill>
              </a:rPr>
              <a:t>One frozen NLI model, no fine-tuning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datasets</a:t>
            </a:r>
            <a:r>
              <a:rPr sz="2200" b="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human-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LLM-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61942"/>
              </p:ext>
            </p:extLst>
          </p:nvPr>
        </p:nvGraphicFramePr>
        <p:xfrm>
          <a:off x="310896" y="1060704"/>
          <a:ext cx="859232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Construction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Labels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Ingested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977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PMC OA keyword filter, single-PDF, ≤30 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Doc-extraction rubric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27 PDFs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manually selected, frozen, disjoint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human (1 annotator)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related15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454 cases · 2,223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exhaustive ILP over inter-paper relatedness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RQ2, RQ3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heldout15 evaluation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285 cases · 1,657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random sample, disjoint from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 claim pairs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300 pairs (100 per class)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generated label-first, independent of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synthetic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931920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dirty="0">
                <a:solidFill>
                  <a:srgbClr val="005293"/>
                </a:solidFill>
              </a:rPr>
              <a:t>Only RQ1 rests on human labels. RQ2–RQ5 measure agreement with Claude Opus 4.7.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RQ1: Footnote capture and figure post-processing roughly double strict-F1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27-PDF rubric set · human labels · strict-F1 requires every applicable dimension to be perfect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1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12474"/>
            <a:ext cx="4114800" cy="26260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89888"/>
            <a:ext cx="4160520" cy="30175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Tables 0.366 → 0.838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lever is footnote precision, 43.8% → 91.4%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Detector alone 0.400 → 0.420 · + footnote expansion 0.800 · + hybrid and geometry fixes 0.838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Figures 0.447 → 0.840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I</a:t>
            </a:r>
            <a:r>
              <a:rPr sz="1450" b="0" dirty="0">
                <a:solidFill>
                  <a:srgbClr val="000000"/>
                </a:solidFill>
              </a:rPr>
              <a:t>con filter (63 crops) and caption matching (16 fixes)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50" b="0" dirty="0">
                <a:solidFill>
                  <a:srgbClr val="000000"/>
                </a:solidFill>
              </a:rPr>
              <a:t>•  Decorative-icon false positives 73 → 14;  emitted crops 139 → 76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Cost of footnote expansion: table mask-F1 94.3% → 91.9%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lang="de-DE" sz="2200" b="0" dirty="0">
                <a:solidFill>
                  <a:srgbClr val="000000"/>
                </a:solidFill>
              </a:rPr>
              <a:t>The </a:t>
            </a:r>
            <a:r>
              <a:rPr lang="de-DE" sz="2200" b="0" dirty="0" err="1">
                <a:solidFill>
                  <a:srgbClr val="000000"/>
                </a:solidFill>
              </a:rPr>
              <a:t>effect</a:t>
            </a:r>
            <a:r>
              <a:rPr lang="de-DE" sz="2200" b="0" dirty="0">
                <a:solidFill>
                  <a:srgbClr val="000000"/>
                </a:solidFill>
              </a:rPr>
              <a:t> of </a:t>
            </a:r>
            <a:r>
              <a:rPr lang="de-DE" sz="2200" dirty="0" err="1">
                <a:solidFill>
                  <a:srgbClr val="000000"/>
                </a:solidFill>
              </a:rPr>
              <a:t>f</a:t>
            </a:r>
            <a:r>
              <a:rPr sz="2200" b="0" dirty="0" err="1">
                <a:solidFill>
                  <a:srgbClr val="000000"/>
                </a:solidFill>
              </a:rPr>
              <a:t>ootnote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expansion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lang="de-DE" sz="2200" b="0" dirty="0">
                <a:solidFill>
                  <a:srgbClr val="000000"/>
                </a:solidFill>
              </a:rPr>
              <a:t>on </a:t>
            </a:r>
            <a:r>
              <a:rPr lang="de-DE" sz="2200" b="0" dirty="0" err="1">
                <a:solidFill>
                  <a:srgbClr val="000000"/>
                </a:solidFill>
              </a:rPr>
              <a:t>table</a:t>
            </a:r>
            <a:r>
              <a:rPr lang="de-DE" sz="2200" b="0" dirty="0">
                <a:solidFill>
                  <a:srgbClr val="000000"/>
                </a:solidFill>
              </a:rPr>
              <a:t> strict-F1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PMC11649516_HIS-86-236 p5 · rubric label 'missing footnotes' → 'correct'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1_footnotes_p05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6" y="1400536"/>
            <a:ext cx="3137982" cy="34320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6943" y="1718593"/>
            <a:ext cx="2770632" cy="2834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005293"/>
                </a:solidFill>
              </a:rPr>
              <a:t>43.8% → 91.4%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50" b="0" dirty="0">
                <a:solidFill>
                  <a:srgbClr val="595959"/>
                </a:solidFill>
              </a:rPr>
              <a:t>footnote precision, 27-PDF rubric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Crop grows 1320 → 1468 </a:t>
            </a:r>
            <a:r>
              <a:rPr sz="1250" b="0" dirty="0" err="1">
                <a:solidFill>
                  <a:srgbClr val="000000"/>
                </a:solidFill>
              </a:rPr>
              <a:t>px</a:t>
            </a:r>
            <a:r>
              <a:rPr sz="1250" b="0" dirty="0">
                <a:solidFill>
                  <a:srgbClr val="000000"/>
                </a:solidFill>
              </a:rPr>
              <a:t> (+11%)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14 regions fixed on the rubric set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250" b="0" dirty="0">
                <a:solidFill>
                  <a:srgbClr val="000000"/>
                </a:solidFill>
              </a:rPr>
              <a:t>•  Alone it takes strict-F1 to 0.800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E37222"/>
                </a:solidFill>
              </a:rPr>
              <a:t>Cost: mask-F1 94.3% → 91.9%, because a larger crop sometimes covers text that should have stayed.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RQ2: 1,747 </a:t>
            </a:r>
            <a:r>
              <a:rPr sz="2200" b="0" dirty="0" err="1">
                <a:solidFill>
                  <a:srgbClr val="000000"/>
                </a:solidFill>
              </a:rPr>
              <a:t>rules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</a:t>
            </a:r>
            <a:r>
              <a:rPr sz="2200" b="0" dirty="0" err="1">
                <a:solidFill>
                  <a:srgbClr val="000000"/>
                </a:solidFill>
              </a:rPr>
              <a:t>every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traces</a:t>
            </a:r>
            <a:r>
              <a:rPr sz="2200" b="0" dirty="0">
                <a:solidFill>
                  <a:srgbClr val="000000"/>
                </a:solidFill>
              </a:rPr>
              <a:t> back to a source </a:t>
            </a:r>
            <a:r>
              <a:rPr sz="2200" b="0" dirty="0" err="1">
                <a:solidFill>
                  <a:srgbClr val="000000"/>
                </a:solidFill>
              </a:rPr>
              <a:t>paragraph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related15 · frozen five-voter cascade · θ = 0.9, θ_reject = 0.2, grounding 0.5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2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37467"/>
            <a:ext cx="4114800" cy="29542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437860"/>
            <a:ext cx="4160520" cy="9859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solidFill>
                  <a:srgbClr val="005293"/>
                </a:solidFill>
              </a:rPr>
              <a:t>100%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000000"/>
                </a:solidFill>
              </a:rPr>
              <a:t>of final rules resolve to ≥</a:t>
            </a:r>
            <a:r>
              <a:rPr lang="en-US" sz="1300" b="0" dirty="0">
                <a:solidFill>
                  <a:srgbClr val="000000"/>
                </a:solidFill>
              </a:rPr>
              <a:t> </a:t>
            </a:r>
            <a:r>
              <a:rPr sz="1300" b="0" dirty="0">
                <a:solidFill>
                  <a:srgbClr val="000000"/>
                </a:solidFill>
              </a:rPr>
              <a:t>1 source paragraph in their own paper  (1,747 / 1,747)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25412"/>
            <a:ext cx="4268525" cy="168353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Figures and tables carry page + bounding box: 100%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All tables carry a caption; figures with captions 86.3%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Measured corpus-wide: 977 documents · 35,896 text elements · 4,479 figures · 1,960 tables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Cross-reference linking resolves for 53.6% of figures and 58.9% of tables</a:t>
            </a:r>
            <a:r>
              <a:rPr lang="tr-TR" sz="1150" b="0" dirty="0">
                <a:solidFill>
                  <a:srgbClr val="595959"/>
                </a:solidFill>
              </a:rPr>
              <a:t>, but is </a:t>
            </a:r>
            <a:r>
              <a:rPr sz="1150" b="0" dirty="0">
                <a:solidFill>
                  <a:srgbClr val="595959"/>
                </a:solidFill>
              </a:rPr>
              <a:t>not used downstream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What one extracted rule actually looks like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89224"/>
              </p:ext>
            </p:extLst>
          </p:nvPr>
        </p:nvGraphicFramePr>
        <p:xfrm>
          <a:off x="310896" y="1060704"/>
          <a:ext cx="851306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subject_entity / outcome_entity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  →   Continuance of life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relation_type / direction / category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prognostic  /  negative  /  prognosis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predicate_text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→ independent predictor of survival in a Cox regression model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mean_grounding_score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0.9997      (NLI entailment against the cited paragraph)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final_score / score_mode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0.6198  /  relations_present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finding_count / support_count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2  /  1       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study_coverage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single_study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member_normal_ids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NF_PMC10100421_…_ff259926,  NF_PMC10100421_…_4a2e8baa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supporting_pmcids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PMC10100421_HIS-82-393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is_conflicted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E37222"/>
                          </a:solidFill>
                        </a:rPr>
                        <a:t>True  — the group holds more than one polarity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59936"/>
            <a:ext cx="8513064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05293"/>
                </a:solidFill>
              </a:rPr>
              <a:t>Every ID is a live back-pointer: final rule → canonical rule → normal findings → MAP findings → text elements → page and coordinates.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RQ3a: Top cascade quality requires near-universal escalation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Calibration on related15 · 474 chunks · strict-F1 vs Opus silver, optimal (Hungarian) matcher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rq3a_theta_esca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16736"/>
            <a:ext cx="5037328" cy="3063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554480"/>
            <a:ext cx="2651760" cy="2560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</a:rPr>
              <a:t>Pinned operating point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</a:rPr>
              <a:t>θ = 0.9,  θ_reject = 0.2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5293"/>
                </a:solidFill>
              </a:rPr>
              <a:t>strict-F1  0.7160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E37222"/>
                </a:solidFill>
              </a:rPr>
              <a:t>at 95.6% escalation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</a:rPr>
              <a:t>θ 0.7 → 0.8:   +≈0.05 strict-F1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000000"/>
                </a:solidFill>
              </a:rPr>
              <a:t>θ 0.8 → 0.9:   +0.0085 strict-F1,
+8.5% cost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At θ = 0.9 the cheap voters resolve about 1 chunk in 20 on their own.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How the </a:t>
            </a:r>
            <a:r>
              <a:rPr sz="2200" b="0" dirty="0" err="1">
                <a:solidFill>
                  <a:srgbClr val="000000"/>
                </a:solidFill>
              </a:rPr>
              <a:t>shipped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configuration</a:t>
            </a:r>
            <a:r>
              <a:rPr sz="2200" b="0" dirty="0">
                <a:solidFill>
                  <a:srgbClr val="000000"/>
                </a:solidFill>
              </a:rPr>
              <a:t> was </a:t>
            </a:r>
            <a:r>
              <a:rPr sz="2200" b="0" dirty="0" err="1">
                <a:solidFill>
                  <a:srgbClr val="000000"/>
                </a:solidFill>
              </a:rPr>
              <a:t>chosen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six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experiments</a:t>
            </a:r>
            <a:r>
              <a:rPr sz="2200" b="0" dirty="0">
                <a:solidFill>
                  <a:srgbClr val="000000"/>
                </a:solidFill>
              </a:rPr>
              <a:t>, in </a:t>
            </a:r>
            <a:r>
              <a:rPr sz="2200" b="0" dirty="0" err="1">
                <a:solidFill>
                  <a:srgbClr val="000000"/>
                </a:solidFill>
              </a:rPr>
              <a:t>order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958303"/>
              </p:ext>
            </p:extLst>
          </p:nvPr>
        </p:nvGraphicFramePr>
        <p:xfrm>
          <a:off x="310896" y="1120079"/>
          <a:ext cx="8513064" cy="2331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6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Which embedder, scorer and alignment?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hybrid scorer beats plain embedding on every embedder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How should the hybrid signals be weighted?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Gemini + hybrid + greedy, entity-heavy blend → 0.7133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E06b/c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Can any voter be dropped?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drop Claude Haiku: F1-neutral, −18% cost per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Where should θ and θ_reject sit?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θ = 0.9, θ_reject = 0.2 → 0.7147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Do the accept/escalate gates matter?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escalate 0.7160 vs keep 0.7147 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within noise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 curve at the shipped setting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005293"/>
                          </a:solidFill>
                        </a:rPr>
                        <a:t>0.7160 at 95.6% escalation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43823"/>
            <a:ext cx="8513064" cy="7525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Order matters: each experiment fixes one knob and passes the rest forward, so the search is linear rather than combinatorial.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one of these replays from cached voter outputs</a:t>
            </a:r>
            <a:r>
              <a:rPr lang="en-US" sz="1300" b="1" dirty="0">
                <a:solidFill>
                  <a:srgbClr val="005293"/>
                </a:solidFill>
              </a:rPr>
              <a:t>:</a:t>
            </a:r>
            <a:r>
              <a:rPr sz="1300" b="1" dirty="0">
                <a:solidFill>
                  <a:srgbClr val="005293"/>
                </a:solidFill>
              </a:rPr>
              <a:t> no new API calls, no cost, byte-identical results.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RQ3b: The cascade ties the best single model, which costs 24% less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Paper-level clustered paired bootstrap, B = 10,000 · cost in price-weighted units per chunk (the thesis states no currency)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cost_quality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736397"/>
            <a:ext cx="4114800" cy="2756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490868"/>
            <a:ext cx="4160520" cy="12344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5293"/>
                </a:solidFill>
              </a:rPr>
              <a:t>Cascade         </a:t>
            </a:r>
            <a:r>
              <a:rPr sz="1700" b="1" dirty="0">
                <a:solidFill>
                  <a:srgbClr val="005293"/>
                </a:solidFill>
              </a:rPr>
              <a:t>0.7160</a:t>
            </a:r>
            <a:r>
              <a:rPr sz="1300" b="0" dirty="0">
                <a:solidFill>
                  <a:srgbClr val="005293"/>
                </a:solidFill>
              </a:rPr>
              <a:t>    at 23.66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0000"/>
                </a:solidFill>
              </a:rPr>
              <a:t>Single Sonnet   </a:t>
            </a:r>
            <a:r>
              <a:rPr sz="1700" b="1" dirty="0">
                <a:solidFill>
                  <a:srgbClr val="000000"/>
                </a:solidFill>
              </a:rPr>
              <a:t>0.7129</a:t>
            </a:r>
            <a:r>
              <a:rPr sz="1300" b="0" dirty="0">
                <a:solidFill>
                  <a:srgbClr val="000000"/>
                </a:solidFill>
              </a:rPr>
              <a:t>    at 18.00</a:t>
            </a:r>
          </a:p>
          <a:p>
            <a:pPr>
              <a:spcBef>
                <a:spcPts val="600"/>
              </a:spcBef>
            </a:pPr>
            <a:r>
              <a:rPr sz="1350" b="1" dirty="0" err="1">
                <a:solidFill>
                  <a:srgbClr val="E37222"/>
                </a:solidFill>
              </a:rPr>
              <a:t>Δ</a:t>
            </a:r>
            <a:r>
              <a:rPr sz="1350" b="1" dirty="0">
                <a:solidFill>
                  <a:srgbClr val="E37222"/>
                </a:solidFill>
              </a:rPr>
              <a:t> = +0.0031      95% CI [−0.0002, +0.0068]</a:t>
            </a:r>
          </a:p>
          <a:p>
            <a:r>
              <a:rPr sz="1500" b="1" dirty="0">
                <a:solidFill>
                  <a:srgbClr val="E37222"/>
                </a:solidFill>
              </a:rPr>
              <a:t>not statistically significant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756"/>
            <a:ext cx="4160520" cy="173483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000000"/>
                </a:solidFill>
              </a:rPr>
              <a:t>•  vs. every cheaper model: +0.060 to +0.26, all significant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005293"/>
                </a:solidFill>
              </a:rPr>
              <a:t>Not cost-justified against the single strong model. Decisively better than every cheap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Counter-consideration: Sonnet shares a model family with the Opus silver </a:t>
            </a:r>
            <a:r>
              <a:rPr lang="en-US" sz="1150" dirty="0">
                <a:solidFill>
                  <a:srgbClr val="595959"/>
                </a:solidFill>
              </a:rPr>
              <a:t>labeler,</a:t>
            </a:r>
            <a:r>
              <a:rPr sz="1150" b="0" dirty="0">
                <a:solidFill>
                  <a:srgbClr val="595959"/>
                </a:solidFill>
              </a:rPr>
              <a:t> so the measured gap is arguably conservative.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RQ4: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NLI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two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roles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grounding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costs</a:t>
            </a:r>
            <a:r>
              <a:rPr sz="2200" b="0" dirty="0">
                <a:solidFill>
                  <a:srgbClr val="000000"/>
                </a:solidFill>
              </a:rPr>
              <a:t> 6 F1 </a:t>
            </a:r>
            <a:r>
              <a:rPr sz="2200" b="0" dirty="0" err="1">
                <a:solidFill>
                  <a:srgbClr val="000000"/>
                </a:solidFill>
              </a:rPr>
              <a:t>points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pritamdeka</a:t>
            </a:r>
            <a:r>
              <a:rPr sz="1350" dirty="0">
                <a:solidFill>
                  <a:srgbClr val="0065BD"/>
                </a:solidFill>
              </a:rPr>
              <a:t>/</a:t>
            </a:r>
            <a:r>
              <a:rPr sz="1350" dirty="0" err="1">
                <a:solidFill>
                  <a:srgbClr val="0065BD"/>
                </a:solidFill>
              </a:rPr>
              <a:t>PubMedBERT</a:t>
            </a:r>
            <a:r>
              <a:rPr sz="1350" dirty="0">
                <a:solidFill>
                  <a:srgbClr val="0065BD"/>
                </a:solidFill>
              </a:rPr>
              <a:t>-MNLI-</a:t>
            </a:r>
            <a:r>
              <a:rPr sz="1350" dirty="0" err="1">
                <a:solidFill>
                  <a:srgbClr val="0065BD"/>
                </a:solidFill>
              </a:rPr>
              <a:t>MedNLI</a:t>
            </a:r>
            <a:r>
              <a:rPr sz="1350" dirty="0">
                <a:solidFill>
                  <a:srgbClr val="0065BD"/>
                </a:solidFill>
              </a:rPr>
              <a:t> — frozen, no fine-tuning, shared by GROUNDING and RELATE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grounding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53312"/>
            <a:ext cx="3445151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" y="3584448"/>
            <a:ext cx="4617720" cy="11038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005293"/>
                </a:solidFill>
              </a:rPr>
              <a:t>Grounding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000000"/>
                </a:solidFill>
              </a:rPr>
              <a:t>Bimodal: 77.5% score ≥ 0.9, ≈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sz="1200" b="0" dirty="0">
                <a:solidFill>
                  <a:srgbClr val="000000"/>
                </a:solidFill>
              </a:rPr>
              <a:t>14% &lt; 0.3. Threshold 0.5 retains 83.8%; strict-F1 0.716 → 0.652; precision flat (0.872 → 0.875).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Of the 371 findings removed, ≈</a:t>
            </a:r>
            <a:r>
              <a:rPr lang="en-US" sz="1150" b="0" dirty="0">
                <a:solidFill>
                  <a:srgbClr val="595959"/>
                </a:solidFill>
              </a:rPr>
              <a:t> </a:t>
            </a:r>
            <a:r>
              <a:rPr sz="1150" b="0" dirty="0">
                <a:solidFill>
                  <a:srgbClr val="595959"/>
                </a:solidFill>
              </a:rPr>
              <a:t>86% agreed with the Opus silver</a:t>
            </a:r>
            <a:r>
              <a:rPr lang="en-US" sz="1150" b="0" dirty="0">
                <a:solidFill>
                  <a:srgbClr val="595959"/>
                </a:solidFill>
              </a:rPr>
              <a:t>:</a:t>
            </a:r>
            <a:r>
              <a:rPr sz="1150" b="0" dirty="0">
                <a:solidFill>
                  <a:srgbClr val="595959"/>
                </a:solidFill>
              </a:rPr>
              <a:t> traded knowingly for source faithfulness.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444752"/>
            <a:ext cx="3685032" cy="28889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Relation classification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50" b="0" dirty="0">
                <a:solidFill>
                  <a:srgbClr val="595959"/>
                </a:solidFill>
              </a:rPr>
              <a:t>synthetic 300 pairs, 100 per class, thresholds frozen at 0.50 / 0.50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005293"/>
                </a:solidFill>
              </a:rPr>
              <a:t>accuracy 0.923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macro-F1 0.924   (production </a:t>
            </a:r>
            <a:r>
              <a:rPr sz="1200" b="0" dirty="0" err="1">
                <a:solidFill>
                  <a:srgbClr val="000000"/>
                </a:solidFill>
              </a:rPr>
              <a:t>scope_aware</a:t>
            </a:r>
            <a:r>
              <a:rPr sz="1200" b="0" dirty="0">
                <a:solidFill>
                  <a:srgbClr val="000000"/>
                </a:solidFill>
              </a:rPr>
              <a:t> mode)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SUPPORT  precision 1.000, F1 0.953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CONTRADICT  F1 0.922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0" dirty="0">
                <a:solidFill>
                  <a:srgbClr val="000000"/>
                </a:solidFill>
              </a:rPr>
              <a:t>•  UNRELATED  F1 0.897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 dirty="0">
                <a:solidFill>
                  <a:srgbClr val="E37222"/>
                </a:solidFill>
              </a:rPr>
              <a:t>Class-balanced synthetic set</a:t>
            </a:r>
            <a:r>
              <a:rPr lang="en-US" sz="1150" b="1" dirty="0">
                <a:solidFill>
                  <a:srgbClr val="E37222"/>
                </a:solidFill>
              </a:rPr>
              <a:t>: </a:t>
            </a:r>
            <a:r>
              <a:rPr sz="1150" b="1" dirty="0">
                <a:solidFill>
                  <a:srgbClr val="E37222"/>
                </a:solidFill>
              </a:rPr>
              <a:t>an optimistic ceiling, not a corpus-representative estimate.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RQ5: Held-out performance sits within noise of calibration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lang="en-US" sz="1350" dirty="0">
                <a:solidFill>
                  <a:srgbClr val="0065BD"/>
                </a:solidFill>
              </a:rPr>
              <a:t>H</a:t>
            </a:r>
            <a:r>
              <a:rPr sz="1350" dirty="0">
                <a:solidFill>
                  <a:srgbClr val="0065BD"/>
                </a:solidFill>
              </a:rPr>
              <a:t>eldout15</a:t>
            </a:r>
            <a:r>
              <a:rPr lang="en-US" sz="1350" dirty="0">
                <a:solidFill>
                  <a:srgbClr val="0065BD"/>
                </a:solidFill>
              </a:rPr>
              <a:t>: </a:t>
            </a:r>
            <a:r>
              <a:rPr sz="1350" dirty="0">
                <a:solidFill>
                  <a:srgbClr val="0065BD"/>
                </a:solidFill>
              </a:rPr>
              <a:t>15 papers, disjoint, random sample · configuration frozen before evaluation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heldout_th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31016"/>
            <a:ext cx="4114800" cy="2616391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24157"/>
              </p:ext>
            </p:extLst>
          </p:nvPr>
        </p:nvGraphicFramePr>
        <p:xfrm>
          <a:off x="4663440" y="1371600"/>
          <a:ext cx="3977640" cy="2152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related15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heldout15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0.7128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Loose-F1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Precision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0.872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Recall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0.900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Escalation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95.6%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99.0%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Rule provenance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675887"/>
            <a:ext cx="4160520" cy="8858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Gap = 0.0032</a:t>
            </a:r>
            <a:r>
              <a:rPr lang="en-US" sz="1400" b="1" dirty="0">
                <a:solidFill>
                  <a:srgbClr val="005293"/>
                </a:solidFill>
              </a:rPr>
              <a:t>: </a:t>
            </a:r>
            <a:r>
              <a:rPr sz="1400" b="1" dirty="0">
                <a:solidFill>
                  <a:srgbClr val="005293"/>
                </a:solidFill>
              </a:rPr>
              <a:t>within the bootstrap noise band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Escalation rises to 99.0%: on unfamiliar papers the cheap voters agree even less often. </a:t>
            </a:r>
            <a:r>
              <a:rPr sz="1150" b="0" dirty="0" err="1">
                <a:solidFill>
                  <a:srgbClr val="595959"/>
                </a:solidFill>
              </a:rPr>
              <a:t>θ</a:t>
            </a:r>
            <a:r>
              <a:rPr sz="1150" b="0" dirty="0">
                <a:solidFill>
                  <a:srgbClr val="595959"/>
                </a:solidFill>
              </a:rPr>
              <a:t> was fixed after calibration</a:t>
            </a:r>
            <a:r>
              <a:rPr lang="en-US" sz="1150" b="0" dirty="0">
                <a:solidFill>
                  <a:srgbClr val="595959"/>
                </a:solidFill>
              </a:rPr>
              <a:t>, so </a:t>
            </a:r>
            <a:r>
              <a:rPr sz="1150" b="0" dirty="0">
                <a:solidFill>
                  <a:srgbClr val="595959"/>
                </a:solidFill>
              </a:rPr>
              <a:t>the sweep is descriptive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Every number after RQ1 measures agreement with an LLM, not a pathologist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Limitations and threats to validity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03543"/>
            <a:ext cx="8513064" cy="25889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Silver labels bound everything.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RQ2–RQ5 measure agreement with Claude Opus 4.7. No experiment in this design can lift that ceiling.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Model-family overlap threatens RQ3 specifically.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Sonnet and the Opus </a:t>
            </a:r>
            <a:r>
              <a:rPr lang="en-US" sz="1300" dirty="0">
                <a:solidFill>
                  <a:srgbClr val="595959"/>
                </a:solidFill>
              </a:rPr>
              <a:t>labeler</a:t>
            </a:r>
            <a:r>
              <a:rPr sz="1300" b="0" dirty="0">
                <a:solidFill>
                  <a:srgbClr val="595959"/>
                </a:solidFill>
              </a:rPr>
              <a:t> are both Anthropic; the cascade's voters are not. Direction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arguable</a:t>
            </a:r>
            <a:r>
              <a:rPr lang="en-US" sz="1300" dirty="0">
                <a:solidFill>
                  <a:srgbClr val="595959"/>
                </a:solidFill>
              </a:rPr>
              <a:t>, but</a:t>
            </a:r>
            <a:r>
              <a:rPr sz="1300" b="0" dirty="0">
                <a:solidFill>
                  <a:srgbClr val="595959"/>
                </a:solidFill>
              </a:rPr>
              <a:t> magnitude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unmeasured.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RQ1's human labels are 27 papers, one annotator.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No inter-annotator agreement. Read as trends, not exact values.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RQ4's relation set is synthetic and class-balanced.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95959"/>
                </a:solidFill>
              </a:rPr>
              <a:t>An optimistic ceiling; real corpus relations have no labels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40626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Scope: English, open-access, histopathology. Outputs are rule candidates for expert review</a:t>
            </a:r>
            <a:r>
              <a:rPr lang="en-US" sz="1200" b="0" dirty="0">
                <a:solidFill>
                  <a:srgbClr val="E37222"/>
                </a:solidFill>
              </a:rPr>
              <a:t>; </a:t>
            </a:r>
            <a:r>
              <a:rPr sz="1200" b="0" dirty="0">
                <a:solidFill>
                  <a:srgbClr val="E37222"/>
                </a:solidFill>
              </a:rPr>
              <a:t>confidence scores are not clinical probabilities.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questions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answered</a:t>
            </a:r>
            <a:r>
              <a:rPr lang="de-DE" sz="2200" b="0" dirty="0">
                <a:solidFill>
                  <a:srgbClr val="000000"/>
                </a:solidFill>
              </a:rPr>
              <a:t>;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negative </a:t>
            </a:r>
            <a:r>
              <a:rPr sz="2200" b="0" dirty="0" err="1">
                <a:solidFill>
                  <a:srgbClr val="000000"/>
                </a:solidFill>
              </a:rPr>
              <a:t>result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reported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not </a:t>
            </a:r>
            <a:r>
              <a:rPr sz="2200" b="0" dirty="0" err="1">
                <a:solidFill>
                  <a:srgbClr val="000000"/>
                </a:solidFill>
              </a:rPr>
              <a:t>buried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65768"/>
              </p:ext>
            </p:extLst>
          </p:nvPr>
        </p:nvGraphicFramePr>
        <p:xfrm>
          <a:off x="310896" y="1108675"/>
          <a:ext cx="8513064" cy="226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Targets met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tables 0.366 → 0.838, figures 0.447 → 0.840  (human rubric)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Quality reached; provenance structural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 0.7160;  100% rule carry-rate (1,747 / 1,747)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Not cost-justified vs. the strong single model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7222"/>
                          </a:solidFill>
                        </a:rPr>
                        <a:t>Δ +0.0031, CI [−0.0002, +0.0068];  Sonnet 24% cheaper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Both NLI roles behave as designed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grounding 0.716 → 0.652 by choice;  relations 0.923 (synthetic)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Does not overfit the calibration cluster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0.7160 → 0.7128,  gap 0.0032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32420"/>
            <a:ext cx="8513064" cy="9601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5293"/>
                </a:solidFill>
              </a:rPr>
              <a:t>The lasting contribution is the framework, not this operating point: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</a:rPr>
              <a:t>provenance by construction  ·  cost and quality as calibrated knobs  ·  full offline replay with no API calls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Backup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 · Research </a:t>
            </a:r>
            <a:r>
              <a:rPr sz="2000" b="0" dirty="0" err="1">
                <a:solidFill>
                  <a:srgbClr val="000000"/>
                </a:solidFill>
              </a:rPr>
              <a:t>questions</a:t>
            </a:r>
            <a:r>
              <a:rPr lang="de-DE" sz="2000" dirty="0">
                <a:solidFill>
                  <a:srgbClr val="000000"/>
                </a:solidFill>
              </a:rPr>
              <a:t>, </a:t>
            </a:r>
            <a:r>
              <a:rPr lang="de-DE" sz="2000" b="0" dirty="0">
                <a:solidFill>
                  <a:srgbClr val="000000"/>
                </a:solidFill>
              </a:rPr>
              <a:t>and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their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answers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34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TR" sz="1000" dirty="0"/>
              <a:t>11.</a:t>
            </a:r>
            <a:r>
              <a:rPr sz="1000" dirty="0"/>
              <a:t>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016934"/>
              </p:ext>
            </p:extLst>
          </p:nvPr>
        </p:nvGraphicFramePr>
        <p:xfrm>
          <a:off x="310896" y="1060704"/>
          <a:ext cx="8513064" cy="2855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Question (as stated in the thesis)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How faithfully does the document-extraction pipeline recover the text, tables, figures, captions and related layout information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and how much does it improve on the off-the-shelf document-extractor baseline?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tables 0.366 → 0.838;  figures 0.447 → 0.840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What is the quality of the extracted findings and rules against strong-model-generated silver labels, and is provenance preserved end-to-end for every extracted figure, table and rule?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strict-F1 0.7160;  provenance 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Is the agreement-based cascade worth its cost, relative to sending each text chunk to a single strong model?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No — Δ +0.0031, not 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How does the shared biomedical NLI model perform in its grounding and relation-classification roles?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as designed;  0.652 / 0.923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Does the performance of the configuration calibrated on one set of papers generalize to a held-out set, or does it overfit the calibration cluster?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0.7128 — no meaningful overfit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160520"/>
            <a:ext cx="8513064" cy="37548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E37222"/>
                </a:solidFill>
              </a:rPr>
              <a:t>The </a:t>
            </a:r>
            <a:r>
              <a:rPr sz="1100" b="0" dirty="0">
                <a:solidFill>
                  <a:srgbClr val="E37222"/>
                </a:solidFill>
              </a:rPr>
              <a:t>silver metrics depend on silver labels generated by a strong LLM, so the resulting scores measure agreement with the labeler, not ground truth.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B2 · Corpus acquisition and the page-cap trade-off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9260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Acquisition funnel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1,132   downloaded PDF files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1,093   targeted PMC identifiers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1,070   single-PDF papers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981   candidates after the ≤30-page filter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 dirty="0">
                <a:solidFill>
                  <a:srgbClr val="005293"/>
                </a:solidFill>
              </a:rPr>
              <a:t>977   ingested into the database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4 papers fail </a:t>
            </a:r>
            <a:r>
              <a:rPr sz="1150" b="0" dirty="0" err="1">
                <a:solidFill>
                  <a:srgbClr val="595959"/>
                </a:solidFill>
              </a:rPr>
              <a:t>Docling</a:t>
            </a:r>
            <a:r>
              <a:rPr sz="1150" b="0" dirty="0">
                <a:solidFill>
                  <a:srgbClr val="595959"/>
                </a:solidFill>
              </a:rPr>
              <a:t> conversion (missing page-dimension metadata).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3440" y="1097280"/>
          <a:ext cx="40233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Cap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volume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81.9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6,757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87.1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7,731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47.5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963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8,436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51.8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≤30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981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8,929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54.9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9,602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59.0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1,014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10,237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62.9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16,277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840480"/>
            <a:ext cx="4160520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30-page cap is the 92nd percentile: it keeps 91.7% of papers and 54.9% of total page volume.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B3 · Why these 15 calibration papers: an integer linear program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272484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Fingerprint buckets: disease · biomarker · method · outcome · gene · tissue · generic · CUI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Relatedness = weighted Jaccard sum; disease weighted most, generic down-weighted, penalty for zero disease overlap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Eligibility: 20–350 sentences, ≥1 non-empty disease/biomarker/gene bucket, ≥</a:t>
            </a:r>
            <a:r>
              <a:rPr lang="en-US" sz="1350" b="0" dirty="0">
                <a:solidFill>
                  <a:srgbClr val="000000"/>
                </a:solidFill>
              </a:rPr>
              <a:t> </a:t>
            </a:r>
            <a:r>
              <a:rPr sz="1350" b="0" dirty="0">
                <a:solidFill>
                  <a:srgbClr val="000000"/>
                </a:solidFill>
              </a:rPr>
              <a:t>3 distinct non-empty entities  →  drops 56 papers, 977 → 921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Exhaustive solve at k = 15 with </a:t>
            </a:r>
            <a:r>
              <a:rPr sz="1350" b="0" dirty="0" err="1">
                <a:solidFill>
                  <a:srgbClr val="000000"/>
                </a:solidFill>
              </a:rPr>
              <a:t>PuLP</a:t>
            </a:r>
            <a:r>
              <a:rPr sz="1350" b="0" dirty="0">
                <a:solidFill>
                  <a:srgbClr val="000000"/>
                </a:solidFill>
              </a:rPr>
              <a:t> / CBC</a:t>
            </a:r>
            <a:r>
              <a:rPr lang="en-US" sz="1350" b="0" dirty="0">
                <a:solidFill>
                  <a:srgbClr val="000000"/>
                </a:solidFill>
              </a:rPr>
              <a:t>, </a:t>
            </a:r>
            <a:r>
              <a:rPr lang="en-US" sz="1350" dirty="0">
                <a:solidFill>
                  <a:srgbClr val="000000"/>
                </a:solidFill>
              </a:rPr>
              <a:t>with </a:t>
            </a:r>
            <a:r>
              <a:rPr sz="1350" b="0" dirty="0">
                <a:solidFill>
                  <a:srgbClr val="000000"/>
                </a:solidFill>
              </a:rPr>
              <a:t>no candidate cap, no time limit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350" b="0" dirty="0">
                <a:solidFill>
                  <a:srgbClr val="000000"/>
                </a:solidFill>
              </a:rPr>
              <a:t>•  All 105 pairs in the selected cluster have relatedness &gt; 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 dirty="0">
                <a:solidFill>
                  <a:srgbClr val="E37222"/>
                </a:solidFill>
              </a:rPr>
              <a:t>The cluster is deliberately related, which makes it a </a:t>
            </a:r>
            <a:r>
              <a:rPr lang="en-US" sz="1350" dirty="0">
                <a:solidFill>
                  <a:srgbClr val="E37222"/>
                </a:solidFill>
              </a:rPr>
              <a:t>favorable</a:t>
            </a:r>
            <a:r>
              <a:rPr sz="1350" b="0" dirty="0">
                <a:solidFill>
                  <a:srgbClr val="E37222"/>
                </a:solidFill>
              </a:rPr>
              <a:t> case for </a:t>
            </a:r>
            <a:r>
              <a:rPr lang="en-US" sz="1350" dirty="0">
                <a:solidFill>
                  <a:srgbClr val="E37222"/>
                </a:solidFill>
              </a:rPr>
              <a:t>assessing voter agreement. The randomly sampled held-out set serves as</a:t>
            </a:r>
            <a:r>
              <a:rPr sz="1350" b="0" dirty="0">
                <a:solidFill>
                  <a:srgbClr val="E37222"/>
                </a:solidFill>
              </a:rPr>
              <a:t> the control.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B4 · The document-extraction rubric: four dimensions, no partial credit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271458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1" dirty="0">
                <a:solidFill>
                  <a:srgbClr val="000000"/>
                </a:solidFill>
              </a:rPr>
              <a:t>Four dimensions, each scored in [0,1]; n/a excluded from the average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crop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emitted region geometrically right?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caption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correct caption attached?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footnot</a:t>
            </a:r>
            <a:r>
              <a:rPr lang="en-US" sz="1350" b="0" dirty="0">
                <a:solidFill>
                  <a:srgbClr val="000000"/>
                </a:solidFill>
              </a:rPr>
              <a:t>e</a:t>
            </a:r>
            <a:r>
              <a:rPr lang="en-TR" sz="1350" dirty="0">
                <a:solidFill>
                  <a:srgbClr val="000000"/>
                </a:solidFill>
              </a:rPr>
              <a:t>:</a:t>
            </a:r>
            <a:r>
              <a:rPr sz="1350" b="0" dirty="0">
                <a:solidFill>
                  <a:srgbClr val="000000"/>
                </a:solidFill>
              </a:rPr>
              <a:t> are the table's footnotes inside the crop?</a:t>
            </a:r>
            <a:r>
              <a:rPr lang="en-US" sz="1350" b="0" dirty="0">
                <a:solidFill>
                  <a:srgbClr val="000000"/>
                </a:solidFill>
              </a:rPr>
              <a:t> </a:t>
            </a:r>
            <a:r>
              <a:rPr sz="1350" b="0" dirty="0">
                <a:solidFill>
                  <a:srgbClr val="000000"/>
                </a:solidFill>
              </a:rPr>
              <a:t>(tables only)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mask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was the region correctly removed from the body text?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US" sz="1350" b="1" dirty="0">
                <a:solidFill>
                  <a:srgbClr val="005293"/>
                </a:solidFill>
              </a:rPr>
              <a:t>Strict-F1</a:t>
            </a:r>
            <a:r>
              <a:rPr sz="1350" b="1" dirty="0">
                <a:solidFill>
                  <a:srgbClr val="005293"/>
                </a:solidFill>
              </a:rPr>
              <a:t> counts an artifact as a true positive only if it receives the top rubric label on every applicable dimension. Near-misses get no partial credit.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 dirty="0">
                <a:solidFill>
                  <a:srgbClr val="595959"/>
                </a:solidFill>
              </a:rPr>
              <a:t>Staged sweep over 4 axes</a:t>
            </a:r>
            <a:r>
              <a:rPr lang="en-US" sz="1350" b="0" dirty="0">
                <a:solidFill>
                  <a:srgbClr val="595959"/>
                </a:solidFill>
              </a:rPr>
              <a:t>: </a:t>
            </a:r>
            <a:r>
              <a:rPr sz="1350" b="0" dirty="0">
                <a:solidFill>
                  <a:srgbClr val="595959"/>
                </a:solidFill>
              </a:rPr>
              <a:t>backend, confidence threshold, footnote multiplier, region handling ∈ {drop, pre-mask, reconstruct, merge} + header clipping = 31 variants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B5 · Full document-extraction sweep, all key variants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38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01579"/>
              </p:ext>
            </p:extLst>
          </p:nvPr>
        </p:nvGraphicFramePr>
        <p:xfrm>
          <a:off x="310896" y="1060704"/>
          <a:ext cx="8513064" cy="178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Configuration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Footnote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90.1%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95.8%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36.6%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Pipeline, Docling-only tables (v01)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@0.99, no footnote-expand (v07)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86.4%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42.0%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Docling + footnote-expand ×1.2 (v16)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TATR + footnote-expand ×1.2 (v17)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64.9%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Hybrid + footnote-expand ×1.2 (v18, pinned)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83.8%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19790"/>
              </p:ext>
            </p:extLst>
          </p:nvPr>
        </p:nvGraphicFramePr>
        <p:xfrm>
          <a:off x="310896" y="3054096"/>
          <a:ext cx="851306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Figures (identical across all sweep variants)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Icon FPs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61.7%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98.5%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44.7%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73 of 99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Production pipeline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89.9%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90.3%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84.0%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14 of 21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0896" y="4041648"/>
            <a:ext cx="8513064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</a:rPr>
              <a:t>Crop and mask are F1; caption and footnote are precision. v17 and v18 also apply the caption/crop-geometry family fixes. The sweep varies table handling only, so figure metrics are constant across variants.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B6 · How a </a:t>
            </a:r>
            <a:r>
              <a:rPr sz="2000" b="0" dirty="0" err="1">
                <a:solidFill>
                  <a:srgbClr val="000000"/>
                </a:solidFill>
              </a:rPr>
              <a:t>pipeline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finding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matched</a:t>
            </a:r>
            <a:r>
              <a:rPr sz="2000" b="0" dirty="0">
                <a:solidFill>
                  <a:srgbClr val="000000"/>
                </a:solidFill>
              </a:rPr>
              <a:t> to a </a:t>
            </a:r>
            <a:r>
              <a:rPr sz="2000" b="0" dirty="0" err="1">
                <a:solidFill>
                  <a:srgbClr val="000000"/>
                </a:solidFill>
              </a:rPr>
              <a:t>silver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label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24145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Six concatenated fields are embedded; eligibility requires cosine &gt; 0.55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One-to-one assignment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optimal (Hungarian) is the reported matcher; greedy is kept as a sensitivity diagnostic and never drives selection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loose TP = matched at all. loose P = </a:t>
            </a:r>
            <a:r>
              <a:rPr sz="1350" b="0" dirty="0" err="1">
                <a:solidFill>
                  <a:srgbClr val="000000"/>
                </a:solidFill>
              </a:rPr>
              <a:t>n_matched</a:t>
            </a:r>
            <a:r>
              <a:rPr sz="1350" b="0" dirty="0">
                <a:solidFill>
                  <a:srgbClr val="000000"/>
                </a:solidFill>
              </a:rPr>
              <a:t> / </a:t>
            </a:r>
            <a:r>
              <a:rPr sz="1350" b="0" dirty="0" err="1">
                <a:solidFill>
                  <a:srgbClr val="000000"/>
                </a:solidFill>
              </a:rPr>
              <a:t>n_pipeline</a:t>
            </a:r>
            <a:r>
              <a:rPr sz="1350" b="0" dirty="0">
                <a:solidFill>
                  <a:srgbClr val="000000"/>
                </a:solidFill>
              </a:rPr>
              <a:t>,  loose R = </a:t>
            </a:r>
            <a:r>
              <a:rPr sz="1350" b="0" dirty="0" err="1">
                <a:solidFill>
                  <a:srgbClr val="000000"/>
                </a:solidFill>
              </a:rPr>
              <a:t>n_matched</a:t>
            </a:r>
            <a:r>
              <a:rPr sz="1350" b="0" dirty="0">
                <a:solidFill>
                  <a:srgbClr val="000000"/>
                </a:solidFill>
              </a:rPr>
              <a:t> / </a:t>
            </a:r>
            <a:r>
              <a:rPr sz="1350" b="0" dirty="0" err="1">
                <a:solidFill>
                  <a:srgbClr val="000000"/>
                </a:solidFill>
              </a:rPr>
              <a:t>n_silver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350" b="0" dirty="0">
                <a:solidFill>
                  <a:srgbClr val="000000"/>
                </a:solidFill>
              </a:rPr>
              <a:t>•  strict TP requires relation type, </a:t>
            </a:r>
            <a:r>
              <a:rPr lang="en-US" sz="1350" dirty="0">
                <a:solidFill>
                  <a:srgbClr val="000000"/>
                </a:solidFill>
              </a:rPr>
              <a:t>direction,</a:t>
            </a:r>
            <a:r>
              <a:rPr sz="1350" b="0" dirty="0">
                <a:solidFill>
                  <a:srgbClr val="000000"/>
                </a:solidFill>
              </a:rPr>
              <a:t> and category to ALL agree; disagreement on ≥1 of the three contributes 0.5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dirty="0">
                <a:solidFill>
                  <a:srgbClr val="005293"/>
                </a:solidFill>
              </a:rPr>
              <a:t>Calibration decomposition:  recall 0.900,  precision 0.872,  loose-F1 0.886  →  tightening to strict gives 0.7160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B7 · The pinned cascade configuration of record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006275"/>
              </p:ext>
            </p:extLst>
          </p:nvPr>
        </p:nvGraphicFramePr>
        <p:xfrm>
          <a:off x="310896" y="906326"/>
          <a:ext cx="8513064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Knob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Fixed by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Voter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5 voters — Claude Haiku 4.5 dropped from Level 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E06b / E06c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Scorer / alignment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 /  greedy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E05 / 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blend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0.15 category · 0.30 embedding · 0.50 entity · 0.05 evidence (entity-heavy)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Embedder / τ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Gemini  /  0.15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θ  /  θ_reject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 / 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E07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Single-voter policy / polarity hard-fail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escalate  /  true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Grounding threshold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Headline 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strict-F1 0.7160 at 95.6% escalation (before grounding)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E08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777542"/>
            <a:ext cx="8513064" cy="96795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L1  Gemini Flash-Lite · GPT-4o mini · GPT-4.1 nano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L2  Gemini Flash · GPT-4.1 mini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L3  Claude Sonnet 4.6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All production voters run at temperature 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B8 · θ sweep and the gate ablation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theta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78225"/>
            <a:ext cx="4114800" cy="2638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052630"/>
            <a:ext cx="4160520" cy="33686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Threshold sensitivity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0.7 → 0.8:  ≈ +0.05 strict-F1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0.8 → 0.9:  +0.0085 strict-F1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optimal </a:t>
            </a:r>
            <a:r>
              <a:rPr sz="1300" b="0" dirty="0" err="1">
                <a:solidFill>
                  <a:srgbClr val="000000"/>
                </a:solidFill>
              </a:rPr>
              <a:t>θ_reject</a:t>
            </a:r>
            <a:r>
              <a:rPr sz="1300" b="0" dirty="0">
                <a:solidFill>
                  <a:srgbClr val="000000"/>
                </a:solidFill>
              </a:rPr>
              <a:t> = 0.2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Gate ablation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single-voter escalate 0.7160 vs keep 0.7147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the gain is within noise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polarity hard-fail fires on 15 of 474 chunks (3.16%)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at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= 0.9 it changes exactly one routing decision</a:t>
            </a:r>
            <a:r>
              <a:rPr lang="en-US" sz="1300" b="0" dirty="0">
                <a:solidFill>
                  <a:srgbClr val="000000"/>
                </a:solidFill>
              </a:rPr>
              <a:t>:</a:t>
            </a:r>
            <a:r>
              <a:rPr sz="1300" b="0" dirty="0">
                <a:solidFill>
                  <a:srgbClr val="000000"/>
                </a:solidFill>
              </a:rPr>
              <a:t> 453 L3 invocations instead of 452</a:t>
            </a:r>
            <a:r>
              <a:rPr lang="en-US" sz="1300" dirty="0">
                <a:solidFill>
                  <a:srgbClr val="000000"/>
                </a:solidFill>
              </a:rPr>
              <a:t>, </a:t>
            </a:r>
            <a:r>
              <a:rPr sz="1300" b="0" dirty="0">
                <a:solidFill>
                  <a:srgbClr val="000000"/>
                </a:solidFill>
              </a:rPr>
              <a:t>moving strict-F1 by 0.0001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50" dirty="0">
                <a:solidFill>
                  <a:srgbClr val="E37222"/>
                </a:solidFill>
              </a:rPr>
              <a:t>T</a:t>
            </a:r>
            <a:r>
              <a:rPr sz="1150" b="0" dirty="0">
                <a:solidFill>
                  <a:srgbClr val="E37222"/>
                </a:solidFill>
              </a:rPr>
              <a:t>he</a:t>
            </a:r>
            <a:r>
              <a:rPr lang="en-US" sz="1150" b="0" dirty="0">
                <a:solidFill>
                  <a:srgbClr val="E37222"/>
                </a:solidFill>
              </a:rPr>
              <a:t>se </a:t>
            </a:r>
            <a:r>
              <a:rPr sz="1150" b="0" dirty="0">
                <a:solidFill>
                  <a:srgbClr val="E37222"/>
                </a:solidFill>
              </a:rPr>
              <a:t>gates exist for safety</a:t>
            </a:r>
            <a:r>
              <a:rPr lang="en-US" sz="1150" dirty="0">
                <a:solidFill>
                  <a:srgbClr val="E37222"/>
                </a:solidFill>
              </a:rPr>
              <a:t>, not for improving strict-F1.</a:t>
            </a:r>
            <a:endParaRPr sz="1150" b="0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B9 · Cost model, operating points, and all single-model baselines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43523"/>
              </p:ext>
            </p:extLst>
          </p:nvPr>
        </p:nvGraphicFramePr>
        <p:xfrm>
          <a:off x="310896" y="966483"/>
          <a:ext cx="4160520" cy="278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System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Cost /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Cascade, five voters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18.00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0.5957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0.5761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 Lite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0.5721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GPT-4o-mini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0.5394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GPT-4.1-nano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0.4570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54342"/>
              </p:ext>
            </p:extLst>
          </p:nvPr>
        </p:nvGraphicFramePr>
        <p:xfrm>
          <a:off x="4663440" y="966483"/>
          <a:ext cx="4160520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</a:t>
                      </a: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θ_r</a:t>
                      </a:r>
                      <a:endParaRPr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Escal.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economy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0.3 / 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0.07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balanced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28971319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knee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quality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0.96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2580198"/>
            <a:ext cx="4160520" cy="21375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economy = </a:t>
            </a:r>
            <a:r>
              <a:rPr sz="1200" b="0" dirty="0" err="1">
                <a:solidFill>
                  <a:srgbClr val="000000"/>
                </a:solidFill>
              </a:rPr>
              <a:t>ε</a:t>
            </a:r>
            <a:r>
              <a:rPr sz="1200" b="0" dirty="0">
                <a:solidFill>
                  <a:srgbClr val="000000"/>
                </a:solidFill>
              </a:rPr>
              <a:t>-constraint (lowest cost meeting a minimum strict-F1)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balanced = ε-constraint at a higher floor (0.60), the middle the knee cannot reach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knee = weighted-sum scalarization maximizing strict-F1 − </a:t>
            </a:r>
            <a:r>
              <a:rPr sz="1200" b="0" dirty="0" err="1">
                <a:solidFill>
                  <a:srgbClr val="000000"/>
                </a:solidFill>
              </a:rPr>
              <a:t>λ·cost</a:t>
            </a:r>
            <a:endParaRPr sz="12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0" dirty="0">
                <a:solidFill>
                  <a:srgbClr val="000000"/>
                </a:solidFill>
              </a:rPr>
              <a:t>•  quality = maximum strict-F1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 dirty="0">
                <a:solidFill>
                  <a:srgbClr val="000000"/>
                </a:solidFill>
              </a:rPr>
              <a:t>balanced → knee: +7% strict-F1 for +33% cost · knee → quality: +1% for +8.5%</a:t>
            </a:r>
            <a:endParaRPr lang="en-TR" sz="125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B10 · Significance testing: paper-level clustered paired bootstrap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17318"/>
              </p:ext>
            </p:extLst>
          </p:nvPr>
        </p:nvGraphicFramePr>
        <p:xfrm>
          <a:off x="310896" y="1060704"/>
          <a:ext cx="8513063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Cascade compared with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Δ 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95% CI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+0.0031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[−0.0002, +0.0068]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Remaining cheaper models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+0.14 to +0.26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2880360"/>
            <a:ext cx="8513064" cy="1600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B = 10,000 resamples, papers as the sampling unit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Clustered because findings within one paper are not independent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resampling findings would understate the variance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000000"/>
                </a:solidFill>
              </a:rPr>
              <a:t>•  Paired because both systems are evaluated on the identical chunk set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Only the Sonnet comparison is inconclusive. Every cheaper-model comparison is unambiguous.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B11 · Grounding score distribution and threshold trade-off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2,294 frozen-config MAP findings on related15 · NLI run on (claim, cited paragraph)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grounding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242" y="1371600"/>
            <a:ext cx="6600371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3822191"/>
            <a:ext cx="8513064" cy="69095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000000"/>
                </a:solidFill>
              </a:rPr>
              <a:t>(a) Bimodal: 77.5% of findings score ≥ 0.9, ≈</a:t>
            </a:r>
            <a:r>
              <a:rPr lang="en-US" sz="1250" b="0" dirty="0">
                <a:solidFill>
                  <a:srgbClr val="000000"/>
                </a:solidFill>
              </a:rPr>
              <a:t> </a:t>
            </a:r>
            <a:r>
              <a:rPr sz="1250" b="0" dirty="0">
                <a:solidFill>
                  <a:srgbClr val="000000"/>
                </a:solidFill>
              </a:rPr>
              <a:t>14% score &lt; 0.3. The 0.5 threshold (dashed) retains 83.8%.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(b) Recall and strict-F1 fall as the threshold rises; precision stays flat (0.872 → 0.875). The filter trades recall for </a:t>
            </a:r>
            <a:r>
              <a:rPr sz="1250" b="0" dirty="0" err="1">
                <a:solidFill>
                  <a:srgbClr val="000000"/>
                </a:solidFill>
              </a:rPr>
              <a:t>groundedness</a:t>
            </a:r>
            <a:r>
              <a:rPr sz="1250" b="0" dirty="0">
                <a:solidFill>
                  <a:srgbClr val="000000"/>
                </a:solidFill>
              </a:rPr>
              <a:t>, not for precision.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B12 · Relation classification, per class, both input modes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97800"/>
              </p:ext>
            </p:extLst>
          </p:nvPr>
        </p:nvGraphicFramePr>
        <p:xfrm>
          <a:off x="310896" y="1060704"/>
          <a:ext cx="851306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predicate_only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scope_aware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UNRELATED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Macro average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182112"/>
            <a:ext cx="8513064" cy="1371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scope_aware is the production mode. Thresholds frozen at 0.50 / 0.50, not tuned.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A diagnostic joint sweep found the frozen thresholds are within a fraction of a percent of optimal (0.4 / 0.9 → macro-F1 0.9307)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37222"/>
                </a:solidFill>
              </a:rPr>
              <a:t>•  scope_aware's intended mechanism cannot be tested on this set: both claims in every synthetic pair share the same disease context, so they receive the same prefix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B13 · Held-out knowledge-extraction funnel, side by side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07047"/>
              </p:ext>
            </p:extLst>
          </p:nvPr>
        </p:nvGraphicFramePr>
        <p:xfrm>
          <a:off x="310896" y="1060704"/>
          <a:ext cx="8513064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related15 (calibration)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heldout15 (test)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MAP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2,294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1,672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Grounded at threshold 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1,923  (83.8%)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1,379  (82.5%)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Normalized after deduplication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1,860  (−3.3%)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1,342  (−2.7%)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Groupable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1,314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1,747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1,273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 per normalized finding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0.939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0.949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Relations, intra + cross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25  (13 + 12)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4  (4 + 0)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Final rules per 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116.5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Rule provenance carry-rate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100%  (1,747 / 1,747)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100%  (1,273 / 1,273)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23360"/>
            <a:ext cx="8513064" cy="548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funnel keeps its shape. The one number that collapses is relations: the held-out papers were sampled randomly, so they share far less vocabulary and produce no cross-paper relations at all.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B14 · Provenance chain and offline replay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47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860783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Provenance chain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final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canonical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normal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MAP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text element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→  document  (page, span, coordinates)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dirty="0">
                <a:solidFill>
                  <a:srgbClr val="595959"/>
                </a:solidFill>
              </a:rPr>
              <a:t>Enforced by the data model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a rule cannot exist without its back-pointers.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“Provenance enables auditability, but it is not proof of correctness.”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097280"/>
            <a:ext cx="4160520" cy="314804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Offline replay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All voter outputs cached per tier per chunk, so any escalation path replays offline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Cache invalidates on changes to the voter pool, model IDs, temperatures or MAP prompts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One offline batch driver produces every Chapter 4 result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each analysis emits one CSV, one JSON, and a global </a:t>
            </a:r>
            <a:r>
              <a:rPr sz="1300" b="0" dirty="0" err="1">
                <a:solidFill>
                  <a:srgbClr val="000000"/>
                </a:solidFill>
              </a:rPr>
              <a:t>manifest.json</a:t>
            </a:r>
            <a:endParaRPr sz="13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Replay fidelity validated by comparing live-cascade and replay findings per paper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number in this talk can be regenerated with no API calls and no cost.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B15 · Operating points: </a:t>
            </a:r>
            <a:r>
              <a:rPr lang="de-DE" sz="2000" b="0" dirty="0" err="1">
                <a:solidFill>
                  <a:srgbClr val="000000"/>
                </a:solidFill>
              </a:rPr>
              <a:t>why</a:t>
            </a:r>
            <a:r>
              <a:rPr lang="de-DE" sz="2000" b="0" dirty="0">
                <a:solidFill>
                  <a:srgbClr val="000000"/>
                </a:solidFill>
              </a:rPr>
              <a:t> </a:t>
            </a:r>
            <a:r>
              <a:rPr sz="2000" b="0" dirty="0">
                <a:solidFill>
                  <a:srgbClr val="000000"/>
                </a:solidFill>
              </a:rPr>
              <a:t>the knee misses the middle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Weighted-sum reaches 3 of 7 Pareto points; an ε-constraint floor reaches all 7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48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3259635"/>
            <a:ext cx="8513064" cy="13424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knee = argmax(strict-F1 − λ·cost) with λ = 0.20</a:t>
            </a:r>
            <a:r>
              <a:rPr lang="en-US" sz="1450" b="0" dirty="0">
                <a:solidFill>
                  <a:srgbClr val="000000"/>
                </a:solidFill>
              </a:rPr>
              <a:t>. That</a:t>
            </a:r>
            <a:r>
              <a:rPr sz="1450" b="0" dirty="0">
                <a:solidFill>
                  <a:srgbClr val="000000"/>
                </a:solidFill>
              </a:rPr>
              <a:t> winner holds only for λ ∈ [0.119, 0.210); above it the knee collapses onto economy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450" dirty="0">
                <a:solidFill>
                  <a:srgbClr val="000000"/>
                </a:solidFill>
              </a:rPr>
              <a:t>•  A weighted sum returns only convex-hull vertices, so the four concave configs are unreachable at any </a:t>
            </a:r>
            <a:r>
              <a:rPr lang="el-GR" sz="1450" dirty="0">
                <a:solidFill>
                  <a:srgbClr val="000000"/>
                </a:solidFill>
              </a:rPr>
              <a:t>λ. ε-</a:t>
            </a:r>
            <a:r>
              <a:rPr lang="en-US" sz="1450" dirty="0">
                <a:solidFill>
                  <a:srgbClr val="000000"/>
                </a:solidFill>
              </a:rPr>
              <a:t>constraint has no such blind spot.</a:t>
            </a:r>
            <a:endParaRPr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50" b="1" dirty="0">
                <a:solidFill>
                  <a:srgbClr val="E37222"/>
                </a:solidFill>
              </a:rPr>
              <a:t>The shipped configuration is the quality point: argmax strict-F1, no </a:t>
            </a:r>
            <a:r>
              <a:rPr lang="el-GR" sz="1350" b="1" dirty="0">
                <a:solidFill>
                  <a:srgbClr val="E37222"/>
                </a:solidFill>
              </a:rPr>
              <a:t>λ, </a:t>
            </a:r>
            <a:r>
              <a:rPr lang="en-US" sz="1350" b="1" dirty="0">
                <a:solidFill>
                  <a:srgbClr val="E37222"/>
                </a:solidFill>
              </a:rPr>
              <a:t>no floor. None of this moves it.</a:t>
            </a:r>
          </a:p>
        </p:txBody>
      </p:sp>
      <p:graphicFrame>
        <p:nvGraphicFramePr>
          <p:cNvPr id="10" name="B15 ban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498591"/>
              </p:ext>
            </p:extLst>
          </p:nvPr>
        </p:nvGraphicFramePr>
        <p:xfrm>
          <a:off x="310896" y="1366431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ε floor ≤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 err="1">
                          <a:solidFill>
                            <a:schemeClr val="bg1"/>
                          </a:solidFill>
                        </a:rPr>
                        <a:t>config</a:t>
                      </a:r>
                      <a:endParaRPr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$ / chunk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reachable by a weighted sum?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 — this is economy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3.53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2903518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4.82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9.48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 — this is balanced, ε ≥ 0.60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67088757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the knee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48064597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quality, the shipped config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851426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Expansion slides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49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dirty="0">
                <a:solidFill>
                  <a:srgbClr val="000000"/>
                </a:solidFill>
              </a:rPr>
              <a:t>1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corpus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graph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small</a:t>
            </a:r>
            <a:r>
              <a:rPr lang="de-DE" sz="2000" b="0" dirty="0">
                <a:solidFill>
                  <a:srgbClr val="000000"/>
                </a:solidFill>
              </a:rPr>
              <a:t>, </a:t>
            </a:r>
            <a:r>
              <a:rPr sz="2000" b="0" dirty="0">
                <a:solidFill>
                  <a:srgbClr val="000000"/>
                </a:solidFill>
              </a:rPr>
              <a:t>but </a:t>
            </a:r>
            <a:r>
              <a:rPr sz="2000" b="0" dirty="0" err="1">
                <a:solidFill>
                  <a:srgbClr val="000000"/>
                </a:solidFill>
              </a:rPr>
              <a:t>one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contradiction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real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54023"/>
              </p:ext>
            </p:extLst>
          </p:nvPr>
        </p:nvGraphicFramePr>
        <p:xfrm>
          <a:off x="310896" y="1060704"/>
          <a:ext cx="32461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Relation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Scope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94760" y="1042415"/>
            <a:ext cx="5029200" cy="217854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E37222"/>
                </a:solidFill>
              </a:rPr>
              <a:t>The intra-paper contradiction, in full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PMC2253716 — subject: MUCL1 gene · outcome: tumor grade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000000"/>
                </a:solidFill>
              </a:rPr>
              <a:t>•  “SBEM expression does NOT correlate with tumor grade”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000000"/>
                </a:solidFill>
              </a:rPr>
              <a:t>•  “Increased SBEM levels strongly associated with higher tumor grade; P = 0.0015”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1" dirty="0">
                <a:solidFill>
                  <a:srgbClr val="000000"/>
                </a:solidFill>
              </a:rPr>
              <a:t>NLI contradiction score 0.9991 and 0.9997 in both directions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Two statements in the same paper, pointing opposite ways. The system does not resolve it</a:t>
            </a:r>
            <a:r>
              <a:rPr lang="en-US" sz="1250" b="0" dirty="0">
                <a:solidFill>
                  <a:srgbClr val="005293"/>
                </a:solidFill>
              </a:rPr>
              <a:t>, </a:t>
            </a:r>
            <a:r>
              <a:rPr sz="1250" b="0" dirty="0">
                <a:solidFill>
                  <a:srgbClr val="005293"/>
                </a:solidFill>
              </a:rPr>
              <a:t>it flags it for a human.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4224528"/>
            <a:ext cx="8513064" cy="38404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Honest limit: 25 edges from 1,747 rules. The comparability gate is strict by design, and on randomly sampled papers it produces almost nothing (4 edges on heldout15).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dirty="0">
                <a:solidFill>
                  <a:srgbClr val="000000"/>
                </a:solidFill>
              </a:rPr>
              <a:t>2</a:t>
            </a:r>
            <a:r>
              <a:rPr sz="2000" b="0" dirty="0">
                <a:solidFill>
                  <a:srgbClr val="000000"/>
                </a:solidFill>
              </a:rPr>
              <a:t> · Every </a:t>
            </a:r>
            <a:r>
              <a:rPr sz="2000" b="0" dirty="0" err="1">
                <a:solidFill>
                  <a:srgbClr val="000000"/>
                </a:solidFill>
              </a:rPr>
              <a:t>component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mature</a:t>
            </a:r>
            <a:r>
              <a:rPr sz="2000" b="0" dirty="0">
                <a:solidFill>
                  <a:srgbClr val="000000"/>
                </a:solidFill>
              </a:rPr>
              <a:t>; the </a:t>
            </a:r>
            <a:r>
              <a:rPr sz="2000" b="0" dirty="0" err="1">
                <a:solidFill>
                  <a:srgbClr val="000000"/>
                </a:solidFill>
              </a:rPr>
              <a:t>audited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integration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not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Positioning against related work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15288"/>
            <a:ext cx="8513064" cy="286847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Layout-aware PDF parsing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</a:t>
            </a:r>
            <a:r>
              <a:rPr sz="1400" b="0" dirty="0" err="1">
                <a:solidFill>
                  <a:srgbClr val="000000"/>
                </a:solidFill>
              </a:rPr>
              <a:t>Docling</a:t>
            </a:r>
            <a:r>
              <a:rPr sz="1400" b="0" dirty="0">
                <a:solidFill>
                  <a:srgbClr val="000000"/>
                </a:solidFill>
              </a:rPr>
              <a:t>, TATR, pdffigures2)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Biomedical entity normalization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(UMLS, </a:t>
            </a:r>
            <a:r>
              <a:rPr sz="1400" b="0" dirty="0" err="1">
                <a:solidFill>
                  <a:srgbClr val="000000"/>
                </a:solidFill>
              </a:rPr>
              <a:t>scispaCy</a:t>
            </a:r>
            <a:r>
              <a:rPr sz="1400" b="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Entailment / grounding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(MNLI, </a:t>
            </a:r>
            <a:r>
              <a:rPr sz="1400" b="0" dirty="0" err="1">
                <a:solidFill>
                  <a:srgbClr val="000000"/>
                </a:solidFill>
              </a:rPr>
              <a:t>MedNLI</a:t>
            </a:r>
            <a:r>
              <a:rPr sz="1400" b="0" dirty="0">
                <a:solidFill>
                  <a:srgbClr val="000000"/>
                </a:solidFill>
              </a:rPr>
              <a:t>, biomedical NLI)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0" dirty="0">
                <a:solidFill>
                  <a:srgbClr val="000000"/>
                </a:solidFill>
              </a:rPr>
              <a:t>•  Cost-aware cascading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(agreement-based cascading, Kolawole et al. 2025)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 dirty="0">
                <a:solidFill>
                  <a:srgbClr val="005293"/>
                </a:solidFill>
              </a:rPr>
              <a:t>Each has its own benchmark and its own definition of success. What is rare is all of them in one auditable system, evaluated under a joint cost and quality constraint.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OCR-free end-to-end document models (Donut, mPLUG-DocOwl2)</a:t>
            </a:r>
            <a:r>
              <a:rPr lang="en-US" sz="1250" dirty="0">
                <a:solidFill>
                  <a:srgbClr val="E37222"/>
                </a:solidFill>
              </a:rPr>
              <a:t> are deliberately rejected: </a:t>
            </a:r>
            <a:r>
              <a:rPr sz="1250" b="0" dirty="0">
                <a:solidFill>
                  <a:srgbClr val="E37222"/>
                </a:solidFill>
              </a:rPr>
              <a:t>they do not return token-level bounding boxes, so provenance could not be structural.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Also rejected: chain-of-thought self-checking and LLM self-repair, in </a:t>
            </a:r>
            <a:r>
              <a:rPr lang="en-US" sz="1250" dirty="0">
                <a:solidFill>
                  <a:srgbClr val="E37222"/>
                </a:solidFill>
              </a:rPr>
              <a:t>favor</a:t>
            </a:r>
            <a:r>
              <a:rPr sz="1250" b="0" dirty="0">
                <a:solidFill>
                  <a:srgbClr val="E37222"/>
                </a:solidFill>
              </a:rPr>
              <a:t> of cross-provider agreement plus entailment against the source.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dirty="0">
                <a:solidFill>
                  <a:srgbClr val="000000"/>
                </a:solidFill>
              </a:rPr>
              <a:t>3</a:t>
            </a:r>
            <a:r>
              <a:rPr sz="2000" b="0" dirty="0">
                <a:solidFill>
                  <a:srgbClr val="000000"/>
                </a:solidFill>
              </a:rPr>
              <a:t> · </a:t>
            </a:r>
            <a:r>
              <a:rPr sz="2000" b="0" dirty="0" err="1">
                <a:solidFill>
                  <a:srgbClr val="000000"/>
                </a:solidFill>
              </a:rPr>
              <a:t>Three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artifacts</a:t>
            </a:r>
            <a:r>
              <a:rPr sz="2000" b="0" dirty="0">
                <a:solidFill>
                  <a:srgbClr val="000000"/>
                </a:solidFill>
              </a:rPr>
              <a:t> the </a:t>
            </a:r>
            <a:r>
              <a:rPr sz="2000" b="0" dirty="0" err="1">
                <a:solidFill>
                  <a:srgbClr val="000000"/>
                </a:solidFill>
              </a:rPr>
              <a:t>baseline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failed</a:t>
            </a:r>
            <a:r>
              <a:rPr sz="2000" b="0" dirty="0">
                <a:solidFill>
                  <a:srgbClr val="000000"/>
                </a:solidFill>
              </a:rPr>
              <a:t> to </a:t>
            </a:r>
            <a:r>
              <a:rPr sz="2000" b="0" dirty="0" err="1">
                <a:solidFill>
                  <a:srgbClr val="000000"/>
                </a:solidFill>
              </a:rPr>
              <a:t>produce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correctly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One table never emitted; two captions never attached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52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5_missed_and_caption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0" y="1339535"/>
            <a:ext cx="7003914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4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agreement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scorer</a:t>
            </a:r>
            <a:r>
              <a:rPr sz="2000" b="0" dirty="0">
                <a:solidFill>
                  <a:srgbClr val="000000"/>
                </a:solidFill>
              </a:rPr>
              <a:t>, end to 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One method: eligible voter outputs in, a deferral score and a winner out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344168"/>
            <a:ext cx="8513064" cy="34352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Input: the voter outputs that passed the schema and provenance gates</a:t>
            </a:r>
            <a:r>
              <a:rPr lang="en-US" sz="1450" b="0" dirty="0">
                <a:solidFill>
                  <a:srgbClr val="000000"/>
                </a:solidFill>
              </a:rPr>
              <a:t>, </a:t>
            </a:r>
            <a:r>
              <a:rPr sz="1450" b="0" dirty="0">
                <a:solidFill>
                  <a:srgbClr val="000000"/>
                </a:solidFill>
              </a:rPr>
              <a:t>each a set of typed findings, not a string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No voters → REJECT · exactly one → score 1.0 by construction (hence </a:t>
            </a:r>
            <a:r>
              <a:rPr sz="1450" b="0" dirty="0" err="1">
                <a:solidFill>
                  <a:srgbClr val="000000"/>
                </a:solidFill>
              </a:rPr>
              <a:t>legacy_single_voter_policy</a:t>
            </a:r>
            <a:r>
              <a:rPr sz="1450" b="0" dirty="0">
                <a:solidFill>
                  <a:srgbClr val="000000"/>
                </a:solidFill>
              </a:rPr>
              <a:t> = escalate)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Voters with zero findings are dropped before the matrix; fewer than two survive → ESCALATE at 0.0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 dirty="0">
                <a:solidFill>
                  <a:srgbClr val="000000"/>
                </a:solidFill>
              </a:rPr>
              <a:t>•  Pairwise similarity over the survivors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scores its mean similarity to the others; the chunk score is the maximum of those means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0" dirty="0">
                <a:solidFill>
                  <a:srgbClr val="000000"/>
                </a:solidFill>
              </a:rPr>
              <a:t>•  Winner = the argmax, ties broken on grounding quality. </a:t>
            </a:r>
            <a:r>
              <a:rPr sz="1450" b="0" dirty="0" err="1">
                <a:solidFill>
                  <a:srgbClr val="000000"/>
                </a:solidFill>
              </a:rPr>
              <a:t>θ</a:t>
            </a:r>
            <a:r>
              <a:rPr sz="1450" b="0" dirty="0">
                <a:solidFill>
                  <a:srgbClr val="000000"/>
                </a:solidFill>
              </a:rPr>
              <a:t> = 0.9 / </a:t>
            </a:r>
            <a:r>
              <a:rPr sz="1450" b="0" dirty="0" err="1">
                <a:solidFill>
                  <a:srgbClr val="000000"/>
                </a:solidFill>
              </a:rPr>
              <a:t>θ_reject</a:t>
            </a:r>
            <a:r>
              <a:rPr sz="1450" b="0" dirty="0">
                <a:solidFill>
                  <a:srgbClr val="000000"/>
                </a:solidFill>
              </a:rPr>
              <a:t> = 0.2 are applied downstream, not here.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00" b="1" dirty="0">
                <a:solidFill>
                  <a:srgbClr val="E37222"/>
                </a:solidFill>
              </a:rPr>
              <a:t>Max, not mean: one agreeing pair carries the chunk. Agreement is not correctness</a:t>
            </a:r>
            <a:r>
              <a:rPr lang="en-US" sz="1100" b="1" dirty="0">
                <a:solidFill>
                  <a:srgbClr val="E37222"/>
                </a:solidFill>
              </a:rPr>
              <a:t>, </a:t>
            </a:r>
            <a:r>
              <a:rPr sz="1100" b="1" dirty="0">
                <a:solidFill>
                  <a:srgbClr val="E37222"/>
                </a:solidFill>
              </a:rPr>
              <a:t>which is why GROUNDING runs afterwards.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718</TotalTime>
  <Words>15982</Words>
  <Application>Microsoft Macintosh PowerPoint</Application>
  <PresentationFormat>On-screen Show (16:9)</PresentationFormat>
  <Paragraphs>1623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A Pipeline for Extracting Simple Rules from Medical Literature for Automatic Disease Detection in Histopathology</vt:lpstr>
      <vt:lpstr>Diagnostic knowledge is trapped in prose, and an LLM's word for it is not enough</vt:lpstr>
      <vt:lpstr>Five research questions, each answered by a measurement</vt:lpstr>
      <vt:lpstr>Two pipelines, joined by a database that carries provenance</vt:lpstr>
      <vt:lpstr>Docling plus three targeted fixes, each aimed at a named failure</vt:lpstr>
      <vt:lpstr>Illustrative extraction example from the evaluation corpus</vt:lpstr>
      <vt:lpstr>Three things a detector called a table, and none of them is one</vt:lpstr>
      <vt:lpstr>Three things a detector called a table, and none of them is one</vt:lpstr>
      <vt:lpstr>Two-pass extraction removes an invisible “FOR PEER REVIEW” header</vt:lpstr>
      <vt:lpstr>Footnote expansion</vt:lpstr>
      <vt:lpstr>The icon filter</vt:lpstr>
      <vt:lpstr>Same pixels, correct caption: the geometric matcher</vt:lpstr>
      <vt:lpstr>A hidden duplicate paragraph would have been extracted twice</vt:lpstr>
      <vt:lpstr>End result before the text assembly stage</vt:lpstr>
      <vt:lpstr>Text assembly also strips citations and layout artifacts</vt:lpstr>
      <vt:lpstr>Paragraph stitching is purely syntactic, which cuts both ways</vt:lpstr>
      <vt:lpstr>Seven stages, only the MAP stage is stochastic</vt:lpstr>
      <vt:lpstr>Agreement-Based Cascading: cheap voters decide; the strong model is called on disagreement</vt:lpstr>
      <vt:lpstr>How the agreement scorer picks a winner</vt:lpstr>
      <vt:lpstr>Grounding: every claim is checked against the sentence it cites</vt:lpstr>
      <vt:lpstr>Four frozen datasets: one human-labeled, three LLM-labeled</vt:lpstr>
      <vt:lpstr>RQ1: Footnote capture and figure post-processing roughly double strict-F1</vt:lpstr>
      <vt:lpstr>The effect of footnote expansion on table strict-F1</vt:lpstr>
      <vt:lpstr>RQ2: 1,747 rules, and every one traces back to a source paragraph</vt:lpstr>
      <vt:lpstr>What one extracted rule actually looks like</vt:lpstr>
      <vt:lpstr>RQ3a: Top cascade quality requires near-universal escalation</vt:lpstr>
      <vt:lpstr>How the shipped configuration was chosen: six experiments, in order</vt:lpstr>
      <vt:lpstr>RQ3b: The cascade ties the best single model, which costs 24% less</vt:lpstr>
      <vt:lpstr>RQ4: One frozen NLI model, two roles: grounding costs 6 F1 points</vt:lpstr>
      <vt:lpstr>RQ5: Held-out performance sits within noise of calibration</vt:lpstr>
      <vt:lpstr>Every number after RQ1 measures agreement with an LLM, not a pathologist</vt:lpstr>
      <vt:lpstr>Four questions answered; one negative result reported, not buried</vt:lpstr>
      <vt:lpstr>Backup</vt:lpstr>
      <vt:lpstr>B1 · Research questions, and their answers</vt:lpstr>
      <vt:lpstr>B2 · Corpus acquisition and the page-cap trade-off</vt:lpstr>
      <vt:lpstr>B3 · Why these 15 calibration papers: an integer linear program</vt:lpstr>
      <vt:lpstr>B4 · The document-extraction rubric: four dimensions, no partial credit</vt:lpstr>
      <vt:lpstr>B5 · Full document-extraction sweep, all key variants</vt:lpstr>
      <vt:lpstr>B6 · How a pipeline finding is matched to a silver label</vt:lpstr>
      <vt:lpstr>B7 · The pinned cascade configuration of record</vt:lpstr>
      <vt:lpstr>B8 · θ sweep and the gate ablation</vt:lpstr>
      <vt:lpstr>B9 · Cost model, operating points, and all single-model baselines</vt:lpstr>
      <vt:lpstr>B10 · Significance testing: paper-level clustered paired bootstrap</vt:lpstr>
      <vt:lpstr>B11 · Grounding score distribution and threshold trade-off</vt:lpstr>
      <vt:lpstr>B12 · Relation classification, per class, both input modes</vt:lpstr>
      <vt:lpstr>B13 · Held-out knowledge-extraction funnel, side by side</vt:lpstr>
      <vt:lpstr>B14 · Provenance chain and offline replay</vt:lpstr>
      <vt:lpstr>B15 · Operating points: why the knee misses the middle</vt:lpstr>
      <vt:lpstr>Expansion slides</vt:lpstr>
      <vt:lpstr>E1 · The corpus graph is small, but one contradiction is real</vt:lpstr>
      <vt:lpstr>E2 · Every component is mature; the audited integration is not</vt:lpstr>
      <vt:lpstr>E3 · Three artifacts the baseline failed to produce correctly</vt:lpstr>
      <vt:lpstr>E4 · The agreement scorer, end to end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Emirhan Nadir Karaman</cp:lastModifiedBy>
  <cp:revision>53</cp:revision>
  <cp:lastPrinted>2015-07-30T14:04:45Z</cp:lastPrinted>
  <dcterms:created xsi:type="dcterms:W3CDTF">2020-10-03T23:03:33Z</dcterms:created>
  <dcterms:modified xsi:type="dcterms:W3CDTF">2026-08-10T16:36:49Z</dcterms:modified>
</cp:coreProperties>
</file>