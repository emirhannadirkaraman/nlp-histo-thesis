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60"/>
  </p:notesMasterIdLst>
  <p:handoutMasterIdLst>
    <p:handoutMasterId r:id="rId61"/>
  </p:handoutMasterIdLst>
  <p:sldIdLst>
    <p:sldId id="355" r:id="rId8"/>
    <p:sldId id="257" r:id="rId9"/>
    <p:sldId id="258" r:id="rId10"/>
    <p:sldId id="259" r:id="rId11"/>
    <p:sldId id="260" r:id="rId12"/>
    <p:sldId id="292" r:id="rId13"/>
    <p:sldId id="261" r:id="rId14"/>
    <p:sldId id="262" r:id="rId15"/>
    <p:sldId id="263" r:id="rId16"/>
    <p:sldId id="298" r:id="rId17"/>
    <p:sldId id="264" r:id="rId18"/>
    <p:sldId id="265" r:id="rId19"/>
    <p:sldId id="289" r:id="rId20"/>
    <p:sldId id="266" r:id="rId21"/>
    <p:sldId id="296" r:id="rId22"/>
    <p:sldId id="267" r:id="rId23"/>
    <p:sldId id="299" r:id="rId24"/>
    <p:sldId id="268" r:id="rId25"/>
    <p:sldId id="269" r:id="rId26"/>
    <p:sldId id="270" r:id="rId27"/>
    <p:sldId id="271" r:id="rId28"/>
    <p:sldId id="272" r:id="rId29"/>
    <p:sldId id="273" r:id="rId30"/>
    <p:sldId id="295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356" r:id="rId46"/>
    <p:sldId id="288" r:id="rId47"/>
    <p:sldId id="290" r:id="rId48"/>
    <p:sldId id="291" r:id="rId49"/>
    <p:sldId id="293" r:id="rId50"/>
    <p:sldId id="294" r:id="rId51"/>
    <p:sldId id="297" r:id="rId52"/>
    <p:sldId id="300" r:id="rId53"/>
    <p:sldId id="301" r:id="rId54"/>
    <p:sldId id="302" r:id="rId55"/>
    <p:sldId id="303" r:id="rId56"/>
    <p:sldId id="304" r:id="rId57"/>
    <p:sldId id="305" r:id="rId58"/>
    <p:sldId id="256" r:id="rId59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 autoAdjust="0"/>
    <p:restoredTop sz="79857" autoAdjust="0"/>
  </p:normalViewPr>
  <p:slideViewPr>
    <p:cSldViewPr snapToGrid="0">
      <p:cViewPr varScale="1">
        <p:scale>
          <a:sx n="128" d="100"/>
          <a:sy n="128" d="100"/>
        </p:scale>
        <p:origin x="584" y="160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09/08/2026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09/08/2026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morning, and thank you for coming. I'm Emirhan Karaman, and this is my Master's thesis,</a:t>
            </a:r>
          </a:p>
          <a:p>
            <a:r>
              <a:rPr lang="en-US" dirty="0"/>
              <a:t>supervised by Frederic Mrozinski and examined by Professor Groh.</a:t>
            </a:r>
          </a:p>
          <a:p>
            <a:endParaRPr lang="en-US" dirty="0"/>
          </a:p>
          <a:p>
            <a:r>
              <a:rPr lang="en-US" dirty="0"/>
              <a:t>The title is long, so let me split it. The input is medical literature - histopathology papers.</a:t>
            </a:r>
          </a:p>
          <a:p>
            <a:r>
              <a:rPr lang="en-US" dirty="0"/>
              <a:t>The output is "simple rules": small, typed, subject-outcome statements a pathologist could</a:t>
            </a:r>
          </a:p>
          <a:p>
            <a:r>
              <a:rPr lang="en-US" dirty="0"/>
              <a:t>actually check. The word doing the most work in that sentence is CHECK. Everything in the next</a:t>
            </a:r>
          </a:p>
          <a:p>
            <a:r>
              <a:rPr lang="en-US" dirty="0"/>
              <a:t>eighteen minutes follows from taking that word seriously.</a:t>
            </a:r>
          </a:p>
          <a:p>
            <a:endParaRPr lang="en-US" dirty="0"/>
          </a:p>
          <a:p>
            <a:r>
              <a:rPr lang="en-US" dirty="0"/>
              <a:t>[0:25]  -&gt;  "Let me start with why that's hard."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Histopathology diagnosis rests on facts that live in prose. Which biomarker is expressed in which</a:t>
            </a:r>
          </a:p>
          <a:p>
            <a:r>
              <a:rPr dirty="0" err="1"/>
              <a:t>tumour</a:t>
            </a:r>
            <a:r>
              <a:rPr dirty="0"/>
              <a:t> subtype; which morphological features support a diagnosis; whether a finding means a</a:t>
            </a:r>
          </a:p>
          <a:p>
            <a:r>
              <a:rPr dirty="0"/>
              <a:t>better or a worse prognosis. Those facts exist - they are just scattered across thousands of</a:t>
            </a:r>
          </a:p>
          <a:p>
            <a:r>
              <a:rPr dirty="0"/>
              <a:t>papers, and no pathologist can read all of them.</a:t>
            </a:r>
          </a:p>
          <a:p>
            <a:endParaRPr dirty="0"/>
          </a:p>
          <a:p>
            <a:r>
              <a:rPr dirty="0"/>
              <a:t>Large language models can. That is genuinely new. But the failure modes are exactly the ones that</a:t>
            </a:r>
          </a:p>
          <a:p>
            <a:r>
              <a:rPr dirty="0"/>
              <a:t>matter here: they invent claims that look plausible, they drop the qualifier that made the claim</a:t>
            </a:r>
          </a:p>
          <a:p>
            <a:r>
              <a:rPr dirty="0"/>
              <a:t>true, and they paraphrase until you can no longer find the original sentence. In a clinical</a:t>
            </a:r>
          </a:p>
          <a:p>
            <a:r>
              <a:rPr dirty="0"/>
              <a:t>setting, a claim you cannot verify is not a weak result - it is not a result.</a:t>
            </a:r>
          </a:p>
          <a:p>
            <a:endParaRPr dirty="0"/>
          </a:p>
          <a:p>
            <a:r>
              <a:rPr dirty="0"/>
              <a:t>So the requirement is traceability, and here is the gap. Layout-aware PDF parsing, biomedical</a:t>
            </a:r>
          </a:p>
          <a:p>
            <a:r>
              <a:rPr dirty="0"/>
              <a:t>entity linking, entailment checking, cost-aware model cascading - every one is mature on its own,</a:t>
            </a:r>
          </a:p>
          <a:p>
            <a:r>
              <a:rPr dirty="0"/>
              <a:t>with its own benchmark and its own definition of success. What is rare is all of them combined</a:t>
            </a:r>
          </a:p>
          <a:p>
            <a:r>
              <a:rPr dirty="0"/>
              <a:t>into a single auditable system, evaluated under a joint cost AND quality constraint.</a:t>
            </a:r>
          </a:p>
          <a:p>
            <a:endParaRPr dirty="0"/>
          </a:p>
          <a:p>
            <a:r>
              <a:rPr dirty="0"/>
              <a:t>(OPTIONAL - cut if behind: that combination is what this thesis asks about: where do off-the-shelf</a:t>
            </a:r>
          </a:p>
          <a:p>
            <a:r>
              <a:rPr dirty="0"/>
              <a:t>tools already suffice, where does calibrated agreement help, and where does it justify its cost?)</a:t>
            </a:r>
          </a:p>
          <a:p>
            <a:endParaRPr dirty="0"/>
          </a:p>
          <a:p>
            <a:r>
              <a:rPr dirty="0"/>
              <a:t>[1:10]  -&gt;  "I turned that into five questions, each with a number attached."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t>Five questions. RQ1 is the document layer: how faithfully do we recover text, tables, figures and</a:t>
            </a:r>
          </a:p>
          <a:p>
            <a:r>
              <a:t>captions, and - importantly - how much of that is MY pipeline rather than the off-the-shelf tool</a:t>
            </a:r>
          </a:p>
          <a:p>
            <a:r>
              <a:t>underneath it. RQ2 asks about the knowledge layer and about provenance. RQ3 is the cost question,</a:t>
            </a:r>
          </a:p>
          <a:p>
            <a:r>
              <a:t>and it is where the interesting result lives. RQ4 asks whether one frozen NLI model can do two</a:t>
            </a:r>
          </a:p>
          <a:p>
            <a:r>
              <a:t>different jobs. RQ5 asks whether the calibration overfits.</a:t>
            </a:r>
          </a:p>
          <a:p/>
          <a:p>
            <a:r>
              <a:t>One caveat up front, because it conditions everything after RQ1. The reference labels for RQ2</a:t>
            </a:r>
          </a:p>
          <a:p>
            <a:r>
              <a:t>through RQ5 were generated by a strong LLM - Claude Opus 4.7 - not by a human expert. So those</a:t>
            </a:r>
          </a:p>
          <a:p>
            <a:r>
              <a:t>scores measure AGREEMENT WITH THE LABELLER. I will flag that again where it bites, and I have a</a:t>
            </a:r>
          </a:p>
          <a:p>
            <a:r>
              <a:t>slide on it at the end. RQ1 is the exception: those labels are human, annotated against a written</a:t>
            </a:r>
          </a:p>
          <a:p>
            <a:r>
              <a:t>rubric.</a:t>
            </a:r>
          </a:p>
          <a:p/>
          <a:p>
            <a:r>
              <a:t>[0:50]  -&gt;  "Here is the system those questions are asking about."</a:t>
            </a:r>
          </a:p>
          <a:p/>
          <a:p>
            <a:r>
              <a:t>JUMPS — if asked:</a:t>
            </a:r>
          </a:p>
          <a:p>
            <a:r>
              <a:t>  the exact RQ wording → B1, slide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t>Four stages. We select and filter histopathology papers from the PMC Open Access subset - 977 make</a:t>
            </a:r>
          </a:p>
          <a:p>
            <a:r>
              <a:t>it into the database. Document extraction turns each PDF into hierarchical text, figure crops and</a:t>
            </a:r>
          </a:p>
          <a:p>
            <a:r>
              <a:t>table crops. Knowledge extraction turns sentences into typed findings and then into rules. And</a:t>
            </a:r>
          </a:p>
          <a:p>
            <a:r>
              <a:t>everything is written to artifacts that let me replay the whole evaluation offline.</a:t>
            </a:r>
          </a:p>
          <a:p/>
          <a:p>
            <a:r>
              <a:t>The thing I want you to take from this diagram is the database in the middle. It is not storage -</a:t>
            </a:r>
          </a:p>
          <a:p>
            <a:r>
              <a:t>it is the provenance backbone. Every object carries back-pointers, the chain at the bottom of the</a:t>
            </a:r>
          </a:p>
          <a:p>
            <a:r>
              <a:t>slide. That chain is enforced by the data model, so it cannot silently break.</a:t>
            </a:r>
          </a:p>
          <a:p/>
          <a:p>
            <a:r>
              <a:t>One honest caveat I will repeat later: provenance enables auditability. It is NOT proof of</a:t>
            </a:r>
          </a:p>
          <a:p>
            <a:r>
              <a:t>correctness. It tells you where a claim came from, not that the claim is true.</a:t>
            </a:r>
          </a:p>
          <a:p/>
          <a:p>
            <a:r>
              <a:t>(OPTIONAL: the system deliberately emits rule CANDIDATES for expert review; it does not aim to</a:t>
            </a:r>
          </a:p>
          <a:p>
            <a:r>
              <a:t>produce clinical rules autonomously.)</a:t>
            </a:r>
          </a:p>
          <a:p/>
          <a:p>
            <a:r>
              <a:t>[1:15]  -&gt;  "Let's start at the bottom of that stack - turning a PDF into something structured."</a:t>
            </a:r>
          </a:p>
          <a:p/>
          <a:p>
            <a:r>
              <a:t>JUMPS — if asked:</a:t>
            </a:r>
          </a:p>
          <a:p>
            <a:r>
              <a:t>  corpus size, the page cap → B2, slide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backbone is Docling, an open-source layout-aware parser, and it stays the sole source of body</a:t>
            </a:r>
          </a:p>
          <a:p>
            <a:r>
              <a:t>text, section structure and figure regions. I did not replace it - I measured it and then fixed</a:t>
            </a:r>
          </a:p>
          <a:p>
            <a:r>
              <a:t>what it got wrong.</a:t>
            </a:r>
          </a:p>
          <a:p/>
          <a:p>
            <a:r>
              <a:t>Three fixes. First, table detection: I run Microsoft's Table Transformer alongside Docling and</a:t>
            </a:r>
          </a:p>
          <a:p>
            <a:r>
              <a:t>take the union of overlapping boxes. Threshold-free - any two boxes that overlap at all are merged</a:t>
            </a:r>
          </a:p>
          <a:p>
            <a:r>
              <a:t>into their bounding union. Second, footnote expansion: Docling crops tables tightly and cuts the</a:t>
            </a:r>
          </a:p>
          <a:p>
            <a:r>
              <a:t>footnotes off, so I extend the crop downward by twenty percent. That sounds trivial. It is the</a:t>
            </a:r>
          </a:p>
          <a:p>
            <a:r>
              <a:t>single biggest lever in the entire document layer, and I will show you the number shortly. Third,</a:t>
            </a:r>
          </a:p>
          <a:p>
            <a:r>
              <a:t>figure post-processing: a size filter dropping anything under fifty points and my own geometric</a:t>
            </a:r>
          </a:p>
          <a:p>
            <a:r>
              <a:t>caption matcher instead of Docling's default. (A sub-figure merge step also exists in the code.</a:t>
            </a:r>
          </a:p>
          <a:p>
            <a:r>
              <a:t>After submission I found it never executes - see the sub-figure audit slide - so I do not claim it as</a:t>
            </a:r>
          </a:p>
          <a:p>
            <a:r>
              <a:t>a contributor.)</a:t>
            </a:r>
          </a:p>
          <a:p/>
          <a:p>
            <a:r>
              <a:t>The fourth item is the two-pass extractor. Some publisher PDFs carry invisible OCR text underneath</a:t>
            </a:r>
          </a:p>
          <a:p>
            <a:r>
              <a:t>the visible text. I detect those elements by rendering the region and testing the pixels, redact</a:t>
            </a:r>
          </a:p>
          <a:p>
            <a:r>
              <a:t>the underlying text objects, and re-run Docling on the cleaned PDF.</a:t>
            </a:r>
          </a:p>
          <a:p/>
          <a:p>
            <a:r>
              <a:t>(OPTIONAL: one deliberate choice - the pipeline never reads JATS-XML, even when PMC provides it.</a:t>
            </a:r>
          </a:p>
          <a:p>
            <a:r>
              <a:t>It is built to work from the PDF alone, so it transfers to literature where structured XML does</a:t>
            </a:r>
          </a:p>
          <a:p>
            <a:r>
              <a:t>not exist.)</a:t>
            </a:r>
          </a:p>
          <a:p/>
          <a:p>
            <a:r>
              <a:t>[1:00]  -&gt;  "That's the description. Here is what one of those failures actually looks like."</a:t>
            </a:r>
          </a:p>
          <a:p/>
          <a:p>
            <a:r>
              <a:t>JUMPS — if asked:</a:t>
            </a:r>
          </a:p>
          <a:p>
            <a:r>
              <a:t>  the icon filter → E1, slide 41</a:t>
            </a:r>
          </a:p>
          <a:p>
            <a:r>
              <a:t>  caption matching → E2, slide 42</a:t>
            </a:r>
          </a:p>
          <a:p>
            <a:r>
              <a:t>  header/footer/sidebar masking → E7, slide 47</a:t>
            </a:r>
          </a:p>
          <a:p>
            <a:r>
              <a:t>  the sub-figure merge correction — volunteer this → the audit slide, slide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This is the fault mode nobody sees, because by definition you cannot see it.</a:t>
            </a:r>
          </a:p>
          <a:p/>
          <a:p>
            <a:r>
              <a:t>The purple boxes are text elements Docling extracted from this page. Render the page and none of</a:t>
            </a:r>
          </a:p>
          <a:p>
            <a:r>
              <a:t>it is there. What happened is that the publisher left the pre-publication running header in the</a:t>
            </a:r>
          </a:p>
          <a:p>
            <a:r>
              <a:t>file as an invisible layer - "Dermatopathology 2025, 12, x FOR PEER REVIEW" - sitting directly on</a:t>
            </a:r>
          </a:p>
          <a:p>
            <a:r>
              <a:t>top of the real published header, which reads "2025, 12, 2". The "x" is the unassigned article</a:t>
            </a:r>
          </a:p>
          <a:p>
            <a:r>
              <a:t>number.</a:t>
            </a:r>
          </a:p>
          <a:p/>
          <a:p>
            <a:r>
              <a:t>Docling has no way to know. It reads the text layer, and the text layer says both.</a:t>
            </a:r>
          </a:p>
          <a:p/>
          <a:p>
            <a:r>
              <a:t>My detection is pixel-based rather than font-based: for each element, render its bounding box and</a:t>
            </a:r>
          </a:p>
          <a:p>
            <a:r>
              <a:t>test whether anything was actually drawn there. If the region is blank, the text is invisible, and</a:t>
            </a:r>
          </a:p>
          <a:p>
            <a:r>
              <a:t>the underlying text objects get redacted before a second Docling pass. That rule -</a:t>
            </a:r>
          </a:p>
          <a:p>
            <a:r>
              <a:t>R1_blank_pixels - accounts for 7,595 of 9,836 rejections across the corpus.</a:t>
            </a:r>
          </a:p>
          <a:p/>
          <a:p>
            <a:r>
              <a:t>Why this matters for the thesis rather than just being tidy: every one of those fragments would</a:t>
            </a:r>
          </a:p>
          <a:p>
            <a:r>
              <a:t>otherwise become a sentence, get chunked, and be sent to a language model as if it were content.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how ghost text is detected → E3, slide 43</a:t>
            </a:r>
          </a:p>
          <a:p>
            <a:r>
              <a:t>  what else gets redacted → E7, slide 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t>This slide is an illustration, not evidence - and it says so at the bottom. The evidence is the</a:t>
            </a:r>
          </a:p>
          <a:p>
            <a:r>
              <a:t>rubric numbers on the next slide. What this does is show you what those numbers MEAN.</a:t>
            </a:r>
          </a:p>
          <a:p/>
          <a:p>
            <a:r>
              <a:t>One paper from the 27-paper rubric set. It has three tables. One of them, Table 1, starts on page</a:t>
            </a:r>
          </a:p>
          <a:p>
            <a:r>
              <a:t>3 and continues onto page 4 under the heading "Table 1. Cont." - a completely ordinary journal</a:t>
            </a:r>
          </a:p>
          <a:p>
            <a:r>
              <a:t>convention.</a:t>
            </a:r>
          </a:p>
          <a:p/>
          <a:p>
            <a:r>
              <a:t>Left column: the region as it appears in the PDF. Middle: what the Docling-only configuration</a:t>
            </a:r>
          </a:p>
          <a:p>
            <a:r>
              <a:t>emitted for those two regions - nothing. It emitted one table for this paper, the one on page 7.</a:t>
            </a:r>
          </a:p>
          <a:p>
            <a:r>
              <a:t>Both halves of Table 1 were never recovered. Right: the hybrid detector emits both halves, and my</a:t>
            </a:r>
          </a:p>
          <a:p>
            <a:r>
              <a:t>annotation of them under the rubric is "correct" for each.</a:t>
            </a:r>
          </a:p>
          <a:p/>
          <a:p>
            <a:r>
              <a:t>The failure mode generalises: page-by-page detection means a table spanning a page boundary looks</a:t>
            </a:r>
          </a:p>
          <a:p>
            <a:r>
              <a:t>like two partial tables, and a detector tuned for whole tables proposes neither. That is precisely</a:t>
            </a:r>
          </a:p>
          <a:p>
            <a:r>
              <a:t>the gap the second detector fills.</a:t>
            </a:r>
          </a:p>
          <a:p/>
          <a:p>
            <a:r>
              <a:t>[1:20]  -&gt;  "Multiply that across 27 papers and four scoring dimensions, and you get RQ1."</a:t>
            </a:r>
          </a:p>
          <a:p/>
          <a:p>
            <a:r>
              <a:t>JUMPS — if asked:</a:t>
            </a:r>
          </a:p>
          <a:p>
            <a:r>
              <a:t>  paragraph stitching → E4, slide 44</a:t>
            </a:r>
          </a:p>
          <a:p>
            <a:r>
              <a:t>  citation stripping → E10, slide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Seven stages. MAP is the only one that calls a language model - it reads a window of ten</a:t>
            </a:r>
          </a:p>
          <a:p>
            <a:r>
              <a:rPr dirty="0"/>
              <a:t>consecutive sentences and emits typed findings against a strict </a:t>
            </a:r>
            <a:r>
              <a:rPr dirty="0" err="1"/>
              <a:t>Pydantic</a:t>
            </a:r>
            <a:r>
              <a:rPr dirty="0"/>
              <a:t> schema: a claim, subject</a:t>
            </a:r>
          </a:p>
          <a:p>
            <a:r>
              <a:rPr dirty="0"/>
              <a:t>and outcome entities, a relation type, a polarity direction, a category, scope fields like tissue</a:t>
            </a:r>
          </a:p>
          <a:p>
            <a:r>
              <a:rPr dirty="0"/>
              <a:t>site and assay method, and a verbatim evidence span.</a:t>
            </a:r>
          </a:p>
          <a:p>
            <a:endParaRPr dirty="0"/>
          </a:p>
          <a:p>
            <a:r>
              <a:rPr dirty="0"/>
              <a:t>Then GROUNDING checks each claim against the paragraph it cites, using an NLI model. NORMALIZE</a:t>
            </a:r>
          </a:p>
          <a:p>
            <a:r>
              <a:rPr dirty="0"/>
              <a:t>maps entity names to canonical forms and UMLS concept IDs and deduplicates. GROUP collects</a:t>
            </a:r>
          </a:p>
          <a:p>
            <a:r>
              <a:rPr dirty="0"/>
              <a:t>findings sharing subject, outcome, relation type and category. CANONICALIZE picks one</a:t>
            </a:r>
          </a:p>
          <a:p>
            <a:r>
              <a:rPr dirty="0"/>
              <a:t>representative per polarity direction - one bin per direction, including "unclear", which makes it</a:t>
            </a:r>
          </a:p>
          <a:p>
            <a:r>
              <a:rPr dirty="0"/>
              <a:t>lossless. RELATE finds support and contradiction between claims. RESOLVE scores the final rules.</a:t>
            </a:r>
          </a:p>
          <a:p>
            <a:endParaRPr dirty="0"/>
          </a:p>
          <a:p>
            <a:r>
              <a:rPr dirty="0"/>
              <a:t>The line to underline is the bold one. After MAP, nothing generates text. Every downstream stage</a:t>
            </a:r>
          </a:p>
          <a:p>
            <a:r>
              <a:rPr dirty="0"/>
              <a:t>is deterministic - it merges, selects, or scores. That is the structural reason the provenance</a:t>
            </a:r>
          </a:p>
          <a:p>
            <a:r>
              <a:rPr dirty="0"/>
              <a:t>chain survives to the end. And one specific safeguard: after MAP returns, I overwrite the model's</a:t>
            </a:r>
          </a:p>
          <a:p>
            <a:r>
              <a:rPr dirty="0"/>
              <a:t>verbatim quote with the actual source text from the database, so the evidence string reflects the</a:t>
            </a:r>
          </a:p>
          <a:p>
            <a:r>
              <a:rPr dirty="0"/>
              <a:t>real paragraph rather than a possibly invented quotation.</a:t>
            </a:r>
          </a:p>
          <a:p>
            <a:endParaRPr dirty="0"/>
          </a:p>
          <a:p>
            <a:r>
              <a:rPr dirty="0"/>
              <a:t>[1:05]  -&gt;  "MAP is the stochastic step and the expensive one - so that's where the cascade goes."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cascade sits on MAP. Three cheap voters from OpenAI and Google run in parallel on every chunk.</a:t>
            </a:r>
          </a:p>
          <a:p>
            <a:r>
              <a:t>A scorer measures how much they agree: it builds a pairwise similarity matrix, takes each voter's</a:t>
            </a:r>
          </a:p>
          <a:p>
            <a:r>
              <a:t>mean similarity to the others, and the agreement score is the MAXIMUM of those means - so the</a:t>
            </a:r>
          </a:p>
          <a:p>
            <a:r>
              <a:t>winning output is the one most aligned with the consensus.</a:t>
            </a:r>
          </a:p>
          <a:p/>
          <a:p>
            <a:r>
              <a:t>That score drives a three-way decision. Above theta, accept the winner and stop. Below a reject</a:t>
            </a:r>
          </a:p>
          <a:p>
            <a:r>
              <a:t>threshold, emit nothing. In between, escalate. Escalation runs the two mid-tier voters, and if</a:t>
            </a:r>
          </a:p>
          <a:p>
            <a:r>
              <a:t>they still disagree it goes to Claude Sonnet, whose output is accepted unconditionally - no scorer</a:t>
            </a:r>
          </a:p>
          <a:p>
            <a:r>
              <a:t>is applied at level three.</a:t>
            </a:r>
          </a:p>
          <a:p/>
          <a:p>
            <a:r>
              <a:t>Two design points that matter for the results. First, every voter runs at temperature zero. The</a:t>
            </a:r>
          </a:p>
          <a:p>
            <a:r>
              <a:t>diversity here is PROVIDER diversity, not sampling noise - a deliberate choice, and it turns out</a:t>
            </a:r>
          </a:p>
          <a:p>
            <a:r>
              <a:t>to be the cascade's most defensible property. Second, and I flag it now because it predicts the</a:t>
            </a:r>
          </a:p>
          <a:p>
            <a:r>
              <a:t>negative result: if the cheap voters disagree often, you pay for them AND for the strong model.</a:t>
            </a:r>
          </a:p>
          <a:p>
            <a:r>
              <a:t>The cascade is only cheaper than always calling the strong model if agreement is common. Hold that</a:t>
            </a:r>
          </a:p>
          <a:p>
            <a:r>
              <a:t>thought.</a:t>
            </a:r>
          </a:p>
          <a:p/>
          <a:p>
            <a:r>
              <a:t>(OPTIONAL: there are also three safety gates - a polarity-conflict hard-fail forcing escalation</a:t>
            </a:r>
          </a:p>
          <a:p>
            <a:r>
              <a:t>when two voters give opposite polarity, a single-voter policy, and a citation-provenance screen.</a:t>
            </a:r>
          </a:p>
          <a:p>
            <a:r>
              <a:t>Their purpose is safety, not strict-F1; backup slide B8 has the numbers.)</a:t>
            </a:r>
          </a:p>
          <a:p/>
          <a:p>
            <a:r>
              <a:t>[1:10]  -&gt;  "That's the system. Now - how do you evaluate it honestly?"</a:t>
            </a:r>
          </a:p>
          <a:p/>
          <a:p>
            <a:r>
              <a:t>JUMPS — if asked:</a:t>
            </a:r>
          </a:p>
          <a:p>
            <a:r>
              <a:t>  the pinned cascade config → B7, slide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This is the machinery behind the accept/reject/escalate decision, and it is worth being precise</a:t>
            </a:r>
          </a:p>
          <a:p>
            <a:r>
              <a:t>because the whole cost argument rests on it.</a:t>
            </a:r>
          </a:p>
          <a:p/>
          <a:p>
            <a:r>
              <a:t>Every voter returns a set of typed findings - not a string, a set of structured records. So</a:t>
            </a:r>
          </a:p>
          <a:p>
            <a:r>
              <a:t>"do they agree?" is not string comparison. I align the two sets one-to-one and score the</a:t>
            </a:r>
          </a:p>
          <a:p>
            <a:r>
              <a:t>alignment. The scorer that won calibration blends four signals, and the weights are on the slide:</a:t>
            </a:r>
          </a:p>
          <a:p>
            <a:r>
              <a:t>entity overlap dominates at 0.50, claim embedding 0.30, category agreement 0.15, and cited</a:t>
            </a:r>
          </a:p>
          <a:p>
            <a:r>
              <a:t>evidence 0.05. That entity-heavy weighting was selected empirically, not chosen by hand.</a:t>
            </a:r>
          </a:p>
          <a:p/>
          <a:p>
            <a:r>
              <a:t>Then, for each voter, take its mean similarity to all the others. The chunk's agreement score is</a:t>
            </a:r>
          </a:p>
          <a:p>
            <a:r>
              <a:t>the maximum of those means, and the winner is the voter that achieved it - the most</a:t>
            </a:r>
          </a:p>
          <a:p>
            <a:r>
              <a:t>consensus-aligned output. Ties break on grounding quality: how many findings carry a real evidence</a:t>
            </a:r>
          </a:p>
          <a:p>
            <a:r>
              <a:t>chain.</a:t>
            </a:r>
          </a:p>
          <a:p/>
          <a:p>
            <a:r>
              <a:t>The line I would underline is the last one. This measures agreement, not correctness. If all five</a:t>
            </a:r>
          </a:p>
          <a:p>
            <a:r>
              <a:t>voters share a misconception they will agree strongly and the cascade will accept confidently and</a:t>
            </a:r>
          </a:p>
          <a:p>
            <a:r>
              <a:t>cheaply. Nothing in the scorer detects that. That is precisely why grounding runs afterwards</a:t>
            </a:r>
          </a:p>
          <a:p>
            <a:r>
              <a:t>against the source text, and why I kept the grounding filter even though it costs six strict-F1</a:t>
            </a:r>
          </a:p>
          <a:p>
            <a:r>
              <a:t>points.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scorer internals, degenerate voter counts → E11, slide 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Four frozen datasets, and I want the disclosure on the table before any result.</a:t>
            </a:r>
          </a:p>
          <a:p/>
          <a:p>
            <a:r>
              <a:t>The corpus is 977 histopathology papers from PMC Open Access. The rubric set for RQ1 is 27 PDFs I</a:t>
            </a:r>
          </a:p>
          <a:p>
            <a:r>
              <a:t>annotated by hand against a written four-dimension rubric - the only human labels in the thesis,</a:t>
            </a:r>
          </a:p>
          <a:p>
            <a:r>
              <a:t>and I annotated them alone, which I come back to as a limitation.</a:t>
            </a:r>
          </a:p>
          <a:p/>
          <a:p>
            <a:r>
              <a:t>The calibration cluster is fifteen papers selected by an integer linear program maximising</a:t>
            </a:r>
          </a:p>
          <a:p>
            <a:r>
              <a:t>pairwise relatedness, so the cascade is calibrated on papers that genuinely share vocabulary. The</a:t>
            </a:r>
          </a:p>
          <a:p>
            <a:r>
              <a:t>held-out set is fifteen more, sampled randomly and disjoint. And the relation-classifier set is</a:t>
            </a:r>
          </a:p>
          <a:p>
            <a:r>
              <a:t>three hundred synthetic claim pairs, a hundred per class, generated label-first - the label was</a:t>
            </a:r>
          </a:p>
          <a:p>
            <a:r>
              <a:t>chosen and then a pair was written to fit it.</a:t>
            </a:r>
          </a:p>
          <a:p/>
          <a:p>
            <a:r>
              <a:t>The orange column is the honest part. For everything except RQ1, the reference labels come from</a:t>
            </a:r>
          </a:p>
          <a:p>
            <a:r>
              <a:t>Claude Opus 4.7. So when I say strict-F1 of 0.716, that means agreement with Opus. It is not</a:t>
            </a:r>
          </a:p>
          <a:p>
            <a:r>
              <a:t>agreement with a pathologist. That bound cannot be lifted by any experiment in this thesis, and it</a:t>
            </a:r>
          </a:p>
          <a:p>
            <a:r>
              <a:t>is the first thing I would fix with more time.</a:t>
            </a:r>
          </a:p>
          <a:p/>
          <a:p>
            <a:r>
              <a:t>Note also: 2,223 is the count of SILVER findings. The 2,294 you will see on the next slide is the</a:t>
            </a:r>
          </a:p>
          <a:p>
            <a:r>
              <a:t>count of PIPELINE findings. Different quantities.</a:t>
            </a:r>
          </a:p>
          <a:p/>
          <a:p>
            <a:r>
              <a:t>[1:10]  -&gt;  "Starting with the one place I do have human labels - RQ1."</a:t>
            </a:r>
          </a:p>
          <a:p/>
          <a:p>
            <a:r>
              <a:t>JUMPS — if asked:</a:t>
            </a:r>
          </a:p>
          <a:p>
            <a:r>
              <a:t>  why these 15 papers → B3, slide 27</a:t>
            </a:r>
          </a:p>
          <a:p>
            <a:r>
              <a:t>  how a finding is matched to silver → B6, slide 30</a:t>
            </a:r>
          </a:p>
          <a:p/>
          <a:p>
            <a:r>
              <a:t>Chain: this slide → B6 → B3 if they push on whether silver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only slide backed by human labels, and the metric is deliberately harsh. Strict-F1</a:t>
            </a:r>
          </a:p>
          <a:p>
            <a:r>
              <a:t>counts a table as a true positive only if it scores perfectly on EVERY applicable dimension - crop</a:t>
            </a:r>
          </a:p>
          <a:p>
            <a:r>
              <a:t>geometry, caption, footnote, and masking. A near-miss earns zero. No partial credit.</a:t>
            </a:r>
          </a:p>
          <a:p/>
          <a:p>
            <a:r>
              <a:t>Tables go from 0.366 to 0.838. Figures from 0.447 to 0.840. Roughly double, on both.</a:t>
            </a:r>
          </a:p>
          <a:p/>
          <a:p>
            <a:r>
              <a:t>But the attribution matters more than the headline. Adding the second table detector on its own</a:t>
            </a:r>
          </a:p>
          <a:p>
            <a:r>
              <a:t>moves strict-F1 from 0.400 to 0.420 - almost nothing. Adding footnote expansion on its own gets</a:t>
            </a:r>
          </a:p>
          <a:p>
            <a:r>
              <a:t>you to 0.800. The two together give 0.838. So the dominant lever is FOOTNOTES: footnote precision</a:t>
            </a:r>
          </a:p>
          <a:p>
            <a:r>
              <a:t>goes from 43.8 to 91.4 percent. The hybrid detector is not what produced the headline - it</a:t>
            </a:r>
          </a:p>
          <a:p>
            <a:r>
              <a:t>recovers tables missed entirely, like the split table you just saw, which is a smaller population</a:t>
            </a:r>
          </a:p>
          <a:p>
            <a:r>
              <a:t>but the one that matters for recall.</a:t>
            </a:r>
          </a:p>
          <a:p/>
          <a:p>
            <a:r>
              <a:t>For figures the gain is post-processing rather than detection: the decorative-icon filter cuts</a:t>
            </a:r>
          </a:p>
          <a:p>
            <a:r>
              <a:t>false positives from 73 to 14, and my caption matcher takes correct captions from 61 to 90 percent.</a:t>
            </a:r>
          </a:p>
          <a:p>
            <a:r>
              <a:t>Those two mechanisms account for the whole 139 -&gt; 76 reduction. The thesis names a third,</a:t>
            </a:r>
          </a:p>
          <a:p>
            <a:r>
              <a:t>sub-figure merging; after submission I verified it never runs. The sub-figure audit slide has the evidence.</a:t>
            </a:r>
          </a:p>
          <a:p/>
          <a:p>
            <a:r>
              <a:t>One honest cost on the bottom line: expanding table crops downward slightly hurts masking -</a:t>
            </a:r>
          </a:p>
          <a:p>
            <a:r>
              <a:t>mask-F1 drops from 94.3 to 91.9 - because a larger crop sometimes covers text that should have</a:t>
            </a:r>
          </a:p>
          <a:p>
            <a:r>
              <a:t>stayed. I took that trade knowingly.</a:t>
            </a:r>
          </a:p>
          <a:p/>
          <a:p>
            <a:r>
              <a:t>[1:10]  -&gt;  "So the document layer works. What does the knowledge layer produce on top of it?"</a:t>
            </a:r>
          </a:p>
          <a:p/>
          <a:p>
            <a:r>
              <a:t>JUMPS — if asked:</a:t>
            </a:r>
          </a:p>
          <a:p>
            <a:r>
              <a:t>  the rubric → B4, slide 28</a:t>
            </a:r>
          </a:p>
          <a:p>
            <a:r>
              <a:t>  the full sweep → B5, slide 29</a:t>
            </a:r>
          </a:p>
          <a:p>
            <a:r>
              <a:t>  detector false positives → E8, slide 48</a:t>
            </a:r>
          </a:p>
          <a:p>
            <a:r>
              <a:t>  what the baseline missed → E9, slide 49</a:t>
            </a:r>
          </a:p>
          <a:p>
            <a:r>
              <a:t>  the figure-gain correction — volunteer this → the audit slide, slide 24</a:t>
            </a:r>
          </a:p>
          <a:p/>
          <a:p>
            <a:r>
              <a:t>Chain: this slide → B4 → B5 → E8/E9 for depth on document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is the mechanism behind the RQ1 headline, and it is almost embarrassingly simple: extend the</a:t>
            </a:r>
          </a:p>
          <a:p>
            <a:r>
              <a:rPr dirty="0"/>
              <a:t>table crop downward by twenty percent and re-check what falls inside.</a:t>
            </a:r>
          </a:p>
          <a:p>
            <a:endParaRPr dirty="0"/>
          </a:p>
          <a:p>
            <a:r>
              <a:rPr dirty="0"/>
              <a:t>The green band is what the pipeline added. Everything in it is the footnote block - the</a:t>
            </a:r>
          </a:p>
          <a:p>
            <a:r>
              <a:rPr dirty="0"/>
              <a:t>significance note, the abbreviation key, the two dagger footnotes. </a:t>
            </a:r>
            <a:r>
              <a:rPr dirty="0" err="1"/>
              <a:t>Docling's</a:t>
            </a:r>
            <a:r>
              <a:rPr dirty="0"/>
              <a:t> crop stops at the</a:t>
            </a:r>
          </a:p>
          <a:p>
            <a:r>
              <a:rPr dirty="0"/>
              <a:t>last data row, which is a perfectly reasonable definition of "the table" and completely wrong for</a:t>
            </a:r>
          </a:p>
          <a:p>
            <a:r>
              <a:rPr dirty="0"/>
              <a:t>downstream use: those footnotes carry the abbreviation expansions and the significance markers</a:t>
            </a:r>
          </a:p>
          <a:p>
            <a:r>
              <a:rPr dirty="0"/>
              <a:t>that make the numbers interpretable.</a:t>
            </a:r>
          </a:p>
          <a:p>
            <a:endParaRPr dirty="0"/>
          </a:p>
          <a:p>
            <a:r>
              <a:rPr dirty="0"/>
              <a:t>Footnote precision goes from 43.8 to 91.4 percent. On its own this one change takes table</a:t>
            </a:r>
          </a:p>
          <a:p>
            <a:r>
              <a:rPr dirty="0"/>
              <a:t>strict-F1 from 0.400 to 0.800 - it is worth more than the second detector by a wide margin.</a:t>
            </a:r>
          </a:p>
          <a:p>
            <a:endParaRPr dirty="0"/>
          </a:p>
          <a:p>
            <a:r>
              <a:rPr dirty="0"/>
              <a:t>And the honest cost is on the right in orange: a bigger crop sometimes swallows body text that</a:t>
            </a:r>
          </a:p>
          <a:p>
            <a:r>
              <a:rPr dirty="0"/>
              <a:t>should have stayed in the running text, so mask-F1 drops about two and a half points. I took that</a:t>
            </a:r>
          </a:p>
          <a:p>
            <a:r>
              <a:rPr dirty="0"/>
              <a:t>trade knowingly.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papers, frozen configuration. MAP produces 2,294 findings - note this is the count of</a:t>
            </a:r>
          </a:p>
          <a:p>
            <a:r>
              <a:t>PIPELINE findings, not the 2,223 silver labels. Grounding removes about sixteen percent.</a:t>
            </a:r>
          </a:p>
          <a:p>
            <a:r>
              <a:t>Everything after that barely moves the count - deduplication removes three percent, grouping two</a:t>
            </a:r>
          </a:p>
          <a:p>
            <a:r>
              <a:t>percent - and we end with 1,747 canonical rules, which are also the 1,747 final rules. About 117</a:t>
            </a:r>
          </a:p>
          <a:p>
            <a:r>
              <a:t>rules per paper.</a:t>
            </a:r>
          </a:p>
          <a:p/>
          <a:p>
            <a:r>
              <a:t>That shallow funnel is itself a finding. It says the findings coming out of MAP are already mostly</a:t>
            </a:r>
          </a:p>
          <a:p>
            <a:r>
              <a:t>atomic and distinct - not redundant restatements of each other. If they had been, consolidation</a:t>
            </a:r>
          </a:p>
          <a:p>
            <a:r>
              <a:t>would have collapsed them.</a:t>
            </a:r>
          </a:p>
          <a:p/>
          <a:p>
            <a:r>
              <a:t>The number on the right is the one I would defend hardest. All 1,747 final rules resolve to at</a:t>
            </a:r>
          </a:p>
          <a:p>
            <a:r>
              <a:t>least one source paragraph in their own paper. Not 99 percent - all of them. And that is not luck;</a:t>
            </a:r>
          </a:p>
          <a:p>
            <a:r>
              <a:t>it is structural. A rule cannot exist in the data model without its back-pointer chain. Figures and</a:t>
            </a:r>
          </a:p>
          <a:p>
            <a:r>
              <a:t>tables likewise carry page and bounding box a hundred percent of the time.</a:t>
            </a:r>
          </a:p>
          <a:p/>
          <a:p>
            <a:r>
              <a:t>Two honest gaps in grey. Only 86 percent of figures have a caption attached - rotated figures and</a:t>
            </a:r>
          </a:p>
          <a:p>
            <a:r>
              <a:t>side captions defeat the geometric matcher. And cross-reference linking, connecting "as shown in</a:t>
            </a:r>
          </a:p>
          <a:p>
            <a:r>
              <a:t>Figure 3" to the actual figure, resolves only around half the time. That one is not used</a:t>
            </a:r>
          </a:p>
          <a:p>
            <a:r>
              <a:t>downstream, so it does not affect the rules - but it is not solved.</a:t>
            </a:r>
          </a:p>
          <a:p/>
          <a:p>
            <a:r>
              <a:t>[1:00]  -&gt;  "Those rules came out of the cascade. Was the cascade worth it? First, how it's tuned."</a:t>
            </a:r>
          </a:p>
          <a:p/>
          <a:p>
            <a:r>
              <a:t>JUMPS — if asked:</a:t>
            </a:r>
          </a:p>
          <a:p>
            <a:r>
              <a:t>  provenance chain and offline replay → B14, slide 38</a:t>
            </a:r>
          </a:p>
          <a:p>
            <a:r>
              <a:t>  the corpus graph, contradictions → E5, slide 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Abstractions are easy to nod along to, so here is one actual rule, taken verbatim from the frozen</a:t>
            </a:r>
          </a:p>
          <a:p>
            <a:r>
              <a:t>output.</a:t>
            </a:r>
          </a:p>
          <a:p>
            <a:endParaRPr/>
          </a:p>
          <a:p>
            <a:r>
              <a:t>The subject is PHH3, a mitosis marker. The outcome is survival. The relation type is prognostic,</a:t>
            </a:r>
          </a:p>
          <a:p>
            <a:r>
              <a:t>the direction negative, the category prognosis. The predicate is the model's own compressed</a:t>
            </a:r>
          </a:p>
          <a:p>
            <a:r>
              <a:t>statement: PHH3 is an independent predictor of survival in a Cox regression model.</a:t>
            </a:r>
          </a:p>
          <a:p>
            <a:endParaRPr/>
          </a:p>
          <a:p>
            <a:r>
              <a:t>The grounding score is 0.9997 - that is the NLI model checking the claim against the paragraph it</a:t>
            </a:r>
          </a:p>
          <a:p>
            <a:r>
              <a:t>cites, and it is about as confident as it gets.</a:t>
            </a:r>
          </a:p>
          <a:p>
            <a:endParaRPr/>
          </a:p>
          <a:p>
            <a:r>
              <a:t>Two fields I want to draw out. First, the ID chain. member_normal_ids points at the two normalized</a:t>
            </a:r>
          </a:p>
          <a:p>
            <a:r>
              <a:t>findings this rule was built from; those point back at MAP findings, which point at text elements,</a:t>
            </a:r>
          </a:p>
          <a:p>
            <a:r>
              <a:t>which carry page and bounding box. That is the provenance chain, and it is data, not documentation</a:t>
            </a:r>
          </a:p>
          <a:p>
            <a:r>
              <a:t>- you can follow it in the database.</a:t>
            </a:r>
          </a:p>
          <a:p>
            <a:endParaRPr/>
          </a:p>
          <a:p>
            <a:r>
              <a:t>Second, is_conflicted is True. That means the group this rule came from contained more than one</a:t>
            </a:r>
          </a:p>
          <a:p>
            <a:r>
              <a:t>polarity - somewhere in the source there is a statement pointing the other way. The system does</a:t>
            </a:r>
          </a:p>
          <a:p>
            <a:r>
              <a:t>not silently pick a winner and hide that; it flags the group and keeps both directions, because</a:t>
            </a:r>
          </a:p>
          <a:p>
            <a:r>
              <a:t>the point is to surface candidates for a human, not to adjudicate.</a:t>
            </a:r>
          </a:p>
          <a:p>
            <a:endParaRPr/>
          </a:p>
          <a:p>
            <a:r>
              <a:t>And the final score of 0.62 is a ranking signal. It is not a probability, and the thesis says so.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Calibration, on the fifteen related papers, 474 chunks.</a:t>
            </a:r>
          </a:p>
          <a:p/>
          <a:p>
            <a:r>
              <a:t>The blue line is quality against the agreement threshold theta. It rises and then flattens - going</a:t>
            </a:r>
          </a:p>
          <a:p>
            <a:r>
              <a:t>from 0.7 to 0.8 buys about five points of strict-F1, but 0.8 to 0.9 buys 0.0085. Less than one</a:t>
            </a:r>
          </a:p>
          <a:p>
            <a:r>
              <a:t>point.</a:t>
            </a:r>
          </a:p>
          <a:p/>
          <a:p>
            <a:r>
              <a:t>The orange line is why this slide exists. Escalation rate climbs with theta, and at the operating</a:t>
            </a:r>
          </a:p>
          <a:p>
            <a:r>
              <a:t>point I pinned - theta of 0.9 - 95.6 percent of chunks escalate. Almost every chunk ends up at</a:t>
            </a:r>
          </a:p>
          <a:p>
            <a:r>
              <a:t>Claude Sonnet anyway.</a:t>
            </a:r>
          </a:p>
          <a:p/>
          <a:p>
            <a:r>
              <a:t>I want to state the implication plainly rather than let you find it: at that setting the cascade is</a:t>
            </a:r>
          </a:p>
          <a:p>
            <a:r>
              <a:t>barely a cascade. It is a strong model with an expensive pre-filter attached. The cheap voters are</a:t>
            </a:r>
          </a:p>
          <a:p>
            <a:r>
              <a:t>still paid for on every chunk, and they resolve only about one chunk in twenty on their own. That</a:t>
            </a:r>
          </a:p>
          <a:p>
            <a:r>
              <a:t>is not a tuning bug - it is what agreement looks like on this task, where the schema is rich and</a:t>
            </a:r>
          </a:p>
          <a:p>
            <a:r>
              <a:t>the voters genuinely disagree about direction and category.</a:t>
            </a:r>
          </a:p>
          <a:p/>
          <a:p>
            <a:r>
              <a:t>So the obvious question is: should you just call the strong model directly?</a:t>
            </a:r>
          </a:p>
          <a:p/>
          <a:p>
            <a:r>
              <a:t>[1:00]  -&gt;  "That question is RQ3, and it's the thesis's central negative result."</a:t>
            </a:r>
          </a:p>
          <a:p/>
          <a:p>
            <a:r>
              <a:t>JUMPS — if asked:</a:t>
            </a:r>
          </a:p>
          <a:p>
            <a:r>
              <a:t>  θ sweep and the gate ablation → B8, slide 32</a:t>
            </a:r>
          </a:p>
          <a:p>
            <a:r>
              <a:t>  how findings are matched → B6, slide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A reasonable question is whether the shipped configuration was tuned or just picked. This is the</a:t>
            </a:r>
          </a:p>
          <a:p>
            <a:r>
              <a:t>audit trail.</a:t>
            </a:r>
          </a:p>
          <a:p/>
          <a:p>
            <a:r>
              <a:t>Six stages, in this order, each fixing one knob and handing the rest forward. E05 screens the</a:t>
            </a:r>
          </a:p>
          <a:p>
            <a:r>
              <a:t>structural choices - which embedder, which scorer, which alignment strategy - twelve combinations,</a:t>
            </a:r>
          </a:p>
          <a:p>
            <a:r>
              <a:t>and the structured hybrid scorer beats plain embedding similarity on every embedder, which is the</a:t>
            </a:r>
          </a:p>
          <a:p>
            <a:r>
              <a:t>cleanest result in the whole calibration. E06 refines the blend weights and lands on the</a:t>
            </a:r>
          </a:p>
          <a:p>
            <a:r>
              <a:t>entity-heavy mix. E06b and E06c ask whether any voter is carrying its weight, and dropping Claude</a:t>
            </a:r>
          </a:p>
          <a:p>
            <a:r>
              <a:t>Haiku turns out to be quality-neutral at eighteen percent lower cost, which is how the six-voter</a:t>
            </a:r>
          </a:p>
          <a:p>
            <a:r>
              <a:t>pool became five. E07 sweeps the thresholds. E08 ablates the gates. E08b produces the final curve.</a:t>
            </a:r>
          </a:p>
          <a:p/>
          <a:p>
            <a:r>
              <a:t>Two things I would defend here. First, the order is deliberate: fixing one knob at a time makes</a:t>
            </a:r>
          </a:p>
          <a:p>
            <a:r>
              <a:t>the search linear instead of combinatorial, at the cost of assuming the knobs are roughly</a:t>
            </a:r>
          </a:p>
          <a:p>
            <a:r>
              <a:t>separable. That assumption is not tested, and I would list it as a limitation.</a:t>
            </a:r>
          </a:p>
          <a:p/>
          <a:p>
            <a:r>
              <a:t>Second, and this is the part I am proudest of: all six replay from cached voter outputs. Every</a:t>
            </a:r>
          </a:p>
          <a:p>
            <a:r>
              <a:t>number on this slide can be regenerated on a laptop with no network and no spend, byte-identical.</a:t>
            </a:r>
          </a:p>
          <a:p>
            <a:r>
              <a:t>That is what makes the calibration auditable rather than a story about what I did in June.</a:t>
            </a:r>
          </a:p>
          <a:p/>
          <a:p>
            <a:r>
              <a:t>[1:15]</a:t>
            </a:r>
          </a:p>
          <a:p/>
          <a:p>
            <a:r>
              <a:t>JUMPS — if asked:</a:t>
            </a:r>
          </a:p>
          <a:p>
            <a:r>
              <a:t>  the config of record → B7, slide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result I would lead with if I could only report one, and it is a negative one.</a:t>
            </a:r>
          </a:p>
          <a:p/>
          <a:p>
            <a:r>
              <a:t>The cascade at its best setting reaches 0.7160 at a cost of 23.66 per chunk. A single Claude</a:t>
            </a:r>
          </a:p>
          <a:p>
            <a:r>
              <a:t>Sonnet call reaches 0.7129 at 18.00. The difference is +0.0031, and the ninety-five percent</a:t>
            </a:r>
          </a:p>
          <a:p>
            <a:r>
              <a:t>confidence interval from a paper-level clustered paired bootstrap - ten thousand resamples, papers</a:t>
            </a:r>
          </a:p>
          <a:p>
            <a:r>
              <a:t>as the sampling unit - runs from minus 0.0002 to plus 0.0068. It crosses zero. THIS IS NOT A</a:t>
            </a:r>
          </a:p>
          <a:p>
            <a:r>
              <a:t>STATISTICALLY SIGNIFICANT IMPROVEMENT. And the single model is about twenty-four percent cheaper.</a:t>
            </a:r>
          </a:p>
          <a:p/>
          <a:p>
            <a:r>
              <a:t>So under the silver cost-quality criterion, the cascade is not cost-justified against the strong</a:t>
            </a:r>
          </a:p>
          <a:p>
            <a:r>
              <a:t>single model. I say that in those words because it would be easy to describe 0.7160 versus 0.7129</a:t>
            </a:r>
          </a:p>
          <a:p>
            <a:r>
              <a:t>as "the cascade wins" and technically not be lying.</a:t>
            </a:r>
          </a:p>
          <a:p/>
          <a:p>
            <a:r>
              <a:t>The other half is real too, and the plot shows it. Against every OTHER single model the cascade</a:t>
            </a:r>
          </a:p>
          <a:p>
            <a:r>
              <a:t>wins by between six and twenty-six points, all significant. The next best single model, Haiku,</a:t>
            </a:r>
          </a:p>
          <a:p>
            <a:r>
              <a:t>trails by more than six strict-F1 points. So this is not "the cascade doesn't work" - it is "the</a:t>
            </a:r>
          </a:p>
          <a:p>
            <a:r>
              <a:t>cascade doesn't beat the one model that is already very good and already cheaper".</a:t>
            </a:r>
          </a:p>
          <a:p/>
          <a:p>
            <a:r>
              <a:t>One counter-consideration, stated carefully. The silver labels come from Claude Opus; the Sonnet</a:t>
            </a:r>
          </a:p>
          <a:p>
            <a:r>
              <a:t>baseline is also Anthropic. There is a plausible family-resemblance advantage for Sonnet, and the</a:t>
            </a:r>
          </a:p>
          <a:p>
            <a:r>
              <a:t>cascade's five voters are entirely non-Anthropic. So the measured gap is arguably conservative.</a:t>
            </a:r>
          </a:p>
          <a:p>
            <a:r>
              <a:t>But I did NOT measure that effect - I cannot quantify it, and it does not turn a null result into</a:t>
            </a:r>
          </a:p>
          <a:p>
            <a:r>
              <a:t>a positive one. Removing it needs human labels.</a:t>
            </a:r>
          </a:p>
          <a:p/>
          <a:p>
            <a:r>
              <a:t>If asked about cost units: it is a price-weighted unit from a hand-compiled price book of provider</a:t>
            </a:r>
          </a:p>
          <a:p>
            <a:r>
              <a:t>list prices. The thesis does not state a currency - a genuine gap in the write-up.</a:t>
            </a:r>
          </a:p>
          <a:p/>
          <a:p>
            <a:r>
              <a:t>(OPTIONAL: the knee point, theta = 0.8, is 0.7067 for 21.80 - knee to quality buys one point of</a:t>
            </a:r>
          </a:p>
          <a:p>
            <a:r>
              <a:t>strict-F1 for 8.5 percent more cost, and the knee is itself dominated by single-Sonnet on both</a:t>
            </a:r>
          </a:p>
          <a:p>
            <a:r>
              <a:t>axes.)</a:t>
            </a:r>
          </a:p>
          <a:p/>
          <a:p>
            <a:r>
              <a:t>[1:30]  -&gt;  "RQ4 is a cleaner result: one frozen model doing two jobs."</a:t>
            </a:r>
          </a:p>
          <a:p/>
          <a:p>
            <a:r>
              <a:t>JUMPS — if asked:</a:t>
            </a:r>
          </a:p>
          <a:p>
            <a:r>
              <a:t>  cost model, operating points, baselines → B9, slide 33</a:t>
            </a:r>
          </a:p>
          <a:p>
            <a:r>
              <a:t>  why nothing sits between cheap and expensive → B15, slide 39</a:t>
            </a:r>
          </a:p>
          <a:p>
            <a:r>
              <a:t>  significance testing → B10, slide 34</a:t>
            </a:r>
          </a:p>
          <a:p/>
          <a:p>
            <a:r>
              <a:t>Chain: this slide → B9 → B15 is the likeliest sequence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One model, frozen, no fine-tuning: a PubMedBERT cross-encoder fine-tuned on MNLI and MedNLI. It</a:t>
            </a:r>
          </a:p>
          <a:p>
            <a:r>
              <a:t>does two different jobs.</a:t>
            </a:r>
          </a:p>
          <a:p/>
          <a:p>
            <a:r>
              <a:t>Job one is grounding. For each extracted claim I run entailment against the paragraph the claim</a:t>
            </a:r>
          </a:p>
          <a:p>
            <a:r>
              <a:t>cites. The left panel shows the distribution, strongly bimodal - 77.5 percent above 0.9, about 14</a:t>
            </a:r>
          </a:p>
          <a:p>
            <a:r>
              <a:t>percent below 0.3. Very little in the middle, which is reassuring: the model is mostly confident,</a:t>
            </a:r>
          </a:p>
          <a:p>
            <a:r>
              <a:t>in both directions.</a:t>
            </a:r>
          </a:p>
          <a:p/>
          <a:p>
            <a:r>
              <a:t>Now the honest part. Turning the filter OFF gives the best strict-F1 - 0.716. Setting it at 0.5</a:t>
            </a:r>
          </a:p>
          <a:p>
            <a:r>
              <a:t>drops that to 0.652. Six points. And of the 371 findings the filter removes, about 86 percent</a:t>
            </a:r>
          </a:p>
          <a:p>
            <a:r>
              <a:t>actually agreed with the Opus silver labels.</a:t>
            </a:r>
          </a:p>
          <a:p/>
          <a:p>
            <a:r>
              <a:t>I kept the filter anyway, and I want to defend that rather than apologise for it. What the filter</a:t>
            </a:r>
          </a:p>
          <a:p>
            <a:r>
              <a:t>enforces is that a claim is entailed by the text it points at. A finding that agrees with Opus but</a:t>
            </a:r>
          </a:p>
          <a:p>
            <a:r>
              <a:t>is not supported by its own cited paragraph is exactly the failure mode this thesis exists to</a:t>
            </a:r>
          </a:p>
          <a:p>
            <a:r>
              <a:t>prevent. Six points of agreement-with-a-labeller, traded for a property the labeller cannot</a:t>
            </a:r>
          </a:p>
          <a:p>
            <a:r>
              <a:t>measure. The right panel of the figure shows what it buys: recall falls as the threshold rises,</a:t>
            </a:r>
          </a:p>
          <a:p>
            <a:r>
              <a:t>precision stays flat.</a:t>
            </a:r>
          </a:p>
          <a:p/>
          <a:p>
            <a:r>
              <a:t>Job two is relation classification - SUPPORT, CONTRADICT, UNRELATED between two claims. About 92</a:t>
            </a:r>
          </a:p>
          <a:p>
            <a:r>
              <a:t>percent accuracy on three hundred synthetic pairs. But read that with the orange caveat: the set</a:t>
            </a:r>
          </a:p>
          <a:p>
            <a:r>
              <a:t>is class-balanced, synthetic, and generated label-first, which makes it easier than reality. It is</a:t>
            </a:r>
          </a:p>
          <a:p>
            <a:r>
              <a:t>an optimistic ceiling. Relations extracted from the real corpus have no labels at all, so I could</a:t>
            </a:r>
          </a:p>
          <a:p>
            <a:r>
              <a:t>not measure this on production output.</a:t>
            </a:r>
          </a:p>
          <a:p/>
          <a:p>
            <a:r>
              <a:t>[1:05]  -&gt;  "One question left: does any of this survive on papers I didn't calibrate on?"</a:t>
            </a:r>
          </a:p>
          <a:p/>
          <a:p>
            <a:r>
              <a:t>JUMPS — if asked:</a:t>
            </a:r>
          </a:p>
          <a:p>
            <a:r>
              <a:t>  grounding threshold trade-off → B11, slide 35</a:t>
            </a:r>
          </a:p>
          <a:p>
            <a:r>
              <a:t>  relation classification per class → B12, slide 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new papers, sampled randomly, disjoint from calibration. The configuration was frozen</a:t>
            </a:r>
          </a:p>
          <a:p>
            <a:r>
              <a:t>before I ran this - theta, the voter set, the weights, the thresholds, all fixed.</a:t>
            </a:r>
          </a:p>
          <a:p/>
          <a:p>
            <a:r>
              <a:t>Strict-F1 goes from 0.7160 to 0.7128. A gap of 0.0032, inside the bootstrap noise band. Loose-F1,</a:t>
            </a:r>
          </a:p>
          <a:p>
            <a:r>
              <a:t>precision, recall all track. The funnel keeps its shape, and provenance is again a hundred percent</a:t>
            </a:r>
          </a:p>
          <a:p>
            <a:r>
              <a:t>- 1,273 out of 1,273 rules.</a:t>
            </a:r>
          </a:p>
          <a:p/>
          <a:p>
            <a:r>
              <a:t>One thing to read carefully: the curve on the left is DESCRIPTIVE. I did not tune theta on the</a:t>
            </a:r>
          </a:p>
          <a:p>
            <a:r>
              <a:t>held-out set - that would defeat the purpose. It is shown so you can see the two curves have the</a:t>
            </a:r>
          </a:p>
          <a:p>
            <a:r>
              <a:t>same shape and the same diminishing-returns knee above 0.8.</a:t>
            </a:r>
          </a:p>
          <a:p/>
          <a:p>
            <a:r>
              <a:t>And one number that moved: escalation goes from 95.6 to 99.0 percent. On papers the calibration</a:t>
            </a:r>
          </a:p>
          <a:p>
            <a:r>
              <a:t>never saw, the cheap voters agree even less often. That reinforces the RQ3 conclusion rather than</a:t>
            </a:r>
          </a:p>
          <a:p>
            <a:r>
              <a:t>softening it - the cascade's economics get WORSE on unfamiliar material.</a:t>
            </a:r>
          </a:p>
          <a:p/>
          <a:p>
            <a:r>
              <a:t>Finally, the claim this licenses is narrow, and I bound it myself: this shows the configuration</a:t>
            </a:r>
          </a:p>
          <a:p>
            <a:r>
              <a:t>does not overfit related15. It does NOT show generalization to other biomedical subfields, to</a:t>
            </a:r>
          </a:p>
          <a:p>
            <a:r>
              <a:t>non-PMC papers, or to non-English literature. Those are untested.</a:t>
            </a:r>
          </a:p>
          <a:p/>
          <a:p>
            <a:r>
              <a:t>[0:50]  -&gt;  "Which brings me to what these numbers do not support."</a:t>
            </a:r>
          </a:p>
          <a:p/>
          <a:p>
            <a:r>
              <a:t>JUMPS — if asked:</a:t>
            </a:r>
          </a:p>
          <a:p>
            <a:r>
              <a:t>  the held-out funnel → B13, slide 37</a:t>
            </a:r>
          </a:p>
          <a:p>
            <a:r>
              <a:t>  significance testing → B10, slide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 would rather state these than be asked them.</a:t>
            </a:r>
          </a:p>
          <a:p/>
          <a:p>
            <a:r>
              <a:t>The first bounds everything after RQ1. Strict-F1 measures agreement with Claude Opus. If Opus is</a:t>
            </a:r>
          </a:p>
          <a:p>
            <a:r>
              <a:t>systematically wrong about something, my pipeline is rewarded for being wrong the same way, and no</a:t>
            </a:r>
          </a:p>
          <a:p>
            <a:r>
              <a:t>experiment inside this design detects that. It needs expert annotation - the top item in future</a:t>
            </a:r>
          </a:p>
          <a:p>
            <a:r>
              <a:t>work.</a:t>
            </a:r>
          </a:p>
          <a:p/>
          <a:p>
            <a:r>
              <a:t>The second is sharper and aimed at RQ3. My level-three fallback is Sonnet, my silver labeller is</a:t>
            </a:r>
          </a:p>
          <a:p>
            <a:r>
              <a:t>Opus - same provider, same model family. So a Sonnet-heavy system may match the silver partly</a:t>
            </a:r>
          </a:p>
          <a:p>
            <a:r>
              <a:t>through family resemblance. I argued earlier this makes my null result conservative; that is a</a:t>
            </a:r>
          </a:p>
          <a:p>
            <a:r>
              <a:t>REASONED EXPECTATION, not a measurement. I did not quantify it.</a:t>
            </a:r>
          </a:p>
          <a:p/>
          <a:p>
            <a:r>
              <a:t>Third, the one place I have human labels is small: 27 papers, annotated by me alone, no second</a:t>
            </a:r>
          </a:p>
          <a:p>
            <a:r>
              <a:t>annotator and therefore no inter-annotator agreement. Those results show a clear trend -</a:t>
            </a:r>
          </a:p>
          <a:p>
            <a:r>
              <a:t>near-doubling is not a rounding artefact - but the individual percentages should not be read to</a:t>
            </a:r>
          </a:p>
          <a:p>
            <a:r>
              <a:t>the decimal.</a:t>
            </a:r>
          </a:p>
          <a:p/>
          <a:p>
            <a:r>
              <a:t>Fourth, the 92 percent relation accuracy is on synthetic, class-balanced, label-first data. A</a:t>
            </a:r>
          </a:p>
          <a:p>
            <a:r>
              <a:t>ceiling.</a:t>
            </a:r>
          </a:p>
          <a:p/>
          <a:p>
            <a:r>
              <a:t>And the scope line: English, open-access, histopathology. The system emits candidates for a domain</a:t>
            </a:r>
          </a:p>
          <a:p>
            <a:r>
              <a:t>expert to validate. The confidence scores are ranking signals - not clinical probabilities, and</a:t>
            </a:r>
          </a:p>
          <a:p>
            <a:r>
              <a:t>nothing here should be read as a diagnostic claim.</a:t>
            </a:r>
          </a:p>
          <a:p/>
          <a:p>
            <a:r>
              <a:t>[0:55]  -&gt;  "So - five questions. Here are the five answers."</a:t>
            </a:r>
          </a:p>
          <a:p/>
          <a:p>
            <a:r>
              <a:t>JUMPS — if asked:</a:t>
            </a:r>
          </a:p>
          <a:p>
            <a:r>
              <a:t>  novelty vs related work → E6, slide 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Five questions, five answers.</a:t>
            </a:r>
          </a:p>
          <a:p/>
          <a:p>
            <a:r>
              <a:t>RQ1 - met. Document extraction roughly doubles strict-F1 on both tables and figures against human</a:t>
            </a:r>
          </a:p>
          <a:p>
            <a:r>
              <a:t>labels.</a:t>
            </a:r>
          </a:p>
          <a:p/>
          <a:p>
            <a:r>
              <a:t>RQ2 - met. 0.7160 strict-F1 at the MAP stage, and provenance is complete: every one of 1,747 rules</a:t>
            </a:r>
          </a:p>
          <a:p>
            <a:r>
              <a:t>resolves to a source paragraph. Structural, not incidental.</a:t>
            </a:r>
          </a:p>
          <a:p/>
          <a:p>
            <a:r>
              <a:t>RQ3 - negative, and I will not soften it. The cascade reaches the same quality as a single Sonnet</a:t>
            </a:r>
          </a:p>
          <a:p>
            <a:r>
              <a:t>call, the difference is not statistically significant, and Sonnet is twenty-four percent cheaper.</a:t>
            </a:r>
          </a:p>
          <a:p>
            <a:r>
              <a:t>Not cost-justified. What survives is that the cascade beats every cheaper model decisively, and</a:t>
            </a:r>
          </a:p>
          <a:p>
            <a:r>
              <a:t>that its five governing voters are entirely non-Anthropic - so the defensible value is PROVIDER</a:t>
            </a:r>
          </a:p>
          <a:p>
            <a:r>
              <a:t>INDEPENDENCE, not accuracy. If a provider changes prices, deprecates a model, or you cannot send</a:t>
            </a:r>
          </a:p>
          <a:p>
            <a:r>
              <a:t>data to one vendor, that property is worth something. It is just not the property I set out to</a:t>
            </a:r>
          </a:p>
          <a:p>
            <a:r>
              <a:t>demonstrate.</a:t>
            </a:r>
          </a:p>
          <a:p/>
          <a:p>
            <a:r>
              <a:t>RQ4 - the NLI backbone works in both roles, with the grounding trade made deliberately.</a:t>
            </a:r>
          </a:p>
          <a:p/>
          <a:p>
            <a:r>
              <a:t>RQ5 - no meaningful overfitting.</a:t>
            </a:r>
          </a:p>
          <a:p/>
          <a:p>
            <a:r>
              <a:t>And the closing line is what I would actually defend as the contribution. Not this operating point</a:t>
            </a:r>
          </a:p>
          <a:p>
            <a:r>
              <a:t>- theta of 0.9 with those five voters is specific to this corpus and to today's prices, and it</a:t>
            </a:r>
          </a:p>
          <a:p>
            <a:r>
              <a:t>will be stale within a year. What lasts is the framework: provenance guaranteed by the data model</a:t>
            </a:r>
          </a:p>
          <a:p>
            <a:r>
              <a:t>rather than by discipline, cost and quality exposed as explicit knobs you recalibrate for a new</a:t>
            </a:r>
          </a:p>
          <a:p>
            <a:r>
              <a:t>corpus or budget, and an offline replay protocol that reproduces every number in the thesis from</a:t>
            </a:r>
          </a:p>
          <a:p>
            <a:r>
              <a:t>cached artifacts without a single new API call.</a:t>
            </a:r>
          </a:p>
          <a:p/>
          <a:p>
            <a:r>
              <a:t>Thank you - I'm happy to take questions.</a:t>
            </a:r>
          </a:p>
          <a:p/>
          <a:p>
            <a:r>
              <a:t>[1:15]  -&gt;  END OF MAIN TALK. Stay on this slide during questions.</a:t>
            </a:r>
          </a:p>
          <a:p/>
          <a:p>
            <a:r>
              <a:t>JUMPS — if asked:</a:t>
            </a:r>
          </a:p>
          <a:p>
            <a:r>
              <a:t>  positioning against related work → E6, slide 46</a:t>
            </a:r>
          </a:p>
          <a:p>
            <a:r>
              <a:t>  the correction, if not already raised → the audit slide, slide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speech. Land on the conclusion slide during questions and jump here by slide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I want to volunteer this rather than wait to be asked.</a:t>
            </a:r>
          </a:p>
          <a:p>
            <a:endParaRPr dirty="0"/>
          </a:p>
          <a:p>
            <a:r>
              <a:rPr dirty="0"/>
              <a:t>After submission I went back through the figure path to build worked examples, and found that one</a:t>
            </a:r>
          </a:p>
          <a:p>
            <a:r>
              <a:rPr dirty="0"/>
              <a:t>of the three mechanisms the thesis credits for the figure improvement never actually runs.</a:t>
            </a:r>
          </a:p>
          <a:p>
            <a:endParaRPr dirty="0"/>
          </a:p>
          <a:p>
            <a:r>
              <a:rPr dirty="0"/>
              <a:t>The logic is this. The cropper walks picture elements, finds each one's nearest caption, and</a:t>
            </a:r>
          </a:p>
          <a:p>
            <a:r>
              <a:rPr dirty="0"/>
              <a:t>claims it. Sub-figure merging is supposed to fire when a second panel finds a caption that has</a:t>
            </a:r>
          </a:p>
          <a:p>
            <a:r>
              <a:rPr dirty="0"/>
              <a:t>already been claimed - then it merges into the owner. But when a caption is claimed it is removed</a:t>
            </a:r>
          </a:p>
          <a:p>
            <a:r>
              <a:rPr dirty="0"/>
              <a:t>from the candidate pool, so the next panel can never find it. The condition that triggers the</a:t>
            </a:r>
          </a:p>
          <a:p>
            <a:r>
              <a:rPr dirty="0"/>
              <a:t>merge is unreachable.</a:t>
            </a:r>
          </a:p>
          <a:p>
            <a:endParaRPr dirty="0"/>
          </a:p>
          <a:p>
            <a:r>
              <a:rPr dirty="0"/>
              <a:t>Three independent checks, on the slide. I instrumented the actual cropper class and ran all 27</a:t>
            </a:r>
          </a:p>
          <a:p>
            <a:r>
              <a:rPr dirty="0"/>
              <a:t>rubric PDFs: 76 figures, and the union function that performs the merge is called zero times. I</a:t>
            </a:r>
          </a:p>
          <a:p>
            <a:r>
              <a:rPr dirty="0"/>
              <a:t>replayed the loop over all 977 papers: the branch is entered zero times. And I built the textbook</a:t>
            </a:r>
          </a:p>
          <a:p>
            <a:r>
              <a:rPr dirty="0"/>
              <a:t>case by hand - two panels ten points apart sharing one caption - and it emits two crops, not one.</a:t>
            </a:r>
          </a:p>
          <a:p>
            <a:endParaRPr dirty="0"/>
          </a:p>
          <a:p>
            <a:r>
              <a:rPr dirty="0"/>
              <a:t>Now the important part, and I would say this plainly: no reported number changes. Code that never</a:t>
            </a:r>
          </a:p>
          <a:p>
            <a:r>
              <a:rPr dirty="0"/>
              <a:t>executed cannot have affected a measurement. The figure result of 0.447 to 0.840 stands exactly as</a:t>
            </a:r>
          </a:p>
          <a:p>
            <a:r>
              <a:rPr dirty="0"/>
              <a:t>published; the attribution in one sentence over-counts by one mechanism. The gain is icon</a:t>
            </a:r>
          </a:p>
          <a:p>
            <a:r>
              <a:rPr dirty="0"/>
              <a:t>filtering and caption matching.</a:t>
            </a:r>
          </a:p>
          <a:p>
            <a:endParaRPr dirty="0"/>
          </a:p>
          <a:p>
            <a:r>
              <a:rPr dirty="0"/>
              <a:t>I would rather have found this than not, and it is the kind of thing the provenance and</a:t>
            </a:r>
          </a:p>
          <a:p>
            <a:r>
              <a:rPr dirty="0"/>
              <a:t>offline-replay design is supposed to make findable.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when asked to restate a research question exactly. The answers column is from the thesis's own summary-of-findings section, not from Chapter 6, which is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 exists to bound Docling runtime and memory. It drops under a tenth of papers while removing nearly half the page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Expect: 'isn't that cherry-picking?' Answer: yes, deliberately, and disclosed. The cluster maximises relatedness so cross-paper relations are possible at all. The held-out set is random precisely to test whether that choice inflated the result. It did not inflate strict-F1 (0.7128 vs 0.7160) but it did inflate relation counts (25 vs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harshness is the point: it is the metric under which a 'mostly right' table crop still fails, which is the standard a downstream auditor would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ablation the committee will want. Read down the strict-F1 column: detection alone 40.0 → 42.0; footnotes alone 80.0; both 83.8.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strict/loose gap is where the schema bites: the pipeline usually finds the right claim (loose 0.886) but disagrees with the </a:t>
            </a:r>
            <a:r>
              <a:rPr dirty="0" err="1"/>
              <a:t>labeller</a:t>
            </a:r>
            <a:r>
              <a:rPr dirty="0"/>
              <a:t> about direction or category often enough to drop to 0.716.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asked why Haiku was dropped: E06b/E06c showed dropping it was strict-F1-neutral (0.7147 five-voter vs 0.7131 six-voter, inside the noise band) at 18% lower cost per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if asked whether the gates are doing anything. Answer honestly: measurably almost nothing on strict-F1, and that was never their purpose. The polarity gate is a guard against silently emitting two contradictory polarities for the same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Concede the missing currency unit immediately if asked; do not improvise one. The numbers are internally consistent and comparable across systems, which is what the frontier needs, but the axis should have been labelled.</a:t>
            </a:r>
          </a:p>
          <a:p>
            <a:endParaRPr/>
          </a:p>
          <a:p>
            <a:r>
              <a:t>Four operating points, ascending cost. Quality is the shipped configuration - it is simply the</a:t>
            </a:r>
          </a:p>
          <a:p>
            <a:r>
              <a:t>maximum, no coefficient and no threshold involved. Economy and balanced are the same method, the</a:t>
            </a:r>
          </a:p>
          <a:p>
            <a:r>
              <a:t>epsilon-constraint: cheapest configuration clearing a quality floor, at 0.50 and 0.60 respectively.</a:t>
            </a:r>
          </a:p>
          <a:p>
            <a:r>
              <a:t>The knee is the odd one out - it maximises strict-F1 minus lambda times cost.</a:t>
            </a:r>
          </a:p>
          <a:p>
            <a:endParaRPr/>
          </a:p>
          <a:p>
            <a:r>
              <a:t>Read the bold line rather than the table if you are short of time: a third more spend buys seven</a:t>
            </a:r>
          </a:p>
          <a:p>
            <a:r>
              <a:t>percent, and a third again buys one. That is the diminishing-returns shape, and it is the same</a:t>
            </a:r>
          </a:p>
          <a:p>
            <a:r>
              <a:t>point the cost-quality argument rests on.</a:t>
            </a:r>
          </a:p>
          <a:p>
            <a:endParaRPr/>
          </a:p>
          <a:p>
            <a:r>
              <a:t>If asked why nothing sits between economy at 3.38 and the knee at 21.80 - which is the sharpest</a:t>
            </a:r>
          </a:p>
          <a:p>
            <a:r>
              <a:t>question this slide invites - jump to B15. Short answer: the knee is chosen by a weighted sum, and</a:t>
            </a:r>
          </a:p>
          <a:p>
            <a:r>
              <a:t>a weighted sum can only ever return a vertex of the convex hull. Seven configurations here are</a:t>
            </a:r>
          </a:p>
          <a:p>
            <a:r>
              <a:t>Pareto-optimal but only three are on that hull, so theta 0.4 through 0.7 are unreachable by any</a:t>
            </a:r>
          </a:p>
          <a:p>
            <a:r>
              <a:t>lambda at all. Balanced exists because the epsilon-constraint has no such blind spot. Nothing about</a:t>
            </a:r>
          </a:p>
          <a:p>
            <a:r>
              <a:t>the shipped configuration changes - quality depends on neither lambda nor a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pushed on 'the CI is only just crossing zero': agreed, it is marginal — the upper bound is positive and the lower bound is barely negative. But a marginal interval is not evidence of an effect, and I will not present it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0.5 was pinned as a design decision for source faithfulness, not chosen to </a:t>
            </a:r>
            <a:r>
              <a:rPr dirty="0" err="1"/>
              <a:t>maximise</a:t>
            </a:r>
            <a:r>
              <a:rPr dirty="0"/>
              <a:t> F1 — the F1-maximising choice is to switch the filter off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reading: predicate_only actually scores marginally higher, and the mode the pipeline ships cannot demonstrate its own mechanism on this dataset. Both facts are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clearest evidence that the ILP cluster choice mattered for relations but not for strict-F1. Do not oversell the knowledge-graph angle on randomly sampled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reproducibility answer. The command is `</a:t>
            </a:r>
            <a:r>
              <a:rPr dirty="0" err="1"/>
              <a:t>nlp-histo</a:t>
            </a:r>
            <a:r>
              <a:rPr dirty="0"/>
              <a:t> replay results` and it is free — it reads cached artifacts, it does not call any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slide for "how did you choose the operating points", and the honest answer has a</a:t>
            </a:r>
          </a:p>
          <a:p>
            <a:r>
              <a:t>methodological wrinkle worth owning.</a:t>
            </a:r>
          </a:p>
          <a:p>
            <a:endParaRPr/>
          </a:p>
          <a:p>
            <a:r>
              <a:t>Quality is just argmax strict-F1 - no coefficient, no threshold. That is the shipped configuration.</a:t>
            </a:r>
          </a:p>
          <a:p>
            <a:r>
              <a:t>Economy and the knee are reporting points that summarise the rest of the curve.</a:t>
            </a:r>
          </a:p>
          <a:p>
            <a:endParaRPr/>
          </a:p>
          <a:p>
            <a:r>
              <a:t>The knee uses weighted-sum scalarization: maximise strict-F1 minus lambda times cost, with lambda</a:t>
            </a:r>
          </a:p>
          <a:p>
            <a:r>
              <a:t>at 0.20. I swept lambda afterwards. The chosen cell only holds for lambda between roughly 0.12 and</a:t>
            </a:r>
          </a:p>
          <a:p>
            <a:r>
              <a:t>0.21, and above 0.21 the knee stops being a knee - it collapses straight onto the economy point.</a:t>
            </a:r>
          </a:p>
          <a:p>
            <a:endParaRPr/>
          </a:p>
          <a:p>
            <a:r>
              <a:t>But the more interesting finding is that re-tuning lambda would not have helped. A weighted sum can</a:t>
            </a:r>
          </a:p>
          <a:p>
            <a:r>
              <a:t>only ever return a vertex of the upper convex hull of the cost-quality points. Any Pareto-optimal</a:t>
            </a:r>
          </a:p>
          <a:p>
            <a:r>
              <a:t>point sitting in a concave stretch loses to a blend of its neighbours for every lambda. On this</a:t>
            </a:r>
          </a:p>
          <a:p>
            <a:r>
              <a:t>curve seven cells are Pareto-optimal and only three are on the hull, so theta 0.4 through 0.7 are</a:t>
            </a:r>
          </a:p>
          <a:p>
            <a:r>
              <a:t>unreachable by any lambda whatsoever. That is the standard limitation of the method, stated in</a:t>
            </a:r>
          </a:p>
          <a:p>
            <a:r>
              <a:t>Boyd, which is the source I cite for it.</a:t>
            </a:r>
          </a:p>
          <a:p>
            <a:endParaRPr/>
          </a:p>
          <a:p>
            <a:r>
              <a:t>The practical consequence: the knee sits at ninety-two percent of the quality cost. It is not</a:t>
            </a:r>
          </a:p>
          <a:p>
            <a:r>
              <a:t>really a middle ground. Everything between 3.38 and 21.80 was unrepresented.</a:t>
            </a:r>
          </a:p>
          <a:p>
            <a:endParaRPr/>
          </a:p>
          <a:p>
            <a:r>
              <a:t>The fix is not a better lambda, it is a different selection rule. Epsilon-constraint - cheapest</a:t>
            </a:r>
          </a:p>
          <a:p>
            <a:r>
              <a:t>configuration clearing a quality floor - does not blend the objectives, so it reads the concave</a:t>
            </a:r>
          </a:p>
          <a:p>
            <a:r>
              <a:t>region directly. I was already using it for the economy point at a 0.50 floor; balanced is the</a:t>
            </a:r>
          </a:p>
          <a:p>
            <a:r>
              <a:t>same method at 0.60, and it selects theta 0.7: thirty-one percent cheaper than quality for about</a:t>
            </a:r>
          </a:p>
          <a:p>
            <a:r>
              <a:t>six strict-F1 points.</a:t>
            </a:r>
          </a:p>
          <a:p>
            <a:endParaRPr/>
          </a:p>
          <a:p>
            <a:r>
              <a:t>If asked whether this changes any result: no. The shipped configuration is the quality point, which</a:t>
            </a:r>
          </a:p>
          <a:p>
            <a:r>
              <a:t>depends on neither lambda nor a floor. No published number moves.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Divider. Everything after this point is written to main-slide standard and can be moved into the main line for a 30- or 45-minute slot. See PRESENTATION.md, 'Scaling the talk to the slot'.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This is the other half of the figure story, and it is the least glamorous fix in the thesis.</a:t>
            </a:r>
          </a:p>
          <a:p>
            <a:endParaRPr dirty="0"/>
          </a:p>
          <a:p>
            <a:r>
              <a:rPr dirty="0"/>
              <a:t>Off-the-shelf </a:t>
            </a:r>
            <a:r>
              <a:rPr dirty="0" err="1"/>
              <a:t>Docling</a:t>
            </a:r>
            <a:r>
              <a:rPr dirty="0"/>
              <a:t> emitted 139 figure crops on the rubric set. 73 of them were rated "icon" by</a:t>
            </a:r>
          </a:p>
          <a:p>
            <a:r>
              <a:rPr dirty="0"/>
              <a:t>the annotator. Look at what they actually are: two ORCID marks next to the author names, the</a:t>
            </a:r>
          </a:p>
          <a:p>
            <a:r>
              <a:rPr dirty="0"/>
              <a:t>"check for updates" badge, the Creative Commons </a:t>
            </a:r>
            <a:r>
              <a:rPr dirty="0" err="1"/>
              <a:t>licence</a:t>
            </a:r>
            <a:r>
              <a:rPr dirty="0"/>
              <a:t> badge, and the journal masthead. Every</a:t>
            </a:r>
          </a:p>
          <a:p>
            <a:r>
              <a:rPr dirty="0"/>
              <a:t>open-access paper has these, on page one, every time.</a:t>
            </a:r>
          </a:p>
          <a:p>
            <a:endParaRPr dirty="0"/>
          </a:p>
          <a:p>
            <a:r>
              <a:rPr dirty="0"/>
              <a:t>The rule is a size filter - both width and height must reach fifty points. Note the masthead is</a:t>
            </a:r>
          </a:p>
          <a:p>
            <a:r>
              <a:rPr dirty="0"/>
              <a:t>178 points wide but only 36 tall, so it fails on height. That is why the rule uses AND rather than</a:t>
            </a:r>
          </a:p>
          <a:p>
            <a:r>
              <a:rPr dirty="0"/>
              <a:t>area.</a:t>
            </a:r>
          </a:p>
          <a:p>
            <a:endParaRPr dirty="0"/>
          </a:p>
          <a:p>
            <a:r>
              <a:rPr dirty="0"/>
              <a:t>Corpus-wide this drops 3,065 of 7,544 picture elements, about forty percent. Combined with the</a:t>
            </a:r>
          </a:p>
          <a:p>
            <a:r>
              <a:rPr dirty="0"/>
              <a:t>caption matcher on the next slide, these two mechanisms account for the entire 139 to 76</a:t>
            </a:r>
          </a:p>
          <a:p>
            <a:r>
              <a:rPr dirty="0"/>
              <a:t>reduction and the whole figure strict-F1 gain.</a:t>
            </a:r>
          </a:p>
          <a:p>
            <a:endParaRPr dirty="0"/>
          </a:p>
          <a:p>
            <a:r>
              <a:rPr dirty="0"/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subtlest of the document-layer fixes and the easiest to under-rate.</a:t>
            </a:r>
          </a:p>
          <a:p>
            <a:endParaRPr/>
          </a:p>
          <a:p>
            <a:r>
              <a:t>Look at the page layout, because that is what defeats the default matcher. The figure sits in the</a:t>
            </a:r>
          </a:p>
          <a:p>
            <a:r>
              <a:t>left column; its caption is in the right column, beside it rather than beneath it. Docling's</a:t>
            </a:r>
          </a:p>
          <a:p>
            <a:r>
              <a:t>matcher searches downward, finds nothing, and returns an empty string.</a:t>
            </a:r>
          </a:p>
          <a:p>
            <a:endParaRPr/>
          </a:p>
          <a:p>
            <a:r>
              <a:t>The crop is byte-identical between baseline and pipeline - same bounding box, IoU exactly 1.0. The</a:t>
            </a:r>
          </a:p>
          <a:p>
            <a:r>
              <a:t>figure was never the problem. What changed is the string attached to it. Docling's default matcher</a:t>
            </a:r>
          </a:p>
          <a:p>
            <a:r>
              <a:t>returned nothing; mine returns "Fig 2, Schematic diagram of iron kinetics in the CNS."</a:t>
            </a:r>
          </a:p>
          <a:p>
            <a:endParaRPr/>
          </a:p>
          <a:p>
            <a:r>
              <a:t>Why it matters: this figure's caption sits to the RIGHT of the image rather than below it, which</a:t>
            </a:r>
          </a:p>
          <a:p>
            <a:r>
              <a:t>is a common journal layout and breaks a matcher that only looks downward. My matcher scores</a:t>
            </a:r>
          </a:p>
          <a:p>
            <a:r>
              <a:t>candidates by edge-to-edge gap in both axes and parses the figure number out of the caption text</a:t>
            </a:r>
          </a:p>
          <a:p>
            <a:r>
              <a:t>to check consistency.</a:t>
            </a:r>
          </a:p>
          <a:p>
            <a:endParaRPr/>
          </a:p>
          <a:p>
            <a:r>
              <a:t>Sixteen caption labels were corrected this way on the rubric set - eleven figures with no caption</a:t>
            </a:r>
          </a:p>
          <a:p>
            <a:r>
              <a:t>at all, five with the caption to the side. Correct captions go from 60.6 to 90.3 percent.</a:t>
            </a:r>
          </a:p>
          <a:p>
            <a:endParaRPr/>
          </a:p>
          <a:p>
            <a:r>
              <a:t>And a caption is not cosmetic here. It is the only human-readable description of what a figure</a:t>
            </a:r>
          </a:p>
          <a:p>
            <a:r>
              <a:t>shows, and it is what an auditor reads first when checking a rule that cites that figure.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A second, nastier variant of the same problem - and this one is not journal furniture, it is real</a:t>
            </a:r>
          </a:p>
          <a:p>
            <a:r>
              <a:t>scientific text.</a:t>
            </a:r>
          </a:p>
          <a:p>
            <a:endParaRPr/>
          </a:p>
          <a:p>
            <a:r>
              <a:t>This paper carries a hidden duplicate of a genuine body paragraph, about granular cell tumours and</a:t>
            </a:r>
          </a:p>
          <a:p>
            <a:r>
              <a:t>their immunohistochemical profile. The visible copy is there; a second copy sits underneath it in</a:t>
            </a:r>
          </a:p>
          <a:p>
            <a:r>
              <a:t>a compressed, invisible layer.</a:t>
            </a:r>
          </a:p>
          <a:p>
            <a:endParaRPr/>
          </a:p>
          <a:p>
            <a:r>
              <a:t>The pixel test does not always catch this one, because the hidden copy can overlap real ink. So</a:t>
            </a:r>
          </a:p>
          <a:p>
            <a:r>
              <a:t>there is a second rule: character density. This node claims 170 characters inside a bounding box</a:t>
            </a:r>
          </a:p>
          <a:p>
            <a:r>
              <a:t>8.6 points tall - about twenty characters per point, which is physically impossible for rendered</a:t>
            </a:r>
          </a:p>
          <a:p>
            <a:r>
              <a:t>type. That is R3_dense_text, and it fires 2,228 times across the corpus.</a:t>
            </a:r>
          </a:p>
          <a:p>
            <a:endParaRPr/>
          </a:p>
          <a:p>
            <a:r>
              <a:t>The consequence if you skip this: the paragraph reaches MAP twice, the model extracts the same</a:t>
            </a:r>
          </a:p>
          <a:p>
            <a:r>
              <a:t>finding twice, and the two copies agree perfectly. So the cascade sees strong agreement, accepts</a:t>
            </a:r>
          </a:p>
          <a:p>
            <a:r>
              <a:t>cheaply, and the deduplication stage merges them back into one rule with an inflated evidence</a:t>
            </a:r>
          </a:p>
          <a:p>
            <a:r>
              <a:t>count. A duplicate looks exactly like corroboration.</a:t>
            </a:r>
          </a:p>
          <a:p>
            <a:endParaRPr/>
          </a:p>
          <a:p>
            <a:r>
              <a:t>That is the honest reason this stage exists. It is not about text tidiness - it is about not</a:t>
            </a:r>
          </a:p>
          <a:p>
            <a:r>
              <a:t>manufacturing false support.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Layout parsers return text in fragments - a paragraph broken by a column boundary, a page break,</a:t>
            </a:r>
          </a:p>
          <a:p>
            <a:r>
              <a:t>or a floating figure arrives as two or three separate elements. The stitcher rejoins them using</a:t>
            </a:r>
          </a:p>
          <a:p>
            <a:r>
              <a:t>syntactic cues: a trailing hyphen, comma, or connective word; a fragment that starts lower-case.</a:t>
            </a:r>
          </a:p>
          <a:p>
            <a:endParaRPr/>
          </a:p>
          <a:p>
            <a:r>
              <a:t>It works. I verified ten clean joins on the rubric set alone - for example a sentence about tumour</a:t>
            </a:r>
          </a:p>
          <a:p>
            <a:r>
              <a:t>nodule shape that spans a column break and is correctly reassembled.</a:t>
            </a:r>
          </a:p>
          <a:p>
            <a:endParaRPr/>
          </a:p>
          <a:p>
            <a:r>
              <a:t>But the rule is purely syntactic, and this slide shows the failure. A body sentence ends</a:t>
            </a:r>
          </a:p>
          <a:p>
            <a:r>
              <a:t>"...to prevent iron-dependent proliferation of" - a trailing "of", so the stitcher looks for a</a:t>
            </a:r>
          </a:p>
          <a:p>
            <a:r>
              <a:t>continuation. The next element in reading order is the journal copyright footer. It glues them</a:t>
            </a:r>
          </a:p>
          <a:p>
            <a:r>
              <a:t>together, and the knowledge extractor receives a sentence that reads "...proliferation of © 2025</a:t>
            </a:r>
          </a:p>
          <a:p>
            <a:r>
              <a:t>The Author(s), Neuropathology published by John Wiley and Sons".</a:t>
            </a:r>
          </a:p>
          <a:p>
            <a:endParaRPr/>
          </a:p>
          <a:p>
            <a:r>
              <a:t>I want to be clear about the status of this. The thesis already states that paragraph-merging</a:t>
            </a:r>
          </a:p>
          <a:p>
            <a:r>
              <a:t>errors happen "without leaving a signal in the rubric-based evaluation" - the rubric scores crops,</a:t>
            </a:r>
          </a:p>
          <a:p>
            <a:r>
              <a:t>not prose, so this class of error is invisible to my own RQ1 metric. What I am adding is a</a:t>
            </a:r>
          </a:p>
          <a:p>
            <a:r>
              <a:t>concrete instance, found by auditing the artifacts afterwards. I do not know the rate.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The relation layer is the smallest part of the output and I want to present it honestly: 46 rule</a:t>
            </a:r>
          </a:p>
          <a:p>
            <a:r>
              <a:rPr dirty="0"/>
              <a:t>nodes participate in any edge at all, 25 edges, 22 connected components, the largest with three</a:t>
            </a:r>
          </a:p>
          <a:p>
            <a:r>
              <a:rPr dirty="0"/>
              <a:t>nodes. This is not a knowledge graph in the ambitious sense.</a:t>
            </a:r>
          </a:p>
          <a:p>
            <a:endParaRPr dirty="0"/>
          </a:p>
          <a:p>
            <a:r>
              <a:rPr dirty="0"/>
              <a:t>But look at the contradiction on the right, because it is the single best illustration of what the</a:t>
            </a:r>
          </a:p>
          <a:p>
            <a:r>
              <a:rPr dirty="0"/>
              <a:t>system is for. Both statements come from the SAME paper. One says SBEM expression does not</a:t>
            </a:r>
          </a:p>
          <a:p>
            <a:r>
              <a:rPr dirty="0"/>
              <a:t>correlate with </a:t>
            </a:r>
            <a:r>
              <a:rPr dirty="0" err="1"/>
              <a:t>tumour</a:t>
            </a:r>
            <a:r>
              <a:rPr dirty="0"/>
              <a:t> grade. The other says increased SBEM levels are strongly associated with</a:t>
            </a:r>
          </a:p>
          <a:p>
            <a:r>
              <a:rPr dirty="0"/>
              <a:t>higher grade, with a p-value of 0.0015. The NLI model scores the contradiction above 0.99 in both</a:t>
            </a:r>
          </a:p>
          <a:p>
            <a:r>
              <a:rPr dirty="0"/>
              <a:t>directions, so this is not a threshold artefact.</a:t>
            </a:r>
          </a:p>
          <a:p>
            <a:endParaRPr dirty="0"/>
          </a:p>
          <a:p>
            <a:r>
              <a:rPr dirty="0"/>
              <a:t>That is a genuine internal inconsistency in a published paper - possibly a different cohort, a</a:t>
            </a:r>
          </a:p>
          <a:p>
            <a:r>
              <a:rPr dirty="0"/>
              <a:t>different assay, or an error - and it surfaced automatically, with both source sentences attached</a:t>
            </a:r>
          </a:p>
          <a:p>
            <a:r>
              <a:rPr dirty="0"/>
              <a:t>and traceable to their paragraphs. The system does not adjudicate; it hands a pathologist two</a:t>
            </a:r>
          </a:p>
          <a:p>
            <a:r>
              <a:rPr dirty="0"/>
              <a:t>sentences and says "these disagree, look".</a:t>
            </a:r>
          </a:p>
          <a:p>
            <a:endParaRPr dirty="0"/>
          </a:p>
          <a:p>
            <a:r>
              <a:rPr dirty="0"/>
              <a:t>The honest limit is at the bottom. 25 edges from 1,747 rules is sparse, and that is the</a:t>
            </a:r>
          </a:p>
          <a:p>
            <a:r>
              <a:rPr dirty="0"/>
              <a:t>comparability gate doing its job - both claims must be polarity-bearing and share subject,</a:t>
            </a:r>
          </a:p>
          <a:p>
            <a:r>
              <a:rPr dirty="0"/>
              <a:t>outcome, category and relation type. On the randomly sampled held-out set it produces four edges</a:t>
            </a:r>
          </a:p>
          <a:p>
            <a:r>
              <a:rPr dirty="0"/>
              <a:t>and no cross-paper links at all. So I would not oversell this as a corpus-scale graph.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If you want the one-sentence positioning: nothing in this pipeline is a new algorithm, and that is</a:t>
            </a:r>
          </a:p>
          <a:p>
            <a:r>
              <a:t>deliberate.</a:t>
            </a:r>
          </a:p>
          <a:p>
            <a:endParaRPr/>
          </a:p>
          <a:p>
            <a:r>
              <a:t>Layout-aware parsing is mature. Entity normalization against UMLS is mature. Biomedical entailment</a:t>
            </a:r>
          </a:p>
          <a:p>
            <a:r>
              <a:t>is mature. Cost-aware cascading has an established literature, and I integrate a published</a:t>
            </a:r>
          </a:p>
          <a:p>
            <a:r>
              <a:t>framework rather than proposing one. Each of these has its own benchmark and its own definition of</a:t>
            </a:r>
          </a:p>
          <a:p>
            <a:r>
              <a:t>success, and each is evaluated in isolation.</a:t>
            </a:r>
          </a:p>
          <a:p>
            <a:endParaRPr/>
          </a:p>
          <a:p>
            <a:r>
              <a:t>What is rare - and what the thesis actually contributes - is the combination: all of them in a</a:t>
            </a:r>
          </a:p>
          <a:p>
            <a:r>
              <a:t>single system where every output is traceable, evaluated under cost AND quality at the same time.</a:t>
            </a:r>
          </a:p>
          <a:p>
            <a:endParaRPr/>
          </a:p>
          <a:p>
            <a:r>
              <a:t>Two rejections worth stating because they were real forks. First, OCR-free end-to-end document</a:t>
            </a:r>
          </a:p>
          <a:p>
            <a:r>
              <a:t>models - Donut, mPLUG-DocOwl2 - can read a page image directly and skip the layout stage entirely.</a:t>
            </a:r>
          </a:p>
          <a:p>
            <a:r>
              <a:t>I did not use them because they do not return token-level bounding boxes, and without coordinates</a:t>
            </a:r>
          </a:p>
          <a:p>
            <a:r>
              <a:t>provenance stops being structural and becomes a claim. That would have undercut the central design</a:t>
            </a:r>
          </a:p>
          <a:p>
            <a:r>
              <a:t>commitment.</a:t>
            </a:r>
          </a:p>
          <a:p>
            <a:endParaRPr/>
          </a:p>
          <a:p>
            <a:r>
              <a:t>Second, I rejected chain-of-thought self-checking and LLM self-repair loops. Both ask a model to</a:t>
            </a:r>
          </a:p>
          <a:p>
            <a:r>
              <a:t>audit itself. I preferred cross-provider agreement plus entailment against the actual source text,</a:t>
            </a:r>
          </a:p>
          <a:p>
            <a:r>
              <a:t>because both of those are external checks.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The two-pass extractor does more than remove invisible text. It also masks the parts of the page</a:t>
            </a:r>
          </a:p>
          <a:p>
            <a:r>
              <a:t>that are visible but are not the paper: the running header, the page footer, and the editorial</a:t>
            </a:r>
          </a:p>
          <a:p>
            <a:r>
              <a:t>sidebar.</a:t>
            </a:r>
          </a:p>
          <a:p>
            <a:endParaRPr/>
          </a:p>
          <a:p>
            <a:r>
              <a:t>This is a real before-and-after - the right-hand page is the pipeline's own redacted PDF, not a</a:t>
            </a:r>
          </a:p>
          <a:p>
            <a:r>
              <a:t>mock-up. Everything highlighted on the right is gone: the journal masthead, the "check for</a:t>
            </a:r>
          </a:p>
          <a:p>
            <a:r>
              <a:t>updates" badge, the licence block, the DOI footer, and the whole left margin.</a:t>
            </a:r>
          </a:p>
          <a:p>
            <a:endParaRPr/>
          </a:p>
          <a:p>
            <a:r>
              <a:t>The strings in orange are what disappeared: "Academic Editor: Gurkan Kaya", the four submission</a:t>
            </a:r>
          </a:p>
          <a:p>
            <a:r>
              <a:t>dates, the full self-citation, the copyright notice. MDPI puts all of that in the left margin of</a:t>
            </a:r>
          </a:p>
          <a:p>
            <a:r>
              <a:t>page one. It is perfectly legitimate metadata and it is not body text.</a:t>
            </a:r>
          </a:p>
          <a:p>
            <a:endParaRPr/>
          </a:p>
          <a:p>
            <a:r>
              <a:t>Why this matters rather than being housekeeping: every one of those lines would otherwise be</a:t>
            </a:r>
          </a:p>
          <a:p>
            <a:r>
              <a:t>turned into a sentence, chunked, and sent to a language model as if it were scientific content.</a:t>
            </a:r>
          </a:p>
          <a:p>
            <a:r>
              <a:t>The model would dutifully extract findings from a copyright notice. On the rubric set this</a:t>
            </a:r>
          </a:p>
          <a:p>
            <a:r>
              <a:t>mechanism removes 92 header and footer elements - the second-largest removal after captions.</a:t>
            </a:r>
          </a:p>
          <a:p>
            <a:endParaRPr/>
          </a:p>
          <a:p>
            <a:r>
              <a:t>Method note if asked: I did not re-implement the masking geometry for this slide. I rendered the</a:t>
            </a:r>
          </a:p>
          <a:p>
            <a:r>
              <a:t>original page and the redacted PDF the pipeline actually wrote, and diffed the text layers.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Table detection is shape detection. TATR in particular finds ruled boxes with aligned text, and</a:t>
            </a:r>
          </a:p>
          <a:p>
            <a:r>
              <a:t>it does not know or care what is written inside them.</a:t>
            </a:r>
          </a:p>
          <a:p>
            <a:endParaRPr/>
          </a:p>
          <a:p>
            <a:r>
              <a:t>I am showing these in page context rather than as crops, because *where* each sits is what makes</a:t>
            </a:r>
          </a:p>
          <a:p>
            <a:r>
              <a:t>it wrong - a cropped byline looks like a small table, and only the page tells you it is the author</a:t>
            </a:r>
          </a:p>
          <a:p>
            <a:r>
              <a:t>block.</a:t>
            </a:r>
          </a:p>
          <a:p>
            <a:endParaRPr/>
          </a:p>
          <a:p>
            <a:r>
              <a:t>Three real false positives. On the left, a journal running header - the Karger banner with the</a:t>
            </a:r>
          </a:p>
          <a:p>
            <a:r>
              <a:t>DOI, the publication date and the copyright line. It has rules and columns, so it looks exactly</a:t>
            </a:r>
          </a:p>
          <a:p>
            <a:r>
              <a:t>like a small table, and it was detected as one on six consecutive pages of the same paper. The</a:t>
            </a:r>
          </a:p>
          <a:p>
            <a:r>
              <a:t>fix is blunt and effective: drop any table region whose top edge is within fifty points of the</a:t>
            </a:r>
          </a:p>
          <a:p>
            <a:r>
              <a:t>page top. That rule fires 666 times across the corpus.</a:t>
            </a:r>
          </a:p>
          <a:p>
            <a:endParaRPr/>
          </a:p>
          <a:p>
            <a:r>
              <a:t>In the middle, the author byline from a different paper - names separated by vertical bars, which</a:t>
            </a:r>
          </a:p>
          <a:p>
            <a:r>
              <a:t>is a grid. My annotation for it under the rubric was "should be masked, not a table in the</a:t>
            </a:r>
          </a:p>
          <a:p>
            <a:r>
              <a:t>scientific sense", which I think is the right description.</a:t>
            </a:r>
          </a:p>
          <a:p>
            <a:endParaRPr/>
          </a:p>
          <a:p>
            <a:r>
              <a:t>On the right, a forest plot. There genuinely is a table inside that figure - study names, sample</a:t>
            </a:r>
          </a:p>
          <a:p>
            <a:r>
              <a:t>sizes, hazard ratios - but it belongs to the figure, and emitting it separately double-counts the</a:t>
            </a:r>
          </a:p>
          <a:p>
            <a:r>
              <a:t>content and breaks the figure crop. That is dropped by a containment rule: any table region 80</a:t>
            </a:r>
          </a:p>
          <a:p>
            <a:r>
              <a:t>percent or more inside a figure element is discarded. 67 corpus-wide.</a:t>
            </a:r>
          </a:p>
          <a:p>
            <a:endParaRPr/>
          </a:p>
          <a:p>
            <a:r>
              <a:t>The honest framing is that none of these is a clever fix. They are three narrow geometric rules</a:t>
            </a:r>
          </a:p>
          <a:p>
            <a:r>
              <a:t>that each remove one recurring class of nonsense.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Three more cases, all from the rubric set, all verified against my own annotations.</a:t>
            </a:r>
          </a:p>
          <a:p>
            <a:endParaRPr/>
          </a:p>
          <a:p>
            <a:r>
              <a:t>On the left, a table the Docling-only configuration never emitted at all. TATR proposes it, the</a:t>
            </a:r>
          </a:p>
          <a:p>
            <a:r>
              <a:t>union keeps it, and the rubric rates the resulting crop correct. This is the same mechanism as the</a:t>
            </a:r>
          </a:p>
          <a:p>
            <a:r>
              <a:t>split table on slide six, on a simpler case - an ordinary single-page table that one detector</a:t>
            </a:r>
          </a:p>
          <a:p>
            <a:r>
              <a:t>happened to miss.</a:t>
            </a:r>
          </a:p>
          <a:p>
            <a:endParaRPr/>
          </a:p>
          <a:p>
            <a:r>
              <a:t>The middle and right panels are caption failures. Blue marks the region the pipeline emitted;</a:t>
            </a:r>
          </a:p>
          <a:p>
            <a:r>
              <a:t>orange dashed marks the caption it attached. You can see the spatial relationship the matcher has</a:t>
            </a:r>
          </a:p>
          <a:p>
            <a:r>
              <a:t>to solve - caption above the table in one case, below the figure in the other. The crop itself is</a:t>
            </a:r>
          </a:p>
          <a:p>
            <a:r>
              <a:t>byte-identical to the baseline's; only the attached string changes.</a:t>
            </a:r>
          </a:p>
          <a:p>
            <a:endParaRPr/>
          </a:p>
          <a:p>
            <a:r>
              <a:t>I show a table case and a figure case together because the matcher is the same code and both</a:t>
            </a:r>
          </a:p>
          <a:p>
            <a:r>
              <a:t>failure modes are common. Eleven figures on the rubric set had no caption at all; five more had</a:t>
            </a:r>
          </a:p>
          <a:p>
            <a:r>
              <a:t>the caption to the side; and one table had none.</a:t>
            </a:r>
          </a:p>
          <a:p>
            <a:endParaRPr/>
          </a:p>
          <a:p>
            <a:r>
              <a:t>The line at the bottom is the point I would make if pressed on why captions deserve a slide. A</a:t>
            </a:r>
          </a:p>
          <a:p>
            <a:r>
              <a:t>caption is the only human-readable description of what a table or figure contains. If a rule cites</a:t>
            </a:r>
          </a:p>
          <a:p>
            <a:r>
              <a:t>Table 2 and Table 2 has no caption, the auditor has to reconstruct from the crop what the table</a:t>
            </a:r>
          </a:p>
          <a:p>
            <a:r>
              <a:t>was even measuring. Provenance without a caption is a coordinate, not an explanation.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Two smaller cleanup stages that run during text assembly, shown together because neither warrants</a:t>
            </a:r>
          </a:p>
          <a:p>
            <a:r>
              <a:t>a slide alone.</a:t>
            </a:r>
          </a:p>
          <a:p>
            <a:endParaRPr/>
          </a:p>
          <a:p>
            <a:r>
              <a:t>On the left, citation stripping. Bracketed reference markers are removed - fourteen to zero on</a:t>
            </a:r>
          </a:p>
          <a:p>
            <a:r>
              <a:t>this paper - along with collapsed double spaces and the line-level fragmentation. The reason is</a:t>
            </a:r>
          </a:p>
          <a:p>
            <a:r>
              <a:t>that a citation marker sitting mid-sentence corrupts the sentence segmentation that MAP depends</a:t>
            </a:r>
          </a:p>
          <a:p>
            <a:r>
              <a:t>on: "expression correlates with grade [12,14]" splits badly, and the marker itself carries no</a:t>
            </a:r>
          </a:p>
          <a:p>
            <a:r>
              <a:t>meaning once the paper is out of context.</a:t>
            </a:r>
          </a:p>
          <a:p>
            <a:endParaRPr/>
          </a:p>
          <a:p>
            <a:r>
              <a:t>On the right, filter_artifacts. It drops elements with no alphabetic characters at all, short</a:t>
            </a:r>
          </a:p>
          <a:p>
            <a:r>
              <a:t>sidebar metadata lines like Received / Revised / Accepted / Published, single-line text elements</a:t>
            </a:r>
          </a:p>
          <a:p>
            <a:r>
              <a:t>that fall outside the vertical range of the page's anchor blocks, and, on pages with no anchors,</a:t>
            </a:r>
          </a:p>
          <a:p>
            <a:r>
              <a:t>single lines that fail a named-entity check.</a:t>
            </a:r>
          </a:p>
          <a:p>
            <a:endParaRPr/>
          </a:p>
          <a:p>
            <a:r>
              <a:t>Two honest caveats. First, this overlaps with the header/footer masking on E13 - the same</a:t>
            </a:r>
          </a:p>
          <a:p>
            <a:r>
              <a:t>editorial metadata is caught by both, which is belt-and-braces rather than elegance. Second, the</a:t>
            </a:r>
          </a:p>
          <a:p>
            <a:r>
              <a:t>NER-based rule is the only place in the document layer where a model decides what to keep, and I</a:t>
            </a:r>
          </a:p>
          <a:p>
            <a:r>
              <a:t>did not evaluate it separately. It is a heuristic that survived because the rubric numbers were</a:t>
            </a:r>
          </a:p>
          <a:p>
            <a:r>
              <a:t>acceptable with it on.</a:t>
            </a:r>
          </a:p>
          <a:p>
            <a:endParaRPr/>
          </a:p>
          <a:p>
            <a:r>
              <a:t>[0:50]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This is the whole scoring method in one slide, and it is worth walking because every accept,</a:t>
            </a:r>
          </a:p>
          <a:p>
            <a:r>
              <a:rPr dirty="0"/>
              <a:t>escalate and reject decision in the cascade comes out of it.</a:t>
            </a:r>
          </a:p>
          <a:p>
            <a:endParaRPr dirty="0"/>
          </a:p>
          <a:p>
            <a:r>
              <a:rPr dirty="0"/>
              <a:t>Start with what goes in. Not raw model text - the voter outputs that already survived the schema</a:t>
            </a:r>
          </a:p>
          <a:p>
            <a:r>
              <a:rPr dirty="0"/>
              <a:t>and provenance gates, each one a set of typed findings. So "do these voters agree?" is a question</a:t>
            </a:r>
          </a:p>
          <a:p>
            <a:r>
              <a:rPr dirty="0"/>
              <a:t>about structured records, not string overlap.</a:t>
            </a:r>
          </a:p>
          <a:p>
            <a:endParaRPr dirty="0"/>
          </a:p>
          <a:p>
            <a:r>
              <a:rPr dirty="0"/>
              <a:t>Two degenerate cases are handled before any matrix exists. Zero eligible voters is a reject. Exactly</a:t>
            </a:r>
          </a:p>
          <a:p>
            <a:r>
              <a:rPr dirty="0"/>
              <a:t>one voter is scored 1.0 - by construction, because a single output trivially agrees with itself.</a:t>
            </a:r>
          </a:p>
          <a:p>
            <a:r>
              <a:rPr dirty="0"/>
              <a:t>That number is an artifact, not evidence, and it is exactly why the shipped configuration sets</a:t>
            </a:r>
          </a:p>
          <a:p>
            <a:r>
              <a:rPr dirty="0" err="1"/>
              <a:t>legacy_single_voter_policy</a:t>
            </a:r>
            <a:r>
              <a:rPr dirty="0"/>
              <a:t> to escalate: a lone survivor has no agreement signal, so it goes up the</a:t>
            </a:r>
          </a:p>
          <a:p>
            <a:r>
              <a:rPr dirty="0"/>
              <a:t>cascade rather than being accepted on a synthetic score.</a:t>
            </a:r>
          </a:p>
          <a:p>
            <a:endParaRPr dirty="0"/>
          </a:p>
          <a:p>
            <a:r>
              <a:rPr dirty="0"/>
              <a:t>Voters that returned nothing are then dropped, because leaving them in would drag every real</a:t>
            </a:r>
          </a:p>
          <a:p>
            <a:r>
              <a:rPr dirty="0"/>
              <a:t>voter's average down and manufacture disagreement. If fewer than two survive, the chunk escalates.</a:t>
            </a:r>
          </a:p>
          <a:p>
            <a:endParaRPr dirty="0"/>
          </a:p>
          <a:p>
            <a:r>
              <a:rPr dirty="0"/>
              <a:t>Only then is the matrix built, pairwise over the survivors, using the hybrid scorer whose weights</a:t>
            </a:r>
          </a:p>
          <a:p>
            <a:r>
              <a:rPr dirty="0"/>
              <a:t>are on the slide - entity overlap dominant at 0.50, claim embedding 0.30, category 0.15, cited</a:t>
            </a:r>
          </a:p>
          <a:p>
            <a:r>
              <a:rPr dirty="0"/>
              <a:t>evidence 0.05. Each voter takes its mean similarity to the others; the chunk's score is the maximum</a:t>
            </a:r>
          </a:p>
          <a:p>
            <a:r>
              <a:rPr dirty="0"/>
              <a:t>of those means, and the winner is the voter that achieved it. Ties break on grounding quality.</a:t>
            </a:r>
          </a:p>
          <a:p>
            <a:endParaRPr dirty="0"/>
          </a:p>
          <a:p>
            <a:r>
              <a:rPr dirty="0"/>
              <a:t>Two things I would </a:t>
            </a:r>
            <a:r>
              <a:rPr dirty="0" err="1"/>
              <a:t>emphasise</a:t>
            </a:r>
            <a:r>
              <a:rPr dirty="0"/>
              <a:t>. First, maximum rather than mean: one tightly agreeing pair carries the</a:t>
            </a:r>
          </a:p>
          <a:p>
            <a:r>
              <a:rPr dirty="0"/>
              <a:t>chunk even if a third voter dissents completely. That is deliberate - it is a consensus detector,</a:t>
            </a:r>
          </a:p>
          <a:p>
            <a:r>
              <a:rPr dirty="0"/>
              <a:t>not a unanimity detector. Second, this method returns a score, not a verdict. Theta at 0.9 and</a:t>
            </a:r>
          </a:p>
          <a:p>
            <a:r>
              <a:rPr dirty="0"/>
              <a:t>theta-reject at 0.2 are applied one layer up, which is what let me sweep those thresholds offline</a:t>
            </a:r>
          </a:p>
          <a:p>
            <a:r>
              <a:rPr dirty="0"/>
              <a:t>without re-running a single voter.</a:t>
            </a:r>
          </a:p>
          <a:p>
            <a:endParaRPr dirty="0"/>
          </a:p>
          <a:p>
            <a:r>
              <a:rPr dirty="0"/>
              <a:t>And the caveat from E10 stands: this measures agreement, not correctness. Voters can agree and all</a:t>
            </a:r>
          </a:p>
          <a:p>
            <a:r>
              <a:rPr dirty="0"/>
              <a:t>be wrong. Nothing here detects that, which is why grounding runs against the source text afterwards.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Good morning, and thank you for coming. I'm Emirhan Karaman, and this is my Master's thesis,</a:t>
            </a:r>
          </a:p>
          <a:p>
            <a:r>
              <a:rPr dirty="0"/>
              <a:t>supervised by Frederic Mrozinski and examined by Professor Groh.</a:t>
            </a:r>
          </a:p>
          <a:p>
            <a:endParaRPr dirty="0"/>
          </a:p>
          <a:p>
            <a:r>
              <a:rPr dirty="0"/>
              <a:t>The title is long, so let me split it. The input is medical literature - histopathology papers.</a:t>
            </a:r>
          </a:p>
          <a:p>
            <a:r>
              <a:rPr dirty="0"/>
              <a:t>The output is "simple rules": small, typed, subject-outcome statements a pathologist could</a:t>
            </a:r>
          </a:p>
          <a:p>
            <a:r>
              <a:rPr dirty="0"/>
              <a:t>actually check. The word doing the most work in that sentence is CHECK. Everything in the next</a:t>
            </a:r>
          </a:p>
          <a:p>
            <a:r>
              <a:rPr dirty="0"/>
              <a:t>eighteen minutes follows from taking that word seriously.</a:t>
            </a:r>
          </a:p>
          <a:p>
            <a:endParaRPr dirty="0"/>
          </a:p>
          <a:p>
            <a:r>
              <a:rPr dirty="0"/>
              <a:t>[0:25]  -&gt;  "Let me start with why that's hard."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62516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4.xml"/><Relationship Id="rId4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6.xml"/><Relationship Id="rId3" Type="http://schemas.openxmlformats.org/officeDocument/2006/relationships/image" Target="../media/image4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7.xml"/><Relationship Id="rId3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Connected Mobility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Department of Informatics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90" y="1934817"/>
            <a:ext cx="6381749" cy="2236683"/>
          </a:xfrm>
        </p:spPr>
        <p:txBody>
          <a:bodyPr/>
          <a:lstStyle/>
          <a:p>
            <a:r>
              <a:rPr lang="de-DE" sz="1600" dirty="0">
                <a:solidFill>
                  <a:schemeClr val="tx1"/>
                </a:solidFill>
              </a:rPr>
              <a:t>Master‘s Thesis in </a:t>
            </a:r>
            <a:r>
              <a:rPr lang="de-DE" sz="1600" dirty="0" err="1">
                <a:solidFill>
                  <a:schemeClr val="tx1"/>
                </a:solidFill>
              </a:rPr>
              <a:t>Informatics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Emirhan Nadir Karaman</a:t>
            </a:r>
          </a:p>
          <a:p>
            <a:endParaRPr lang="de-DE" sz="600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Technische Universität München</a:t>
            </a:r>
          </a:p>
          <a:p>
            <a:r>
              <a:rPr lang="de-DE" dirty="0">
                <a:solidFill>
                  <a:schemeClr val="tx1"/>
                </a:solidFill>
              </a:rPr>
              <a:t>School of </a:t>
            </a:r>
            <a:r>
              <a:rPr lang="de-DE" dirty="0" err="1">
                <a:solidFill>
                  <a:schemeClr val="tx1"/>
                </a:solidFill>
              </a:rPr>
              <a:t>Computation</a:t>
            </a:r>
            <a:r>
              <a:rPr lang="de-DE" dirty="0">
                <a:solidFill>
                  <a:schemeClr val="tx1"/>
                </a:solidFill>
              </a:rPr>
              <a:t>, Information and Technology</a:t>
            </a:r>
          </a:p>
          <a:p>
            <a:r>
              <a:rPr lang="de-DE" dirty="0">
                <a:solidFill>
                  <a:schemeClr val="tx1"/>
                </a:solidFill>
              </a:rPr>
              <a:t>Chair of </a:t>
            </a:r>
            <a:r>
              <a:rPr lang="de-DE" dirty="0" err="1">
                <a:solidFill>
                  <a:schemeClr val="tx1"/>
                </a:solidFill>
              </a:rPr>
              <a:t>Connected</a:t>
            </a:r>
            <a:r>
              <a:rPr lang="de-DE" dirty="0">
                <a:solidFill>
                  <a:schemeClr val="tx1"/>
                </a:solidFill>
              </a:rPr>
              <a:t> Mobility</a:t>
            </a:r>
          </a:p>
          <a:p>
            <a:r>
              <a:rPr lang="de-DE" dirty="0">
                <a:solidFill>
                  <a:schemeClr val="tx1"/>
                </a:solidFill>
              </a:rPr>
              <a:t>Supervisor: Frederic Mrozinski, </a:t>
            </a:r>
            <a:r>
              <a:rPr lang="de-DE" dirty="0" err="1">
                <a:solidFill>
                  <a:schemeClr val="tx1"/>
                </a:solidFill>
              </a:rPr>
              <a:t>M.Sc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r>
              <a:rPr lang="de-DE" dirty="0">
                <a:solidFill>
                  <a:schemeClr val="tx1"/>
                </a:solidFill>
              </a:rPr>
              <a:t>Examiner: </a:t>
            </a:r>
            <a:r>
              <a:rPr lang="de-DE" dirty="0" err="1">
                <a:solidFill>
                  <a:schemeClr val="tx1"/>
                </a:solidFill>
              </a:rPr>
              <a:t>apl</a:t>
            </a:r>
            <a:r>
              <a:rPr lang="de-DE" dirty="0">
                <a:solidFill>
                  <a:schemeClr val="tx1"/>
                </a:solidFill>
              </a:rPr>
              <a:t>. Prof. Dr. Georg Groh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Munich, 11. August 2026</a:t>
            </a:r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26" y="2288521"/>
            <a:ext cx="2919367" cy="25480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90A71CA-71E6-3728-DD59-CDF789B3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Diagnostic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knowledge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trapped</a:t>
            </a:r>
            <a:r>
              <a:rPr sz="2200" b="0" dirty="0">
                <a:solidFill>
                  <a:srgbClr val="000000"/>
                </a:solidFill>
              </a:rPr>
              <a:t> in </a:t>
            </a:r>
            <a:r>
              <a:rPr sz="2200" b="0" dirty="0" err="1">
                <a:solidFill>
                  <a:srgbClr val="000000"/>
                </a:solidFill>
              </a:rPr>
              <a:t>prose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an </a:t>
            </a:r>
            <a:r>
              <a:rPr sz="2200" b="0" dirty="0" err="1">
                <a:solidFill>
                  <a:srgbClr val="000000"/>
                </a:solidFill>
              </a:rPr>
              <a:t>LLM's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word</a:t>
            </a:r>
            <a:r>
              <a:rPr sz="2200" b="0" dirty="0">
                <a:solidFill>
                  <a:srgbClr val="000000"/>
                </a:solidFill>
              </a:rPr>
              <a:t> for it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not </a:t>
            </a:r>
            <a:r>
              <a:rPr sz="2200" b="0" dirty="0" err="1">
                <a:solidFill>
                  <a:srgbClr val="000000"/>
                </a:solidFill>
              </a:rPr>
              <a:t>enough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Motivation and research gap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35758"/>
            <a:ext cx="8513064" cy="156042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Facts live in text: biomarker expression, morphology, prognostic direction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LLMs can read at scale</a:t>
            </a:r>
            <a:r>
              <a:rPr lang="en-US" sz="1600" b="0" dirty="0">
                <a:solidFill>
                  <a:srgbClr val="000000"/>
                </a:solidFill>
              </a:rPr>
              <a:t>;</a:t>
            </a:r>
            <a:r>
              <a:rPr sz="1600" b="0" dirty="0">
                <a:solidFill>
                  <a:srgbClr val="000000"/>
                </a:solidFill>
              </a:rPr>
              <a:t> but </a:t>
            </a:r>
            <a:r>
              <a:rPr lang="en-US" sz="1600" b="0" dirty="0">
                <a:solidFill>
                  <a:srgbClr val="000000"/>
                </a:solidFill>
              </a:rPr>
              <a:t>they </a:t>
            </a:r>
            <a:r>
              <a:rPr sz="1600" b="0" dirty="0">
                <a:solidFill>
                  <a:srgbClr val="000000"/>
                </a:solidFill>
              </a:rPr>
              <a:t>hallucinate, omit qualifiers, and paraphrase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A claim you cannot trace back to a </a:t>
            </a:r>
            <a:r>
              <a:rPr lang="en-US" sz="1600" b="0" dirty="0">
                <a:solidFill>
                  <a:srgbClr val="000000"/>
                </a:solidFill>
              </a:rPr>
              <a:t>source</a:t>
            </a:r>
            <a:r>
              <a:rPr sz="1600" b="0" dirty="0">
                <a:solidFill>
                  <a:srgbClr val="000000"/>
                </a:solidFill>
              </a:rPr>
              <a:t> is not usable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Components are mature in isolation; the audited end-to-end system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3703320"/>
            <a:ext cx="8513064" cy="32932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dirty="0">
                <a:solidFill>
                  <a:srgbClr val="005293"/>
                </a:solidFill>
              </a:rPr>
              <a:t>Auditability is a hard requirement</a:t>
            </a:r>
            <a:r>
              <a:rPr lang="en-US" sz="1900" b="1" dirty="0">
                <a:solidFill>
                  <a:srgbClr val="005293"/>
                </a:solidFill>
              </a:rPr>
              <a:t>,</a:t>
            </a:r>
            <a:r>
              <a:rPr sz="1900" b="1" dirty="0">
                <a:solidFill>
                  <a:srgbClr val="005293"/>
                </a:solidFill>
              </a:rPr>
              <a:t> not a feature added afterwards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Five research questions, each answered by a measurement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30121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RQ1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Document extraction. </a:t>
            </a:r>
            <a:r>
              <a:rPr sz="1500" dirty="0">
                <a:solidFill>
                  <a:srgbClr val="000000"/>
                </a:solidFill>
              </a:rPr>
              <a:t>How faithfully are text, tables, figures and captions recovered</a:t>
            </a:r>
            <a:r>
              <a:rPr lang="en-US" sz="1500" dirty="0">
                <a:solidFill>
                  <a:srgbClr val="000000"/>
                </a:solidFill>
              </a:rPr>
              <a:t>, </a:t>
            </a:r>
            <a:r>
              <a:rPr sz="1500" dirty="0">
                <a:solidFill>
                  <a:srgbClr val="000000"/>
                </a:solidFill>
              </a:rPr>
              <a:t>and how much does the pipeline add over an off-the-shelf baseline?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RQ2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Knowledge extraction &amp; provenance. </a:t>
            </a:r>
            <a:r>
              <a:rPr sz="1500" dirty="0">
                <a:solidFill>
                  <a:srgbClr val="000000"/>
                </a:solidFill>
              </a:rPr>
              <a:t>What is the quality of the extracted findings and rules, and is provenance preserved end-to-end?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RQ3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Cost–quality trade-off. </a:t>
            </a:r>
            <a:r>
              <a:rPr sz="1500" dirty="0">
                <a:solidFill>
                  <a:srgbClr val="000000"/>
                </a:solidFill>
              </a:rPr>
              <a:t>Is the agreement-based cascade worth its cost against a single strong model?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RQ4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Grounding &amp; relation classification. </a:t>
            </a:r>
            <a:r>
              <a:rPr sz="1500" dirty="0">
                <a:solidFill>
                  <a:srgbClr val="000000"/>
                </a:solidFill>
              </a:rPr>
              <a:t>How does one shared biomedical NLI model perform in both roles?</a:t>
            </a:r>
          </a:p>
          <a:p>
            <a:pPr>
              <a:spcAft>
                <a:spcPts val="1300"/>
              </a:spcAft>
            </a:pPr>
            <a:r>
              <a:rPr sz="1500" b="1" dirty="0">
                <a:solidFill>
                  <a:srgbClr val="005293"/>
                </a:solidFill>
              </a:rPr>
              <a:t>RQ5</a:t>
            </a:r>
            <a:r>
              <a:rPr lang="en-US" sz="1500" b="1" dirty="0">
                <a:solidFill>
                  <a:srgbClr val="005293"/>
                </a:solidFill>
              </a:rPr>
              <a:t>: </a:t>
            </a:r>
            <a:r>
              <a:rPr sz="1500" b="1" dirty="0">
                <a:solidFill>
                  <a:srgbClr val="005293"/>
                </a:solidFill>
              </a:rPr>
              <a:t>Held-out generalization. </a:t>
            </a:r>
            <a:r>
              <a:rPr sz="1500" dirty="0">
                <a:solidFill>
                  <a:srgbClr val="000000"/>
                </a:solidFill>
              </a:rPr>
              <a:t>Does a configuration calibrated on one set of papers transfer, or does it overfit?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RQ2–RQ5 are measured against LLM-generated silver labels</a:t>
            </a:r>
            <a:r>
              <a:rPr lang="en-US" sz="1200" b="0" dirty="0">
                <a:solidFill>
                  <a:srgbClr val="E37222"/>
                </a:solidFill>
              </a:rPr>
              <a:t>: </a:t>
            </a:r>
            <a:r>
              <a:rPr sz="1200" b="0" dirty="0">
                <a:solidFill>
                  <a:srgbClr val="E37222"/>
                </a:solidFill>
              </a:rPr>
              <a:t>agreement with the label</a:t>
            </a:r>
            <a:r>
              <a:rPr lang="en-US" sz="1200" b="0" dirty="0">
                <a:solidFill>
                  <a:srgbClr val="E37222"/>
                </a:solidFill>
              </a:rPr>
              <a:t>er</a:t>
            </a:r>
            <a:r>
              <a:rPr sz="1200" b="0" dirty="0">
                <a:solidFill>
                  <a:srgbClr val="E37222"/>
                </a:solidFill>
              </a:rPr>
              <a:t>, not with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End-to-end architecture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</a:rPr>
              <a:t>PMC Open Access PDFs  →  977 ingested papers  →  typed, traceable rule candidates</a:t>
            </a:r>
          </a:p>
        </p:txBody>
      </p:sp>
      <p:pic>
        <p:nvPicPr>
          <p:cNvPr id="14" name="Picture 13" descr="fi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6" y="1664208"/>
            <a:ext cx="7404007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4302184"/>
            <a:ext cx="8513064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Provenance chain:  final rule → canonical rule → normal finding → MAP finding → text element → document (page, span, coordinates)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Docling plus three targeted fixes, each aimed at a named failure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Docling</a:t>
            </a:r>
            <a:r>
              <a:rPr lang="en-US" sz="1350" dirty="0">
                <a:solidFill>
                  <a:srgbClr val="0065BD"/>
                </a:solidFill>
              </a:rPr>
              <a:t> backbone:</a:t>
            </a:r>
            <a:r>
              <a:rPr sz="1350" dirty="0">
                <a:solidFill>
                  <a:srgbClr val="0065BD"/>
                </a:solidFill>
              </a:rPr>
              <a:t> sole source of body text, section structure and figure regions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16444"/>
            <a:ext cx="8513064" cy="22606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Hybrid table detection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 err="1">
                <a:solidFill>
                  <a:srgbClr val="000000"/>
                </a:solidFill>
              </a:rPr>
              <a:t>Docling</a:t>
            </a:r>
            <a:r>
              <a:rPr sz="1600" b="1" dirty="0">
                <a:solidFill>
                  <a:srgbClr val="000000"/>
                </a:solidFill>
              </a:rPr>
              <a:t> + TATR, overlapping boxes merged by union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350" dirty="0">
                <a:solidFill>
                  <a:srgbClr val="595959"/>
                </a:solidFill>
              </a:rPr>
              <a:t>targets tables </a:t>
            </a:r>
            <a:r>
              <a:rPr lang="en-US" sz="1350" dirty="0" err="1">
                <a:solidFill>
                  <a:srgbClr val="595959"/>
                </a:solidFill>
              </a:rPr>
              <a:t>Docling</a:t>
            </a:r>
            <a:r>
              <a:rPr lang="en-US" sz="1350" dirty="0">
                <a:solidFill>
                  <a:srgbClr val="595959"/>
                </a:solidFill>
              </a:rPr>
              <a:t> never proposes, e.g. split across a page boundary</a:t>
            </a:r>
            <a:endParaRPr lang="en-US" sz="135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Footnote expansion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table crop extended downward ×1.2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footnotes cut off below a tight crop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Figure post-processing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icon filter (&lt;50 pt) and a geometric caption matcher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logos emitted as figures, and captions attached to the wrong figure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Two-pass ghost-text removal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invisible text redacted, layout re-extracted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279392"/>
            <a:ext cx="8513064" cy="22929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8C8C8C"/>
                </a:solidFill>
              </a:rPr>
              <a:t>Input is the PDF only</a:t>
            </a:r>
            <a:r>
              <a:rPr lang="en-US" sz="1250" b="0" dirty="0">
                <a:solidFill>
                  <a:srgbClr val="8C8C8C"/>
                </a:solidFill>
              </a:rPr>
              <a:t>: </a:t>
            </a:r>
            <a:r>
              <a:rPr sz="1250" b="0" dirty="0">
                <a:solidFill>
                  <a:srgbClr val="8C8C8C"/>
                </a:solidFill>
              </a:rPr>
              <a:t>never JATS-XML,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Two-pass extraction removes an invisible “FOR PEER REVIEW” header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p2 · rule R1_blank_pixels · 45 of 67 nodes on this page rejected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ghost_text_header_p0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89" y="1371600"/>
            <a:ext cx="5566077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2999232"/>
            <a:ext cx="8513064" cy="133472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dirty="0">
                <a:solidFill>
                  <a:srgbClr val="000000"/>
                </a:solidFill>
              </a:rPr>
              <a:t>The purple boxes are text </a:t>
            </a:r>
            <a:r>
              <a:rPr sz="1400" b="1" dirty="0" err="1">
                <a:solidFill>
                  <a:srgbClr val="000000"/>
                </a:solidFill>
              </a:rPr>
              <a:t>Docling</a:t>
            </a:r>
            <a:r>
              <a:rPr sz="1400" b="1" dirty="0">
                <a:solidFill>
                  <a:srgbClr val="000000"/>
                </a:solidFill>
              </a:rPr>
              <a:t> extracted. None of it is visible in the rendered page.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000000"/>
                </a:solidFill>
              </a:rPr>
              <a:t>The publisher left the pre-publication header “Dermatopathology 2025, 12, x FOR PEER REVIEW” in an invisible layer, on top of the real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Detection is pixel-based: render the element's bounding box, test whether anything was actually drawn. 7,595 of 9,836 rejections corpus-wide come from this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Illustrative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example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from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evaluation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corpus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8" name="Picture 7" descr="fig_doc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6" y="987552"/>
            <a:ext cx="799684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4462272"/>
            <a:ext cx="8513064" cy="21390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8C8C8C"/>
                </a:solidFill>
              </a:rPr>
              <a:t>Illustration only</a:t>
            </a:r>
            <a:r>
              <a:rPr lang="en-US" sz="1150" b="0" dirty="0">
                <a:solidFill>
                  <a:srgbClr val="8C8C8C"/>
                </a:solidFill>
              </a:rPr>
              <a:t>, </a:t>
            </a:r>
            <a:r>
              <a:rPr sz="1150" b="0" dirty="0">
                <a:solidFill>
                  <a:srgbClr val="8C8C8C"/>
                </a:solidFill>
              </a:rPr>
              <a:t>not additional evaluation evidence. The quantitative result is on the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Seven </a:t>
            </a:r>
            <a:r>
              <a:rPr sz="2200" b="0" dirty="0" err="1">
                <a:solidFill>
                  <a:srgbClr val="000000"/>
                </a:solidFill>
              </a:rPr>
              <a:t>stages</a:t>
            </a:r>
            <a:r>
              <a:rPr lang="de-DE"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only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the MAP </a:t>
            </a:r>
            <a:r>
              <a:rPr lang="de-DE" sz="2200" b="0" dirty="0" err="1">
                <a:solidFill>
                  <a:srgbClr val="000000"/>
                </a:solidFill>
              </a:rPr>
              <a:t>stage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stochastic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5237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0000"/>
                </a:solidFill>
              </a:rPr>
              <a:t>Only MAP calls a language model. Every later stage merges, selects or scores</a:t>
            </a:r>
            <a:r>
              <a:rPr lang="tr-TR" sz="1400" b="1" dirty="0">
                <a:solidFill>
                  <a:srgbClr val="000000"/>
                </a:solidFill>
              </a:rPr>
              <a:t>;</a:t>
            </a:r>
            <a:r>
              <a:rPr sz="1400" b="1" dirty="0">
                <a:solidFill>
                  <a:srgbClr val="000000"/>
                </a:solidFill>
              </a:rPr>
              <a:t> it never invents.</a:t>
            </a:r>
          </a:p>
        </p:txBody>
      </p:sp>
      <p:pic>
        <p:nvPicPr>
          <p:cNvPr id="14" name="Picture 13" descr="fig_knowledg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3" y="1719072"/>
            <a:ext cx="767939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3877056"/>
            <a:ext cx="8513064" cy="87049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595959"/>
                </a:solidFill>
              </a:rPr>
              <a:t>Typed MAP finding:  claim · subject/outcome entity · relation type · direction · category · scope · verbatim evidence · confidence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005293"/>
                </a:solidFill>
              </a:rPr>
              <a:t>The verbatim support is overwritten with the source text looked up from the database</a:t>
            </a:r>
            <a:r>
              <a:rPr lang="en-US" sz="1250" dirty="0">
                <a:solidFill>
                  <a:srgbClr val="005293"/>
                </a:solidFill>
              </a:rPr>
              <a:t>. A</a:t>
            </a:r>
            <a:r>
              <a:rPr sz="1250" b="0" dirty="0">
                <a:solidFill>
                  <a:srgbClr val="005293"/>
                </a:solidFill>
              </a:rPr>
              <a:t> quoted span cannot be hallucinated</a:t>
            </a:r>
            <a:r>
              <a:rPr lang="en-US" sz="1250" dirty="0">
                <a:solidFill>
                  <a:srgbClr val="005293"/>
                </a:solidFill>
              </a:rPr>
              <a:t>.</a:t>
            </a:r>
            <a:endParaRPr sz="1250" b="0" dirty="0">
              <a:solidFill>
                <a:srgbClr val="00529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Cheap </a:t>
            </a:r>
            <a:r>
              <a:rPr sz="2200" b="0" dirty="0" err="1">
                <a:solidFill>
                  <a:srgbClr val="000000"/>
                </a:solidFill>
              </a:rPr>
              <a:t>voters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decide</a:t>
            </a:r>
            <a:r>
              <a:rPr sz="2200" b="0" dirty="0">
                <a:solidFill>
                  <a:srgbClr val="000000"/>
                </a:solidFill>
              </a:rPr>
              <a:t>; the strong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on </a:t>
            </a:r>
            <a:r>
              <a:rPr sz="2200" b="0" dirty="0" err="1">
                <a:solidFill>
                  <a:srgbClr val="000000"/>
                </a:solidFill>
              </a:rPr>
              <a:t>disagreement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Agreement-based cascading at the MAP stage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integrated and calibrated after Kolawole et al. (2025)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abc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3038"/>
            <a:ext cx="5760720" cy="22946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1481328"/>
            <a:ext cx="2377440" cy="218111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L1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3 cheap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Flash-Lite · GPT-4o mini · GPT-4.1 nano</a:t>
            </a:r>
            <a:r>
              <a:rPr lang="tr-TR" sz="115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parallel, every chunk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L2 </a:t>
            </a:r>
            <a:r>
              <a:rPr lang="en-US" sz="1400" b="1" dirty="0">
                <a:solidFill>
                  <a:srgbClr val="005293"/>
                </a:solidFill>
              </a:rPr>
              <a:t>–</a:t>
            </a:r>
            <a:r>
              <a:rPr sz="1400" b="1" dirty="0">
                <a:solidFill>
                  <a:srgbClr val="005293"/>
                </a:solidFill>
              </a:rPr>
              <a:t> 2 mid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 · GPT-4.1 mini</a:t>
            </a:r>
            <a:r>
              <a:rPr lang="en-US" sz="1150" b="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only on L1 disagreement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L3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Claude Sonnet 4.6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595959"/>
                </a:solidFill>
              </a:rPr>
              <a:t>unconditional accept</a:t>
            </a:r>
            <a:r>
              <a:rPr lang="en-US" sz="1150" b="0" dirty="0">
                <a:solidFill>
                  <a:srgbClr val="595959"/>
                </a:solidFill>
              </a:rPr>
              <a:t>, </a:t>
            </a:r>
            <a:r>
              <a:rPr sz="1150" b="0" dirty="0">
                <a:solidFill>
                  <a:srgbClr val="595959"/>
                </a:solidFill>
              </a:rPr>
              <a:t>no scorer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206240"/>
            <a:ext cx="8513064" cy="50372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5293"/>
                </a:solidFill>
              </a:rPr>
              <a:t>accept if  s ≥ </a:t>
            </a:r>
            <a:r>
              <a:rPr sz="1500" b="1" dirty="0" err="1">
                <a:solidFill>
                  <a:srgbClr val="005293"/>
                </a:solidFill>
              </a:rPr>
              <a:t>θ</a:t>
            </a:r>
            <a:r>
              <a:rPr sz="1500" b="1" dirty="0">
                <a:solidFill>
                  <a:srgbClr val="005293"/>
                </a:solidFill>
              </a:rPr>
              <a:t>      ·      reject if  s ≤ </a:t>
            </a:r>
            <a:r>
              <a:rPr sz="1500" b="1" dirty="0" err="1">
                <a:solidFill>
                  <a:srgbClr val="005293"/>
                </a:solidFill>
              </a:rPr>
              <a:t>θ_reject</a:t>
            </a:r>
            <a:r>
              <a:rPr sz="1500" b="1" dirty="0">
                <a:solidFill>
                  <a:srgbClr val="005293"/>
                </a:solidFill>
              </a:rPr>
              <a:t>      ·      otherwise escalate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95959"/>
                </a:solidFill>
              </a:rPr>
              <a:t>All voters at temperature 0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diversity comes from providers, not from sampling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7796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agreement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scorer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picks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winner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Max-consensus over an N×N similarity matrix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no ground truth involved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6932"/>
            <a:ext cx="8513064" cy="31454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returns a set of typed findings for the chunk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Align every pair of voters one-to-one, then score the alignment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the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voter's score = its mean similarity to the others; the chunk's agreement score = the maximum of those means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0" dirty="0">
                <a:solidFill>
                  <a:srgbClr val="000000"/>
                </a:solidFill>
              </a:rPr>
              <a:t>•  The winner is the most consensus-aligned voter. Ties break on grounding quality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fraction of findings with a non-empty evidence chain, then sources per finding.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E37222"/>
                </a:solidFill>
              </a:rPr>
              <a:t>The score measures agreement, not correctness. Voters can </a:t>
            </a:r>
            <a:r>
              <a:rPr lang="en-US" sz="1350" b="1" dirty="0">
                <a:solidFill>
                  <a:srgbClr val="E37222"/>
                </a:solidFill>
              </a:rPr>
              <a:t>agree, and all be wrong, which is exactly why GROUNDING runs afterward.</a:t>
            </a:r>
            <a:endParaRPr sz="1350" b="1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datasets</a:t>
            </a:r>
            <a:r>
              <a:rPr sz="2200" b="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human-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LLM-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61942"/>
              </p:ext>
            </p:extLst>
          </p:nvPr>
        </p:nvGraphicFramePr>
        <p:xfrm>
          <a:off x="310896" y="1060704"/>
          <a:ext cx="859232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Construction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Labels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Ingested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PMC OA keyword filter, single-PDF, ≤30 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Doc-extraction rubric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27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manually selected, frozen, disjoint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human (1 annotator)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related15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454 cases · 2,223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exhaustive ILP over inter-paper relatedness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RQ2, RQ3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heldout15 evaluation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285 cases · 1,657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random sample, disjoint from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 claim pairs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300 pairs (100 per class)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generated label-first, independent of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synthetic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93192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005293"/>
                </a:solidFill>
              </a:rPr>
              <a:t>Only RQ1 rests on human labels. RQ2–RQ5 measure agreement with Claude Opus 4.7.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RQ1: Footnote capture and figure post-processing roughly double strict-F1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27-PDF rubric set · human labels · strict-F1 requires every applicable dimension to be perfect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1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12474"/>
            <a:ext cx="4114800" cy="2626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89888"/>
            <a:ext cx="4160520" cy="3017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Tables 0.366 → 0.838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lever is footnote precision, 43.8% → 91.4%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Detector alone 0.400 → 0.420 · + footnote expansion 0.800 · + hybrid and geometry fixes 0.838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Figures 0.447 → 0.840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I</a:t>
            </a:r>
            <a:r>
              <a:rPr sz="1450" b="0" dirty="0">
                <a:solidFill>
                  <a:srgbClr val="000000"/>
                </a:solidFill>
              </a:rPr>
              <a:t>con filter (63 crops) and caption matching (16 fixes)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50" b="0" dirty="0">
                <a:solidFill>
                  <a:srgbClr val="000000"/>
                </a:solidFill>
              </a:rPr>
              <a:t>•  Decorative-icon false positives 73 → 14;  emitted crops 139 → 76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Cost of footnote expansion: table mask-F1 94.3% → 91.9%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Footnote expansion is the single biggest lever in the document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PMC11649516_HIS-86-236 p5 · rubric label 'missing footnotes' → 'correct'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1_footnotes_p05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6" y="1400536"/>
            <a:ext cx="3137982" cy="3432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6943" y="1718593"/>
            <a:ext cx="2770632" cy="2834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005293"/>
                </a:solidFill>
              </a:rPr>
              <a:t>43.8% → 91.4%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50" b="0" dirty="0">
                <a:solidFill>
                  <a:srgbClr val="595959"/>
                </a:solidFill>
              </a:rPr>
              <a:t>footnote precision, 27-PDF rubric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Crop grows 1320 → 1468 </a:t>
            </a:r>
            <a:r>
              <a:rPr sz="1250" b="0" dirty="0" err="1">
                <a:solidFill>
                  <a:srgbClr val="000000"/>
                </a:solidFill>
              </a:rPr>
              <a:t>px</a:t>
            </a:r>
            <a:r>
              <a:rPr sz="1250" b="0" dirty="0">
                <a:solidFill>
                  <a:srgbClr val="000000"/>
                </a:solidFill>
              </a:rPr>
              <a:t> (+11%)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14 regions fixed on the rubric set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250" b="0" dirty="0">
                <a:solidFill>
                  <a:srgbClr val="000000"/>
                </a:solidFill>
              </a:rPr>
              <a:t>•  Alone it takes strict-F1 to 0.800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E37222"/>
                </a:solidFill>
              </a:rPr>
              <a:t>Cost: mask-F1 94.3% → 91.9%, because a larger crop sometimes covers text that should have stayed.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RQ2: 1,747 </a:t>
            </a:r>
            <a:r>
              <a:rPr sz="2200" b="0" dirty="0" err="1">
                <a:solidFill>
                  <a:srgbClr val="000000"/>
                </a:solidFill>
              </a:rPr>
              <a:t>rules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traces</a:t>
            </a:r>
            <a:r>
              <a:rPr sz="2200" b="0" dirty="0">
                <a:solidFill>
                  <a:srgbClr val="000000"/>
                </a:solidFill>
              </a:rPr>
              <a:t> back to a source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related15 · frozen five-voter cascade · θ = 0.9, θ_reject = 0.2, grounding 0.5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2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37467"/>
            <a:ext cx="4114800" cy="2954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4111" y="1437860"/>
            <a:ext cx="4160520" cy="9859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005293"/>
                </a:solidFill>
              </a:rPr>
              <a:t>100%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000000"/>
                </a:solidFill>
              </a:rPr>
              <a:t>of final rules resolve to ≥</a:t>
            </a:r>
            <a:r>
              <a:rPr lang="en-US" sz="1300" b="0" dirty="0">
                <a:solidFill>
                  <a:srgbClr val="000000"/>
                </a:solidFill>
              </a:rPr>
              <a:t> </a:t>
            </a:r>
            <a:r>
              <a:rPr sz="1300" b="0" dirty="0">
                <a:solidFill>
                  <a:srgbClr val="000000"/>
                </a:solidFill>
              </a:rPr>
              <a:t>1 source paragraph in their own paper  (1,747 / 1,747)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110" y="2425412"/>
            <a:ext cx="4268525" cy="168353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Figures and tables carry page + bounding box: 100%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All tables carry a caption; figures with captions 86.3%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Measured corpus-wide: 977 documents · 35,896 text elements · 4,479 figures · 1,960 tables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Cross-reference linking resolves for 53.6% of figures and 58.9% of tables</a:t>
            </a:r>
            <a:r>
              <a:rPr lang="tr-TR" sz="1150" b="0" dirty="0">
                <a:solidFill>
                  <a:srgbClr val="595959"/>
                </a:solidFill>
              </a:rPr>
              <a:t>, but is </a:t>
            </a:r>
            <a:r>
              <a:rPr sz="1150" b="0" dirty="0">
                <a:solidFill>
                  <a:srgbClr val="595959"/>
                </a:solidFill>
              </a:rPr>
              <a:t>not used downstream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What one extracted rule actually looks like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9224"/>
              </p:ext>
            </p:extLst>
          </p:nvPr>
        </p:nvGraphicFramePr>
        <p:xfrm>
          <a:off x="310896" y="1060704"/>
          <a:ext cx="851306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subject_entity / outcome_entity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  →   Continuance of life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relation_type / direction / category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prognostic  /  negative  /  prognosis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predicate_text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→ independent predictor of survival in a Cox regression model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mean_grounding_score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0.9997      (NLI entailment against the cited paragraph)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final_score / score_mode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0.6198  /  relations_present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finding_count / support_count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  /  1       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study_coverage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single_study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member_normal_ids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NF_PMC10100421_…_ff259926,  NF_PMC10100421_…_4a2e8baa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supporting_pmcids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PMC10100421_HIS-82-393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is_conflicted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37222"/>
                          </a:solidFill>
                        </a:rPr>
                        <a:t>True  — the group holds more than one polarity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59936"/>
            <a:ext cx="8513064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05293"/>
                </a:solidFill>
              </a:rPr>
              <a:t>Every ID is a live back-pointer: final rule → canonical rule → normal findings → MAP findings → text elements → page and coordinates.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Calibration on related15 · 474 chunks · strict-F1 vs Opus silver, optimal (Hungarian) matcher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rq3a_theta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16736"/>
            <a:ext cx="5037328" cy="3063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554480"/>
            <a:ext cx="2651760" cy="2560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</a:rPr>
              <a:t>Pinned operating point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</a:rPr>
              <a:t>θ = 0.9,  θ_reject = 0.2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5293"/>
                </a:solidFill>
              </a:rPr>
              <a:t>strict-F1  0.7160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E37222"/>
                </a:solidFill>
              </a:rPr>
              <a:t>at 95.6% escalation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</a:rPr>
              <a:t>θ 0.7 → 0.8:   +≈0.05 strict-F1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000000"/>
                </a:solidFill>
              </a:rPr>
              <a:t>θ 0.8 → 0.9:   +0.0085 strict-F1,
+8.5% cost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At θ = 0.9 the cheap voters resolve about 1 chunk in 20 on their 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76559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How the </a:t>
            </a:r>
            <a:r>
              <a:rPr sz="2000" b="0" dirty="0" err="1">
                <a:solidFill>
                  <a:srgbClr val="000000"/>
                </a:solidFill>
              </a:rPr>
              <a:t>shipped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configuration</a:t>
            </a:r>
            <a:r>
              <a:rPr sz="2000" b="0" dirty="0">
                <a:solidFill>
                  <a:srgbClr val="000000"/>
                </a:solidFill>
              </a:rPr>
              <a:t> was </a:t>
            </a:r>
            <a:r>
              <a:rPr sz="2000" b="0" dirty="0" err="1">
                <a:solidFill>
                  <a:srgbClr val="000000"/>
                </a:solidFill>
              </a:rPr>
              <a:t>chosen</a:t>
            </a:r>
            <a:r>
              <a:rPr lang="de-DE" sz="2000" dirty="0">
                <a:solidFill>
                  <a:srgbClr val="000000"/>
                </a:solidFill>
              </a:rPr>
              <a:t>: </a:t>
            </a:r>
            <a:r>
              <a:rPr sz="2000" b="0" dirty="0" err="1">
                <a:solidFill>
                  <a:srgbClr val="000000"/>
                </a:solidFill>
              </a:rPr>
              <a:t>six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experiments</a:t>
            </a:r>
            <a:r>
              <a:rPr sz="2000" b="0" dirty="0">
                <a:solidFill>
                  <a:srgbClr val="000000"/>
                </a:solidFill>
              </a:rPr>
              <a:t>, in </a:t>
            </a:r>
            <a:r>
              <a:rPr sz="2000" b="0" dirty="0" err="1">
                <a:solidFill>
                  <a:srgbClr val="000000"/>
                </a:solidFill>
              </a:rPr>
              <a:t>order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58303"/>
              </p:ext>
            </p:extLst>
          </p:nvPr>
        </p:nvGraphicFramePr>
        <p:xfrm>
          <a:off x="310896" y="1120079"/>
          <a:ext cx="8513064" cy="233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Which embedder, scorer and alignment?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hybrid scorer beats plain embedding on every embedder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How should the hybrid signals be weighted?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Gemini + hybrid + greedy, entity-heavy blend → 0.7133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E06b/c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Can any voter be dropped?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drop Claude Haiku: F1-neutral, −18% cost per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Where should θ and θ_reject sit?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θ = 0.9, θ_reject = 0.2 → 0.7147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Do the accept/escalate gates matter?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escalate 0.7160 vs keep 0.7147 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within noise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 curve at the shipped setting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005293"/>
                          </a:solidFill>
                        </a:rPr>
                        <a:t>0.7160 at 95.6% escalation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43823"/>
            <a:ext cx="8513064" cy="7525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Order matters: each experiment fixes one knob and passes the rest forward, so the search is linear rather than combinatorial.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one of these replays from cached voter outputs</a:t>
            </a:r>
            <a:r>
              <a:rPr lang="en-US" sz="1300" b="1" dirty="0">
                <a:solidFill>
                  <a:srgbClr val="005293"/>
                </a:solidFill>
              </a:rPr>
              <a:t>:</a:t>
            </a:r>
            <a:r>
              <a:rPr sz="1300" b="1" dirty="0">
                <a:solidFill>
                  <a:srgbClr val="005293"/>
                </a:solidFill>
              </a:rPr>
              <a:t> no new API calls, no cost, byte-identical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Paper-level clustered paired bootstrap, B = 10,000 · cost in price-weighted units per chunk (the thesis states no currency)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cost_quality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36397"/>
            <a:ext cx="4114800" cy="2756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90868"/>
            <a:ext cx="4160520" cy="12344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5293"/>
                </a:solidFill>
              </a:rPr>
              <a:t>Cascade         </a:t>
            </a:r>
            <a:r>
              <a:rPr sz="1700" b="1" dirty="0">
                <a:solidFill>
                  <a:srgbClr val="005293"/>
                </a:solidFill>
              </a:rPr>
              <a:t>0.7160</a:t>
            </a:r>
            <a:r>
              <a:rPr sz="1300" b="0" dirty="0">
                <a:solidFill>
                  <a:srgbClr val="005293"/>
                </a:solidFill>
              </a:rPr>
              <a:t>    at 23.66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0000"/>
                </a:solidFill>
              </a:rPr>
              <a:t>Single Sonnet   </a:t>
            </a:r>
            <a:r>
              <a:rPr sz="1700" b="1" dirty="0">
                <a:solidFill>
                  <a:srgbClr val="000000"/>
                </a:solidFill>
              </a:rPr>
              <a:t>0.7129</a:t>
            </a:r>
            <a:r>
              <a:rPr sz="1300" b="0" dirty="0">
                <a:solidFill>
                  <a:srgbClr val="000000"/>
                </a:solidFill>
              </a:rPr>
              <a:t>    at 18.00</a:t>
            </a:r>
          </a:p>
          <a:p>
            <a:pPr>
              <a:spcBef>
                <a:spcPts val="600"/>
              </a:spcBef>
            </a:pPr>
            <a:r>
              <a:rPr sz="1350" b="1" dirty="0" err="1">
                <a:solidFill>
                  <a:srgbClr val="E37222"/>
                </a:solidFill>
              </a:rPr>
              <a:t>Δ</a:t>
            </a:r>
            <a:r>
              <a:rPr sz="1350" b="1" dirty="0">
                <a:solidFill>
                  <a:srgbClr val="E37222"/>
                </a:solidFill>
              </a:rPr>
              <a:t> = +0.0031      95% CI [−0.0002, +0.0068]</a:t>
            </a:r>
          </a:p>
          <a:p>
            <a:r>
              <a:rPr sz="1500" b="1" dirty="0">
                <a:solidFill>
                  <a:srgbClr val="E37222"/>
                </a:solidFill>
              </a:rPr>
              <a:t>not statistically 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756"/>
            <a:ext cx="4160520" cy="173483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000000"/>
                </a:solidFill>
              </a:rPr>
              <a:t>•  vs. every cheaper model: +0.060 to +0.26, all significant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005293"/>
                </a:solidFill>
              </a:rPr>
              <a:t>Not cost-justified against the single strong model. Decisively better than every cheap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Counter-consideration: Sonnet shares a model family with the Opus silver </a:t>
            </a:r>
            <a:r>
              <a:rPr lang="en-US" sz="1150" dirty="0">
                <a:solidFill>
                  <a:srgbClr val="595959"/>
                </a:solidFill>
              </a:rPr>
              <a:t>labeler,</a:t>
            </a:r>
            <a:r>
              <a:rPr sz="1150" b="0" dirty="0">
                <a:solidFill>
                  <a:srgbClr val="595959"/>
                </a:solidFill>
              </a:rPr>
              <a:t> so the measured gap is arguably conservative.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RQ4: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NLI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two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roles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grounding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costs</a:t>
            </a:r>
            <a:r>
              <a:rPr sz="2200" b="0" dirty="0">
                <a:solidFill>
                  <a:srgbClr val="000000"/>
                </a:solidFill>
              </a:rPr>
              <a:t> 6 F1 </a:t>
            </a:r>
            <a:r>
              <a:rPr sz="2200" b="0" dirty="0" err="1">
                <a:solidFill>
                  <a:srgbClr val="000000"/>
                </a:solidFill>
              </a:rPr>
              <a:t>points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pritamdeka</a:t>
            </a:r>
            <a:r>
              <a:rPr sz="1350" dirty="0">
                <a:solidFill>
                  <a:srgbClr val="0065BD"/>
                </a:solidFill>
              </a:rPr>
              <a:t>/</a:t>
            </a:r>
            <a:r>
              <a:rPr sz="1350" dirty="0" err="1">
                <a:solidFill>
                  <a:srgbClr val="0065BD"/>
                </a:solidFill>
              </a:rPr>
              <a:t>PubMedBERT</a:t>
            </a:r>
            <a:r>
              <a:rPr sz="1350" dirty="0">
                <a:solidFill>
                  <a:srgbClr val="0065BD"/>
                </a:solidFill>
              </a:rPr>
              <a:t>-MNLI-</a:t>
            </a:r>
            <a:r>
              <a:rPr sz="1350" dirty="0" err="1">
                <a:solidFill>
                  <a:srgbClr val="0065BD"/>
                </a:solidFill>
              </a:rPr>
              <a:t>MedNLI</a:t>
            </a:r>
            <a:r>
              <a:rPr sz="1350" dirty="0">
                <a:solidFill>
                  <a:srgbClr val="0065BD"/>
                </a:solidFill>
              </a:rPr>
              <a:t> — frozen, no fine-tuning, shared by GROUNDING and RELATE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grounding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53312"/>
            <a:ext cx="3445151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" y="3584448"/>
            <a:ext cx="4617720" cy="11038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005293"/>
                </a:solidFill>
              </a:rPr>
              <a:t>Grounding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000000"/>
                </a:solidFill>
              </a:rPr>
              <a:t>Bimodal: 77.5% score ≥ 0.9, ≈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sz="1200" b="0" dirty="0">
                <a:solidFill>
                  <a:srgbClr val="000000"/>
                </a:solidFill>
              </a:rPr>
              <a:t>14% &lt; 0.3. Threshold 0.5 retains 83.8%; strict-F1 0.716 → 0.652; precision flat (0.872 → 0.875).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Of the 371 findings removed, ≈</a:t>
            </a:r>
            <a:r>
              <a:rPr lang="en-US" sz="1150" b="0" dirty="0">
                <a:solidFill>
                  <a:srgbClr val="595959"/>
                </a:solidFill>
              </a:rPr>
              <a:t> </a:t>
            </a:r>
            <a:r>
              <a:rPr sz="1150" b="0" dirty="0">
                <a:solidFill>
                  <a:srgbClr val="595959"/>
                </a:solidFill>
              </a:rPr>
              <a:t>86% agreed with the Opus silver</a:t>
            </a:r>
            <a:r>
              <a:rPr lang="en-US" sz="1150" b="0" dirty="0">
                <a:solidFill>
                  <a:srgbClr val="595959"/>
                </a:solidFill>
              </a:rPr>
              <a:t>:</a:t>
            </a:r>
            <a:r>
              <a:rPr sz="1150" b="0" dirty="0">
                <a:solidFill>
                  <a:srgbClr val="595959"/>
                </a:solidFill>
              </a:rPr>
              <a:t> traded knowingly for source faithfulness.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444752"/>
            <a:ext cx="3685032" cy="28889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Relation classification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50" b="0" dirty="0">
                <a:solidFill>
                  <a:srgbClr val="595959"/>
                </a:solidFill>
              </a:rPr>
              <a:t>synthetic 300 pairs, 100 per class, thresholds frozen at 0.50 / 0.50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005293"/>
                </a:solidFill>
              </a:rPr>
              <a:t>accuracy 0.923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macro-F1 0.924   (production </a:t>
            </a:r>
            <a:r>
              <a:rPr sz="1200" b="0" dirty="0" err="1">
                <a:solidFill>
                  <a:srgbClr val="000000"/>
                </a:solidFill>
              </a:rPr>
              <a:t>scope_aware</a:t>
            </a:r>
            <a:r>
              <a:rPr sz="1200" b="0" dirty="0">
                <a:solidFill>
                  <a:srgbClr val="000000"/>
                </a:solidFill>
              </a:rPr>
              <a:t> mode)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SUPPORT  precision 1.000, F1 0.953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CONTRADICT  F1 0.922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0" dirty="0">
                <a:solidFill>
                  <a:srgbClr val="000000"/>
                </a:solidFill>
              </a:rPr>
              <a:t>•  UNRELATED  F1 0.897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 dirty="0">
                <a:solidFill>
                  <a:srgbClr val="E37222"/>
                </a:solidFill>
              </a:rPr>
              <a:t>Class-balanced synthetic set</a:t>
            </a:r>
            <a:r>
              <a:rPr lang="en-US" sz="1150" b="1" dirty="0">
                <a:solidFill>
                  <a:srgbClr val="E37222"/>
                </a:solidFill>
              </a:rPr>
              <a:t>: </a:t>
            </a:r>
            <a:r>
              <a:rPr sz="1150" b="1" dirty="0">
                <a:solidFill>
                  <a:srgbClr val="E37222"/>
                </a:solidFill>
              </a:rPr>
              <a:t>an optimistic ceiling, not a corpus-representative estimate.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lang="en-US" sz="1350" dirty="0">
                <a:solidFill>
                  <a:srgbClr val="0065BD"/>
                </a:solidFill>
              </a:rPr>
              <a:t>H</a:t>
            </a:r>
            <a:r>
              <a:rPr sz="1350" dirty="0">
                <a:solidFill>
                  <a:srgbClr val="0065BD"/>
                </a:solidFill>
              </a:rPr>
              <a:t>eldout15</a:t>
            </a:r>
            <a:r>
              <a:rPr lang="en-US" sz="1350" dirty="0">
                <a:solidFill>
                  <a:srgbClr val="0065BD"/>
                </a:solidFill>
              </a:rPr>
              <a:t>: </a:t>
            </a:r>
            <a:r>
              <a:rPr sz="1350" dirty="0">
                <a:solidFill>
                  <a:srgbClr val="0065BD"/>
                </a:solidFill>
              </a:rPr>
              <a:t>15 papers, disjoint, random sample · configuration frozen before evaluation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heldout_th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31016"/>
            <a:ext cx="4114800" cy="261639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24157"/>
              </p:ext>
            </p:extLst>
          </p:nvPr>
        </p:nvGraphicFramePr>
        <p:xfrm>
          <a:off x="4663440" y="1371600"/>
          <a:ext cx="3977640" cy="2152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related15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heldout15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0.7128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Loose-F1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Recall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0.900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Escalation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95.6%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99.0%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Rule provenance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675887"/>
            <a:ext cx="4160520" cy="8858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Gap = 0.0032</a:t>
            </a:r>
            <a:r>
              <a:rPr lang="en-US" sz="1400" b="1" dirty="0">
                <a:solidFill>
                  <a:srgbClr val="005293"/>
                </a:solidFill>
              </a:rPr>
              <a:t>: </a:t>
            </a:r>
            <a:r>
              <a:rPr sz="1400" b="1" dirty="0">
                <a:solidFill>
                  <a:srgbClr val="005293"/>
                </a:solidFill>
              </a:rPr>
              <a:t>within the bootstrap noise band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Escalation rises to 99.0%: on unfamiliar papers the cheap voters agree even less often. </a:t>
            </a:r>
            <a:r>
              <a:rPr sz="1150" b="0" dirty="0" err="1">
                <a:solidFill>
                  <a:srgbClr val="595959"/>
                </a:solidFill>
              </a:rPr>
              <a:t>θ</a:t>
            </a:r>
            <a:r>
              <a:rPr sz="1150" b="0" dirty="0">
                <a:solidFill>
                  <a:srgbClr val="595959"/>
                </a:solidFill>
              </a:rPr>
              <a:t> was fixed after calibration</a:t>
            </a:r>
            <a:r>
              <a:rPr lang="en-US" sz="1150" b="0" dirty="0">
                <a:solidFill>
                  <a:srgbClr val="595959"/>
                </a:solidFill>
              </a:rPr>
              <a:t>, so </a:t>
            </a:r>
            <a:r>
              <a:rPr sz="1150" b="0" dirty="0">
                <a:solidFill>
                  <a:srgbClr val="595959"/>
                </a:solidFill>
              </a:rPr>
              <a:t>the sweep is descriptive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Every number after RQ1 measures agreement with an LLM, not a pathologist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Limitations and threats to validity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03543"/>
            <a:ext cx="8513064" cy="25889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Silver labels bound everything.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RQ2–RQ5 measure agreement with Claude Opus 4.7. No experiment in this design can lift that ceiling.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Model-family overlap threatens RQ3 specifically.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Sonnet and the Opus </a:t>
            </a:r>
            <a:r>
              <a:rPr lang="en-US" sz="1300" dirty="0">
                <a:solidFill>
                  <a:srgbClr val="595959"/>
                </a:solidFill>
              </a:rPr>
              <a:t>labeler</a:t>
            </a:r>
            <a:r>
              <a:rPr sz="1300" b="0" dirty="0">
                <a:solidFill>
                  <a:srgbClr val="595959"/>
                </a:solidFill>
              </a:rPr>
              <a:t> are both Anthropic; the cascade's voters are not. Direction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arguable</a:t>
            </a:r>
            <a:r>
              <a:rPr lang="en-US" sz="1300" dirty="0">
                <a:solidFill>
                  <a:srgbClr val="595959"/>
                </a:solidFill>
              </a:rPr>
              <a:t>, but</a:t>
            </a:r>
            <a:r>
              <a:rPr sz="1300" b="0" dirty="0">
                <a:solidFill>
                  <a:srgbClr val="595959"/>
                </a:solidFill>
              </a:rPr>
              <a:t> magnitude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unmeasured.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RQ1's human labels are 27 papers, one annotator.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No inter-annotator agreement. Read as trends, not exact values.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RQ4's relation set is synthetic and class-balanced.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95959"/>
                </a:solidFill>
              </a:rPr>
              <a:t>An optimistic ceiling; real corpus relations have no labels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40626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Scope: English, open-access, histopathology. Outputs are rule candidates for expert review</a:t>
            </a:r>
            <a:r>
              <a:rPr lang="en-US" sz="1200" b="0" dirty="0">
                <a:solidFill>
                  <a:srgbClr val="E37222"/>
                </a:solidFill>
              </a:rPr>
              <a:t>; </a:t>
            </a:r>
            <a:r>
              <a:rPr sz="1200" b="0" dirty="0">
                <a:solidFill>
                  <a:srgbClr val="E37222"/>
                </a:solidFill>
              </a:rPr>
              <a:t>confidence scores are not clinical probabilities.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lang="de-DE" sz="2200" b="0" dirty="0">
                <a:solidFill>
                  <a:srgbClr val="000000"/>
                </a:solidFill>
              </a:rPr>
              <a:t>;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negative </a:t>
            </a:r>
            <a:r>
              <a:rPr sz="2200" b="0" dirty="0" err="1">
                <a:solidFill>
                  <a:srgbClr val="000000"/>
                </a:solidFill>
              </a:rPr>
              <a:t>result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reported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not </a:t>
            </a:r>
            <a:r>
              <a:rPr sz="2200" b="0" dirty="0" err="1">
                <a:solidFill>
                  <a:srgbClr val="000000"/>
                </a:solidFill>
              </a:rPr>
              <a:t>buried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65768"/>
              </p:ext>
            </p:extLst>
          </p:nvPr>
        </p:nvGraphicFramePr>
        <p:xfrm>
          <a:off x="310896" y="1108675"/>
          <a:ext cx="8513064" cy="226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Targets met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tables 0.366 → 0.838, figures 0.447 → 0.840  (human rubric)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Quality reached; provenance structural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 0.7160;  100% rule carry-rate (1,747 / 1,747)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Not cost-justified vs. the strong single model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7222"/>
                          </a:solidFill>
                        </a:rPr>
                        <a:t>Δ +0.0031, CI [−0.0002, +0.0068];  Sonnet 24% cheaper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Both NLI roles behave as designed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grounding 0.716 → 0.652 by choice;  relations 0.923 (synthetic)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Does not overfit the calibration cluster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0.7160 → 0.7128,  gap 0.0032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32420"/>
            <a:ext cx="8513064" cy="9601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5293"/>
                </a:solidFill>
              </a:rPr>
              <a:t>The lasting contribution is the framework, not this operating point: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</a:rPr>
              <a:t>provenance by construction  ·  cost and quality as calibrated knobs  ·  full offline replay with no API calls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Backup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Post-submission audit: the sub-figure merge step never executes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A correction to the thesis's figure-gain attribution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9171"/>
            <a:ext cx="8513064" cy="1417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0" dirty="0">
                <a:solidFill>
                  <a:srgbClr val="000000"/>
                </a:solidFill>
              </a:rPr>
              <a:t>The thesis credits the figure gain to three mechanisms: icon filtering, sub-figure merging, and caption matching.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dirty="0">
                <a:solidFill>
                  <a:srgbClr val="E37222"/>
                </a:solidFill>
              </a:rPr>
              <a:t>Sub-figure merging cannot have contributed</a:t>
            </a:r>
            <a:r>
              <a:rPr lang="en-US" sz="1600" b="1" dirty="0">
                <a:solidFill>
                  <a:srgbClr val="E37222"/>
                </a:solidFill>
              </a:rPr>
              <a:t>: </a:t>
            </a:r>
            <a:r>
              <a:rPr sz="1600" b="1" dirty="0">
                <a:solidFill>
                  <a:srgbClr val="E37222"/>
                </a:solidFill>
              </a:rPr>
              <a:t>the branch is unreachable.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Once a figure claims a caption, that caption is removed from the candidate pool. The merge triggers only when a caption is found that is already claimed</a:t>
            </a:r>
            <a:r>
              <a:rPr lang="en-US" sz="1300" b="0" dirty="0">
                <a:solidFill>
                  <a:srgbClr val="595959"/>
                </a:solidFill>
              </a:rPr>
              <a:t>, </a:t>
            </a:r>
            <a:r>
              <a:rPr sz="1300" b="0" dirty="0">
                <a:solidFill>
                  <a:srgbClr val="595959"/>
                </a:solidFill>
              </a:rPr>
              <a:t>which can then never happen.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3934"/>
              </p:ext>
            </p:extLst>
          </p:nvPr>
        </p:nvGraphicFramePr>
        <p:xfrm>
          <a:off x="310896" y="2999232"/>
          <a:ext cx="851306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Instrumented the real PyMuPDFMediaCropper, 27 rubric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76 figures emitted, union_bbox() called 0 times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Replayed the loop over all 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merge branch entered 0 times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Synthetic ideal case: 2 panels, 10 pt apart, shared caption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rgbClr val="E37222"/>
                          </a:solidFill>
                        </a:rPr>
                        <a:t>2 crops emitted, not 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20624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293"/>
                </a:solidFill>
              </a:rPr>
              <a:t>No reported number changes: the code that never ran also never affected any measurement. Figures 0.447 → 0.840 stands, driven by icon filtering and caption matching.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 · Research </a:t>
            </a:r>
            <a:r>
              <a:rPr sz="2000" b="0" dirty="0" err="1">
                <a:solidFill>
                  <a:srgbClr val="000000"/>
                </a:solidFill>
              </a:rPr>
              <a:t>questions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lang="de-DE" sz="2000" b="0" dirty="0">
                <a:solidFill>
                  <a:srgbClr val="000000"/>
                </a:solidFill>
              </a:rPr>
              <a:t>and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their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answers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TR" sz="1000" dirty="0"/>
              <a:t>11.</a:t>
            </a:r>
            <a:r>
              <a:rPr sz="1000" dirty="0"/>
              <a:t>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16934"/>
              </p:ext>
            </p:extLst>
          </p:nvPr>
        </p:nvGraphicFramePr>
        <p:xfrm>
          <a:off x="310896" y="1060704"/>
          <a:ext cx="8513064" cy="285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Question (as stated in the thesis)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How faithfully does the document-extraction pipeline recover the text, tables, figures, captions and related layout information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and how much does it improve on the off-the-shelf document-extractor baseline?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tables 0.366 → 0.838;  figures 0.447 → 0.840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What is the quality of the extracted findings and rules against strong-model-generated silver labels, and is provenance preserved end-to-end for every extracted figure, table and rule?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strict-F1 0.7160;  provenance 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Is the agreement-based cascade worth its cost, relative to sending each text chunk to a single strong model?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No — Δ +0.0031, not 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How does the shared biomedical NLI model perform in its grounding and relation-classification roles?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as designed;  0.652 / 0.923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Does the performance of the configuration calibrated on one set of papers generalize to a held-out set, or does it overfit the calibration cluster?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0.7128 — no meaningful overfit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160520"/>
            <a:ext cx="8513064" cy="37548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E37222"/>
                </a:solidFill>
              </a:rPr>
              <a:t>The </a:t>
            </a:r>
            <a:r>
              <a:rPr sz="1100" b="0" dirty="0">
                <a:solidFill>
                  <a:srgbClr val="E37222"/>
                </a:solidFill>
              </a:rPr>
              <a:t>silver metrics depend on silver labels generated by a strong LLM, so the resulting scores measure agreement with the labeler, not ground truth.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B2 · Corpus acquisition and the page-cap trade-off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9260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Acquisition funnel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1,132   downloaded PDF files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1,093   targeted PMC identifiers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1,070   single-PDF papers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981   candidates after the ≤30-page filter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 dirty="0">
                <a:solidFill>
                  <a:srgbClr val="005293"/>
                </a:solidFill>
              </a:rPr>
              <a:t>977   ingested into the database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4 papers fail </a:t>
            </a:r>
            <a:r>
              <a:rPr sz="1150" b="0" dirty="0" err="1">
                <a:solidFill>
                  <a:srgbClr val="595959"/>
                </a:solidFill>
              </a:rPr>
              <a:t>Docling</a:t>
            </a:r>
            <a:r>
              <a:rPr sz="1150" b="0" dirty="0">
                <a:solidFill>
                  <a:srgbClr val="595959"/>
                </a:solidFill>
              </a:rPr>
              <a:t> conversion (missing page-dimension metadata).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1097280"/>
          <a:ext cx="40233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Cap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volume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81.9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6,757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87.1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7,731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47.5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963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8,436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51.8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≤30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981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8,929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54.9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9,602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59.0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1,014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10,237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62.9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16,277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840480"/>
            <a:ext cx="416052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30-page cap is the 92nd percentile: it keeps 91.7% of papers and 54.9% of total page volume.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B3 · Why these 15 calibration papers: an integer linear program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272484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Fingerprint buckets: disease · biomarker · method · outcome · gene · tissue · generic · CUI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Relatedness = weighted Jaccard sum; disease weighted most, generic down-weighted, penalty for zero disease overlap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Eligibility: 20–350 sentences, ≥1 non-empty disease/biomarker/gene bucket, ≥</a:t>
            </a:r>
            <a:r>
              <a:rPr lang="en-US" sz="1400" b="0" dirty="0">
                <a:solidFill>
                  <a:srgbClr val="000000"/>
                </a:solidFill>
              </a:rPr>
              <a:t> </a:t>
            </a:r>
            <a:r>
              <a:rPr sz="1400" b="0" dirty="0">
                <a:solidFill>
                  <a:srgbClr val="000000"/>
                </a:solidFill>
              </a:rPr>
              <a:t>3 distinct non-empty entities  →  drops 56 papers, 977 → 921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Exhaustive solve at k = 15 with </a:t>
            </a:r>
            <a:r>
              <a:rPr sz="1400" b="0" dirty="0" err="1">
                <a:solidFill>
                  <a:srgbClr val="000000"/>
                </a:solidFill>
              </a:rPr>
              <a:t>PuLP</a:t>
            </a:r>
            <a:r>
              <a:rPr sz="1400" b="0" dirty="0">
                <a:solidFill>
                  <a:srgbClr val="000000"/>
                </a:solidFill>
              </a:rPr>
              <a:t> / CBC</a:t>
            </a:r>
            <a:r>
              <a:rPr lang="en-US" sz="1400" b="0" dirty="0">
                <a:solidFill>
                  <a:srgbClr val="000000"/>
                </a:solidFill>
              </a:rPr>
              <a:t>, </a:t>
            </a:r>
            <a:r>
              <a:rPr lang="en-US" sz="1400" dirty="0">
                <a:solidFill>
                  <a:srgbClr val="000000"/>
                </a:solidFill>
              </a:rPr>
              <a:t>with </a:t>
            </a:r>
            <a:r>
              <a:rPr sz="1400" b="0" dirty="0">
                <a:solidFill>
                  <a:srgbClr val="000000"/>
                </a:solidFill>
              </a:rPr>
              <a:t>no candidate cap, no time limit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00" b="0" dirty="0">
                <a:solidFill>
                  <a:srgbClr val="000000"/>
                </a:solidFill>
              </a:rPr>
              <a:t>•  All 105 pairs in the selected cluster have relatedness &gt; 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The cluster is deliberately related, which makes it a </a:t>
            </a:r>
            <a:r>
              <a:rPr lang="en-US" sz="1250" dirty="0">
                <a:solidFill>
                  <a:srgbClr val="E37222"/>
                </a:solidFill>
              </a:rPr>
              <a:t>favorable</a:t>
            </a:r>
            <a:r>
              <a:rPr sz="1250" b="0" dirty="0">
                <a:solidFill>
                  <a:srgbClr val="E37222"/>
                </a:solidFill>
              </a:rPr>
              <a:t> case for </a:t>
            </a:r>
            <a:r>
              <a:rPr lang="en-US" sz="1250" dirty="0">
                <a:solidFill>
                  <a:srgbClr val="E37222"/>
                </a:solidFill>
              </a:rPr>
              <a:t>assessing voter agreement. The randomly sampled held-out set serves as</a:t>
            </a:r>
            <a:r>
              <a:rPr sz="1250" b="0" dirty="0">
                <a:solidFill>
                  <a:srgbClr val="E37222"/>
                </a:solidFill>
              </a:rPr>
              <a:t> the control.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B4 · The document-extraction rubric: four dimensions, no partial credit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120079"/>
            <a:ext cx="8513064" cy="271458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 dirty="0">
                <a:solidFill>
                  <a:srgbClr val="000000"/>
                </a:solidFill>
              </a:rPr>
              <a:t>Four dimensions, each scored in [0,1]; n/a excluded from the average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crop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emitted region geometrically right?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caption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correct caption attached?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footnot</a:t>
            </a:r>
            <a:r>
              <a:rPr lang="en-US" sz="1350" b="0" dirty="0">
                <a:solidFill>
                  <a:srgbClr val="000000"/>
                </a:solidFill>
              </a:rPr>
              <a:t>e</a:t>
            </a:r>
            <a:r>
              <a:rPr lang="en-TR" sz="1350" dirty="0">
                <a:solidFill>
                  <a:srgbClr val="000000"/>
                </a:solidFill>
              </a:rPr>
              <a:t>:</a:t>
            </a:r>
            <a:r>
              <a:rPr sz="1350" b="0" dirty="0">
                <a:solidFill>
                  <a:srgbClr val="000000"/>
                </a:solidFill>
              </a:rPr>
              <a:t> are the table's footnotes inside the crop?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(tables only)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mask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was the region correctly removed from the body text?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US" sz="1400" b="1" dirty="0">
                <a:solidFill>
                  <a:srgbClr val="005293"/>
                </a:solidFill>
              </a:rPr>
              <a:t>Strict-F1</a:t>
            </a:r>
            <a:r>
              <a:rPr sz="1400" b="1" dirty="0">
                <a:solidFill>
                  <a:srgbClr val="005293"/>
                </a:solidFill>
              </a:rPr>
              <a:t> counts an artifact as a true positive only if it receives the top rubric label on every applicable dimension. Near-misses get no partial credit.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595959"/>
                </a:solidFill>
              </a:rPr>
              <a:t>Staged sweep over 4 axes</a:t>
            </a:r>
            <a:r>
              <a:rPr lang="en-US" sz="1250" b="0" dirty="0">
                <a:solidFill>
                  <a:srgbClr val="595959"/>
                </a:solidFill>
              </a:rPr>
              <a:t>: </a:t>
            </a:r>
            <a:r>
              <a:rPr sz="1250" b="0" dirty="0">
                <a:solidFill>
                  <a:srgbClr val="595959"/>
                </a:solidFill>
              </a:rPr>
              <a:t>backend, confidence threshold, footnote multiplier, region handling ∈ {drop, pre-mask, reconstruct, merge} + header clipping = 31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B5 · Full document-extraction sweep, all key variants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01579"/>
              </p:ext>
            </p:extLst>
          </p:nvPr>
        </p:nvGraphicFramePr>
        <p:xfrm>
          <a:off x="310896" y="1060704"/>
          <a:ext cx="8513064" cy="178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Footnote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90.1%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95.8%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36.6%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Pipeline, Docling-only tables (v01)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@0.99, no footnote-expand (v07)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86.4%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42.0%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Docling + footnote-expand ×1.2 (v16)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TATR + footnote-expand ×1.2 (v17)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64.9%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Hybrid + footnote-expand ×1.2 (v18, pinned)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83.8%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19790"/>
              </p:ext>
            </p:extLst>
          </p:nvPr>
        </p:nvGraphicFramePr>
        <p:xfrm>
          <a:off x="310896" y="3054096"/>
          <a:ext cx="85130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Figures (identical across all sweep variants)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Icon FPs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61.7%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98.5%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44.7%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73 of 99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Production pipeline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89.9%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90.3%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84.0%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14 of 21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041648"/>
            <a:ext cx="8513064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</a:rPr>
              <a:t>Crop and mask are F1; caption and footnote are precision. v17 and v18 also apply the caption/crop-geometry family fixes. The sweep varies table handling only, so figure metrics are constant across variants.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B6 · How a </a:t>
            </a:r>
            <a:r>
              <a:rPr sz="2000" b="0" dirty="0" err="1">
                <a:solidFill>
                  <a:srgbClr val="000000"/>
                </a:solidFill>
              </a:rPr>
              <a:t>pipeline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finding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matched</a:t>
            </a:r>
            <a:r>
              <a:rPr sz="2000" b="0" dirty="0">
                <a:solidFill>
                  <a:srgbClr val="000000"/>
                </a:solidFill>
              </a:rPr>
              <a:t> to a </a:t>
            </a:r>
            <a:r>
              <a:rPr sz="2000" b="0" dirty="0" err="1">
                <a:solidFill>
                  <a:srgbClr val="000000"/>
                </a:solidFill>
              </a:rPr>
              <a:t>silver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label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060704"/>
            <a:ext cx="8513064" cy="24145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Six concatenated fields are embedded; eligibility requires cosine &gt; 0.55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One-to-one assignment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optimal (Hungarian) is the reported matcher; greedy is kept as a sensitivity diagnostic and never drives selection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000000"/>
                </a:solidFill>
              </a:rPr>
              <a:t>•  loose TP = matched at all. loose P = </a:t>
            </a:r>
            <a:r>
              <a:rPr sz="1400" b="0" dirty="0" err="1">
                <a:solidFill>
                  <a:srgbClr val="000000"/>
                </a:solidFill>
              </a:rPr>
              <a:t>n_matched</a:t>
            </a:r>
            <a:r>
              <a:rPr sz="1400" b="0" dirty="0">
                <a:solidFill>
                  <a:srgbClr val="000000"/>
                </a:solidFill>
              </a:rPr>
              <a:t> / </a:t>
            </a:r>
            <a:r>
              <a:rPr sz="1400" b="0" dirty="0" err="1">
                <a:solidFill>
                  <a:srgbClr val="000000"/>
                </a:solidFill>
              </a:rPr>
              <a:t>n_pipeline</a:t>
            </a:r>
            <a:r>
              <a:rPr sz="1400" b="0" dirty="0">
                <a:solidFill>
                  <a:srgbClr val="000000"/>
                </a:solidFill>
              </a:rPr>
              <a:t>,  loose R = </a:t>
            </a:r>
            <a:r>
              <a:rPr sz="1400" b="0" dirty="0" err="1">
                <a:solidFill>
                  <a:srgbClr val="000000"/>
                </a:solidFill>
              </a:rPr>
              <a:t>n_matched</a:t>
            </a:r>
            <a:r>
              <a:rPr sz="1400" b="0" dirty="0">
                <a:solidFill>
                  <a:srgbClr val="000000"/>
                </a:solidFill>
              </a:rPr>
              <a:t> / </a:t>
            </a:r>
            <a:r>
              <a:rPr sz="1400" b="0" dirty="0" err="1">
                <a:solidFill>
                  <a:srgbClr val="000000"/>
                </a:solidFill>
              </a:rPr>
              <a:t>n_silver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00" b="0" dirty="0">
                <a:solidFill>
                  <a:srgbClr val="000000"/>
                </a:solidFill>
              </a:rPr>
              <a:t>•  strict TP requires relation type, </a:t>
            </a:r>
            <a:r>
              <a:rPr lang="en-US" sz="1400" dirty="0">
                <a:solidFill>
                  <a:srgbClr val="000000"/>
                </a:solidFill>
              </a:rPr>
              <a:t>direction,</a:t>
            </a:r>
            <a:r>
              <a:rPr sz="1400" b="0" dirty="0">
                <a:solidFill>
                  <a:srgbClr val="000000"/>
                </a:solidFill>
              </a:rPr>
              <a:t> and category to ALL agree; disagreement on ≥1 of the three contributes 0.5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Calibration decomposition:  recall 0.900,  precision 0.872,  loose-F1 0.886  →  tightening to strict gives 0.7160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B7 · The pinned cascade configuration of record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06275"/>
              </p:ext>
            </p:extLst>
          </p:nvPr>
        </p:nvGraphicFramePr>
        <p:xfrm>
          <a:off x="310896" y="906326"/>
          <a:ext cx="8513064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Knob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Fixed by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Voter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5 voters — Claude Haiku 4.5 dropped from Level 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E06b / E06c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Scorer / alignment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 /  greedy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E05 / 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blend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0.15 category · 0.30 embedding · 0.50 entity · 0.05 evidence (entity-heavy)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Embedder / τ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Gemini  /  0.15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θ  /  θ_reject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 / 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E07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Single-voter policy / polarity hard-fail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escalate  /  true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Grounding threshold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Headline 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strict-F1 0.7160 at 95.6% escalation (before grounding)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E08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777542"/>
            <a:ext cx="8513064" cy="96795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L1  Gemini Flash-Lite · GPT-4o mini · GPT-4.1 nano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L2  Gemini Flash · GPT-4.1 mini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L3  Claude Sonnet 4.6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All production voters run at temperature 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B8 · θ sweep and the gate ablation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theta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8225"/>
            <a:ext cx="4114800" cy="2638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052630"/>
            <a:ext cx="4160520" cy="33686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Threshold sensitivity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0.7 → 0.8:  ≈ +0.05 strict-F1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0.8 → 0.9:  +0.0085 strict-F1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optimal </a:t>
            </a:r>
            <a:r>
              <a:rPr sz="1300" b="0" dirty="0" err="1">
                <a:solidFill>
                  <a:srgbClr val="000000"/>
                </a:solidFill>
              </a:rPr>
              <a:t>θ_reject</a:t>
            </a:r>
            <a:r>
              <a:rPr sz="1300" b="0" dirty="0">
                <a:solidFill>
                  <a:srgbClr val="000000"/>
                </a:solidFill>
              </a:rPr>
              <a:t> = 0.2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Gate ablation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single-voter escalate 0.7160 vs keep 0.7147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the gain is within noise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polarity hard-fail fires on 15 of 474 chunks (3.16%)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at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= 0.9 it changes exactly one routing decision</a:t>
            </a:r>
            <a:r>
              <a:rPr lang="en-US" sz="1300" b="0" dirty="0">
                <a:solidFill>
                  <a:srgbClr val="000000"/>
                </a:solidFill>
              </a:rPr>
              <a:t>:</a:t>
            </a:r>
            <a:r>
              <a:rPr sz="1300" b="0" dirty="0">
                <a:solidFill>
                  <a:srgbClr val="000000"/>
                </a:solidFill>
              </a:rPr>
              <a:t> 453 L3 invocations instead of 452</a:t>
            </a:r>
            <a:r>
              <a:rPr lang="en-US" sz="1300" dirty="0">
                <a:solidFill>
                  <a:srgbClr val="000000"/>
                </a:solidFill>
              </a:rPr>
              <a:t>, </a:t>
            </a:r>
            <a:r>
              <a:rPr sz="1300" b="0" dirty="0">
                <a:solidFill>
                  <a:srgbClr val="000000"/>
                </a:solidFill>
              </a:rPr>
              <a:t>moving strict-F1 by 0.0001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50" dirty="0">
                <a:solidFill>
                  <a:srgbClr val="E37222"/>
                </a:solidFill>
              </a:rPr>
              <a:t>T</a:t>
            </a:r>
            <a:r>
              <a:rPr sz="1150" b="0" dirty="0">
                <a:solidFill>
                  <a:srgbClr val="E37222"/>
                </a:solidFill>
              </a:rPr>
              <a:t>he</a:t>
            </a:r>
            <a:r>
              <a:rPr lang="en-US" sz="1150" b="0" dirty="0">
                <a:solidFill>
                  <a:srgbClr val="E37222"/>
                </a:solidFill>
              </a:rPr>
              <a:t>se </a:t>
            </a:r>
            <a:r>
              <a:rPr sz="1150" b="0" dirty="0">
                <a:solidFill>
                  <a:srgbClr val="E37222"/>
                </a:solidFill>
              </a:rPr>
              <a:t>gates exist for safety</a:t>
            </a:r>
            <a:r>
              <a:rPr lang="en-US" sz="1150" dirty="0">
                <a:solidFill>
                  <a:srgbClr val="E37222"/>
                </a:solidFill>
              </a:rPr>
              <a:t>, not for improving strict-F1.</a:t>
            </a:r>
            <a:endParaRPr sz="1150" b="0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B9 · Cost model, operating points, and all single-model baselines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3523"/>
              </p:ext>
            </p:extLst>
          </p:nvPr>
        </p:nvGraphicFramePr>
        <p:xfrm>
          <a:off x="310896" y="966483"/>
          <a:ext cx="4160520" cy="278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System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Cost /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Cascade, five voters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18.00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0.5957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0.5761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 Lite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0.5721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GPT-4o-mini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0.5394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GPT-4.1-nano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0.4570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54342"/>
              </p:ext>
            </p:extLst>
          </p:nvPr>
        </p:nvGraphicFramePr>
        <p:xfrm>
          <a:off x="4663440" y="966483"/>
          <a:ext cx="4160520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</a:t>
                      </a: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θ_r</a:t>
                      </a:r>
                      <a:endParaRPr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Escal.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economy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0.3 / 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balanced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28971319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knee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2580198"/>
            <a:ext cx="4160520" cy="21375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economy = </a:t>
            </a:r>
            <a:r>
              <a:rPr sz="1200" b="0" dirty="0" err="1">
                <a:solidFill>
                  <a:srgbClr val="000000"/>
                </a:solidFill>
              </a:rPr>
              <a:t>ε</a:t>
            </a:r>
            <a:r>
              <a:rPr sz="1200" b="0" dirty="0">
                <a:solidFill>
                  <a:srgbClr val="000000"/>
                </a:solidFill>
              </a:rPr>
              <a:t>-constraint (lowest cost meeting a minimum strict-F1)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balanced = ε-constraint at a higher floor (0.60), the middle the knee cannot reach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knee = weighted-sum scalarization maximizing strict-F1 − </a:t>
            </a:r>
            <a:r>
              <a:rPr sz="1200" b="0" dirty="0" err="1">
                <a:solidFill>
                  <a:srgbClr val="000000"/>
                </a:solidFill>
              </a:rPr>
              <a:t>λ·cost</a:t>
            </a:r>
            <a:endParaRPr sz="12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0" dirty="0">
                <a:solidFill>
                  <a:srgbClr val="000000"/>
                </a:solidFill>
              </a:rPr>
              <a:t>•  quality = maximum strict-F1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 dirty="0">
                <a:solidFill>
                  <a:srgbClr val="000000"/>
                </a:solidFill>
              </a:rPr>
              <a:t>balanced → knee: +7% strict-F1 for +33% cost · knee → quality: +1% for +8.5%</a:t>
            </a:r>
            <a:endParaRPr lang="en-TR" sz="125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B10 · Significance testing: paper-level clustered paired bootstrap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17318"/>
              </p:ext>
            </p:extLst>
          </p:nvPr>
        </p:nvGraphicFramePr>
        <p:xfrm>
          <a:off x="310896" y="1060704"/>
          <a:ext cx="851306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Cascade compared with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Δ 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+0.0031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[−0.0002, +0.0068]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Remaining cheaper models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+0.14 to +0.26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2880360"/>
            <a:ext cx="8513064" cy="1600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B = 10,000 resamples, papers as the sampling unit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Clustered because findings within one paper are not independent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resampling findings would understate the variance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000000"/>
                </a:solidFill>
              </a:rPr>
              <a:t>•  Paired because both systems are evaluated on the identical chunk set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Only the Sonnet comparison is inconclusive. Every cheaper-model comparison is unambiguous.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B11 · Grounding score distribution and threshold trade-off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2,294 frozen-config MAP findings on related15 · NLI run on (claim, cited paragraph)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grounding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42" y="1371600"/>
            <a:ext cx="6600371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3822191"/>
            <a:ext cx="8513064" cy="69095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000000"/>
                </a:solidFill>
              </a:rPr>
              <a:t>(a) Bimodal: 77.5% of findings score ≥ 0.9, ≈</a:t>
            </a:r>
            <a:r>
              <a:rPr lang="en-US" sz="1250" b="0" dirty="0">
                <a:solidFill>
                  <a:srgbClr val="000000"/>
                </a:solidFill>
              </a:rPr>
              <a:t> </a:t>
            </a:r>
            <a:r>
              <a:rPr sz="1250" b="0" dirty="0">
                <a:solidFill>
                  <a:srgbClr val="000000"/>
                </a:solidFill>
              </a:rPr>
              <a:t>14% score &lt; 0.3. The 0.5 threshold (dashed) retains 83.8%.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(b) Recall and strict-F1 fall as the threshold rises; precision stays flat (0.872 → 0.875). The filter trades recall for </a:t>
            </a:r>
            <a:r>
              <a:rPr sz="1250" b="0" dirty="0" err="1">
                <a:solidFill>
                  <a:srgbClr val="000000"/>
                </a:solidFill>
              </a:rPr>
              <a:t>groundedness</a:t>
            </a:r>
            <a:r>
              <a:rPr sz="1250" b="0" dirty="0">
                <a:solidFill>
                  <a:srgbClr val="000000"/>
                </a:solidFill>
              </a:rPr>
              <a:t>, not for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B12 · Relation classification, per class, both input modes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97800"/>
              </p:ext>
            </p:extLst>
          </p:nvPr>
        </p:nvGraphicFramePr>
        <p:xfrm>
          <a:off x="310896" y="1060704"/>
          <a:ext cx="851306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predicate_only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scope_aware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UNRELATED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Macro average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182112"/>
            <a:ext cx="8513064" cy="1371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scope_aware is the production mode. Thresholds frozen at 0.50 / 0.50, not tuned.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A diagnostic joint sweep found the frozen thresholds are within a fraction of a percent of optimal (0.4 / 0.9 → macro-F1 0.9307)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37222"/>
                </a:solidFill>
              </a:rPr>
              <a:t>•  scope_aware's intended mechanism cannot be tested on this set: both claims in every synthetic pair share the same disease context, so they receive the same prefix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B13 · Held-out knowledge-extraction funnel, side by side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07047"/>
              </p:ext>
            </p:extLst>
          </p:nvPr>
        </p:nvGraphicFramePr>
        <p:xfrm>
          <a:off x="310896" y="1060704"/>
          <a:ext cx="851306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related15 (calibration)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heldout15 (test)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MAP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2,294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1,672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Grounded at threshold 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1,923  (83.8%)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1,379  (82.5%)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Normalized after deduplication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1,860  (−3.3%)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1,342  (−2.7%)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Groupable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1,314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1,747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1,273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 per normalized finding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0.939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0.949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Relations, intra + cross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25  (13 + 12)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4  (4 + 0)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Final rules per 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116.5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Rule provenance carry-rate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100%  (1,747 / 1,747)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100%  (1,273 / 1,273)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23360"/>
            <a:ext cx="8513064" cy="548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funnel keeps its shape. The one number that collapses is relations: the held-out papers were sampled randomly, so they share far less vocabulary and produce no cross-paper relations at all.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B14 · Provenance chain and offline replay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860783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Provenance chain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final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canonical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normal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MAP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text element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→  document  (page, span, coordinates)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dirty="0">
                <a:solidFill>
                  <a:srgbClr val="595959"/>
                </a:solidFill>
              </a:rPr>
              <a:t>Enforced by the data model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a rule cannot exist without its back-pointers.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“Provenance enables auditability, but it is not proof of correctness.”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097280"/>
            <a:ext cx="4160520" cy="314804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Offline replay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All voter outputs cached per tier per chunk, so any escalation path replays offline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Cache invalidates on changes to the voter pool, model IDs, temperatures or MAP prompts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One offline batch driver produces every Chapter 4 result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each analysis emits one CSV, one JSON, and a global </a:t>
            </a:r>
            <a:r>
              <a:rPr sz="1300" b="0" dirty="0" err="1">
                <a:solidFill>
                  <a:srgbClr val="000000"/>
                </a:solidFill>
              </a:rPr>
              <a:t>manifest.json</a:t>
            </a:r>
            <a:endParaRPr sz="13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Replay fidelity validated by comparing live-cascade and replay findings per paper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number in this talk can be regenerated with no API calls and no cost.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B15 · Operating points: </a:t>
            </a:r>
            <a:r>
              <a:rPr lang="de-DE" sz="2000" b="0" dirty="0" err="1">
                <a:solidFill>
                  <a:srgbClr val="000000"/>
                </a:solidFill>
              </a:rPr>
              <a:t>why</a:t>
            </a:r>
            <a:r>
              <a:rPr lang="de-DE" sz="2000" b="0" dirty="0">
                <a:solidFill>
                  <a:srgbClr val="000000"/>
                </a:solidFill>
              </a:rPr>
              <a:t> </a:t>
            </a:r>
            <a:r>
              <a:rPr sz="2000" b="0" dirty="0">
                <a:solidFill>
                  <a:srgbClr val="000000"/>
                </a:solidFill>
              </a:rPr>
              <a:t>the knee misses the middle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Weighted-sum reaches 3 of 7 Pareto points; an ε-constraint floor reaches all 7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3259635"/>
            <a:ext cx="8513064" cy="13424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knee = argmax(strict-F1 − λ·cost) with λ = 0.20</a:t>
            </a:r>
            <a:r>
              <a:rPr lang="en-US" sz="1450" b="0" dirty="0">
                <a:solidFill>
                  <a:srgbClr val="000000"/>
                </a:solidFill>
              </a:rPr>
              <a:t>. That</a:t>
            </a:r>
            <a:r>
              <a:rPr sz="1450" b="0" dirty="0">
                <a:solidFill>
                  <a:srgbClr val="000000"/>
                </a:solidFill>
              </a:rPr>
              <a:t> winner holds only for λ ∈ [0.119, 0.210); above it the knee collapses onto economy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450" dirty="0">
                <a:solidFill>
                  <a:srgbClr val="000000"/>
                </a:solidFill>
              </a:rPr>
              <a:t>•  A weighted sum returns only convex-hull vertices, so the four concave configs are unreachable at any </a:t>
            </a:r>
            <a:r>
              <a:rPr lang="el-GR" sz="1450" dirty="0">
                <a:solidFill>
                  <a:srgbClr val="000000"/>
                </a:solidFill>
              </a:rPr>
              <a:t>λ. ε-</a:t>
            </a:r>
            <a:r>
              <a:rPr lang="en-US" sz="1450" dirty="0">
                <a:solidFill>
                  <a:srgbClr val="000000"/>
                </a:solidFill>
              </a:rPr>
              <a:t>constraint has no such blind spot.</a:t>
            </a:r>
            <a:endParaRPr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50" b="1" dirty="0">
                <a:solidFill>
                  <a:srgbClr val="E37222"/>
                </a:solidFill>
              </a:rPr>
              <a:t>The shipped configuration is the quality point: argmax strict-F1, no </a:t>
            </a:r>
            <a:r>
              <a:rPr lang="el-GR" sz="1350" b="1" dirty="0">
                <a:solidFill>
                  <a:srgbClr val="E37222"/>
                </a:solidFill>
              </a:rPr>
              <a:t>λ, </a:t>
            </a:r>
            <a:r>
              <a:rPr lang="en-US" sz="1350" b="1" dirty="0">
                <a:solidFill>
                  <a:srgbClr val="E37222"/>
                </a:solidFill>
              </a:rPr>
              <a:t>no floor. None of this moves it.</a:t>
            </a:r>
          </a:p>
        </p:txBody>
      </p:sp>
      <p:graphicFrame>
        <p:nvGraphicFramePr>
          <p:cNvPr id="10" name="B15 b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498591"/>
              </p:ext>
            </p:extLst>
          </p:nvPr>
        </p:nvGraphicFramePr>
        <p:xfrm>
          <a:off x="310896" y="1366431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ε floor ≤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chemeClr val="bg1"/>
                          </a:solidFill>
                        </a:rPr>
                        <a:t>config</a:t>
                      </a:r>
                      <a:endParaRPr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$ / chunk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reachable by a weighted sum?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 — this is economy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3.53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2903518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4.82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9.48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 — this is balanced, ε ≥ 0.60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67088757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the knee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48064597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quality, the shipped config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85142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Expansion slides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40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icon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filter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removes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journal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furniture</a:t>
            </a:r>
            <a:r>
              <a:rPr sz="2000" b="0" dirty="0">
                <a:solidFill>
                  <a:srgbClr val="000000"/>
                </a:solidFill>
              </a:rPr>
              <a:t>, not </a:t>
            </a:r>
            <a:r>
              <a:rPr sz="2000" b="0" dirty="0" err="1">
                <a:solidFill>
                  <a:srgbClr val="000000"/>
                </a:solidFill>
              </a:rPr>
              <a:t>science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PMC10297671 p1 · every boxed region was rated 'icon' by the annotator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7_icons_p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17198"/>
            <a:ext cx="2103120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80" y="1563502"/>
            <a:ext cx="3611880" cy="25581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 err="1">
                <a:solidFill>
                  <a:srgbClr val="005293"/>
                </a:solidFill>
              </a:rPr>
              <a:t>min_figure_pts</a:t>
            </a:r>
            <a:r>
              <a:rPr sz="1500" b="1" dirty="0">
                <a:solidFill>
                  <a:srgbClr val="005293"/>
                </a:solidFill>
              </a:rPr>
              <a:t> = 50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150" b="0" dirty="0">
                <a:solidFill>
                  <a:srgbClr val="595959"/>
                </a:solidFill>
              </a:rPr>
              <a:t>width AND height must both reach 50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What </a:t>
            </a:r>
            <a:r>
              <a:rPr sz="1250" b="0" dirty="0" err="1">
                <a:solidFill>
                  <a:srgbClr val="000000"/>
                </a:solidFill>
              </a:rPr>
              <a:t>Docling</a:t>
            </a:r>
            <a:r>
              <a:rPr sz="1250" b="0" dirty="0">
                <a:solidFill>
                  <a:srgbClr val="000000"/>
                </a:solidFill>
              </a:rPr>
              <a:t> emitted as scientific figures: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two ORCID marks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14×10 pt and 22×11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a “check for updates”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53×18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the CC-BY </a:t>
            </a:r>
            <a:r>
              <a:rPr sz="1200" b="0" dirty="0" err="1">
                <a:solidFill>
                  <a:srgbClr val="000000"/>
                </a:solidFill>
              </a:rPr>
              <a:t>licence</a:t>
            </a:r>
            <a:r>
              <a:rPr sz="1200" b="0" dirty="0">
                <a:solidFill>
                  <a:srgbClr val="000000"/>
                </a:solidFill>
              </a:rPr>
              <a:t>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59×22 pt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•  the journal masthead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178×36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Corpus-wide: 3,065 of 7,544 picture elements dropped (40.6%)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2</a:t>
            </a:r>
            <a:r>
              <a:rPr sz="2000" b="0" dirty="0">
                <a:solidFill>
                  <a:srgbClr val="000000"/>
                </a:solidFill>
              </a:rPr>
              <a:t> · Same </a:t>
            </a:r>
            <a:r>
              <a:rPr sz="2000" b="0" dirty="0" err="1">
                <a:solidFill>
                  <a:srgbClr val="000000"/>
                </a:solidFill>
              </a:rPr>
              <a:t>pixels</a:t>
            </a:r>
            <a:r>
              <a:rPr sz="2000" b="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correct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caption</a:t>
            </a:r>
            <a:r>
              <a:rPr lang="de-DE" sz="2000" dirty="0">
                <a:solidFill>
                  <a:srgbClr val="000000"/>
                </a:solidFill>
              </a:rPr>
              <a:t>: </a:t>
            </a:r>
            <a:r>
              <a:rPr sz="2000" b="0" dirty="0">
                <a:solidFill>
                  <a:srgbClr val="000000"/>
                </a:solidFill>
              </a:rPr>
              <a:t>the </a:t>
            </a:r>
            <a:r>
              <a:rPr sz="2000" b="0" dirty="0" err="1">
                <a:solidFill>
                  <a:srgbClr val="000000"/>
                </a:solidFill>
              </a:rPr>
              <a:t>geometric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PMC12129649_NEUP-45-177 p4 · identical bounding box (</a:t>
            </a:r>
            <a:r>
              <a:rPr sz="1350" dirty="0" err="1">
                <a:solidFill>
                  <a:srgbClr val="0065BD"/>
                </a:solidFill>
              </a:rPr>
              <a:t>IoU</a:t>
            </a:r>
            <a:r>
              <a:rPr sz="1350" dirty="0">
                <a:solidFill>
                  <a:srgbClr val="0065BD"/>
                </a:solidFill>
              </a:rPr>
              <a:t> 1.0), caption string differs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42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3_side_captio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78" y="1319916"/>
            <a:ext cx="6735698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3</a:t>
            </a:r>
            <a:r>
              <a:rPr sz="2000" b="0" dirty="0">
                <a:solidFill>
                  <a:srgbClr val="000000"/>
                </a:solidFill>
              </a:rPr>
              <a:t> · A </a:t>
            </a:r>
            <a:r>
              <a:rPr sz="2000" b="0" dirty="0" err="1">
                <a:solidFill>
                  <a:srgbClr val="000000"/>
                </a:solidFill>
              </a:rPr>
              <a:t>hidden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duplicate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paragraph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would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have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been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extracted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twice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PMC10296831 p4 · rule R3_dense_text · “170 chars in an 8.6 pt box</a:t>
            </a:r>
            <a:r>
              <a:rPr lang="en-US" sz="1350" dirty="0">
                <a:solidFill>
                  <a:srgbClr val="0065BD"/>
                </a:solidFill>
              </a:rPr>
              <a:t> = </a:t>
            </a:r>
            <a:r>
              <a:rPr sz="1350" dirty="0">
                <a:solidFill>
                  <a:srgbClr val="0065BD"/>
                </a:solidFill>
              </a:rPr>
              <a:t>19.8 chars/pt”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hidden_duplicate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3" y="1316736"/>
            <a:ext cx="81870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4</a:t>
            </a:r>
            <a:r>
              <a:rPr sz="2000" b="0" dirty="0">
                <a:solidFill>
                  <a:srgbClr val="000000"/>
                </a:solidFill>
              </a:rPr>
              <a:t> · Paragraph </a:t>
            </a:r>
            <a:r>
              <a:rPr sz="2000" b="0" dirty="0" err="1">
                <a:solidFill>
                  <a:srgbClr val="000000"/>
                </a:solidFill>
              </a:rPr>
              <a:t>stitching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purely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syntactic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sz="2000" b="0" dirty="0" err="1">
                <a:solidFill>
                  <a:srgbClr val="000000"/>
                </a:solidFill>
              </a:rPr>
              <a:t>which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cuts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both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ways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ContextAwareStitcher · out/text_raw vs out/text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pic>
        <p:nvPicPr>
          <p:cNvPr id="13" name="Picture 12" descr="12_text_merge_erro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04" y="1316736"/>
            <a:ext cx="7134446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87952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37222"/>
                </a:solidFill>
              </a:rPr>
              <a:t>This is the thesis's own stated limitation, with a concrete instance: merge errors leave no signal in the rubric, because the rubric only scores crops.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9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5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corpus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small</a:t>
            </a:r>
            <a:r>
              <a:rPr lang="de-DE" sz="2000" b="0" dirty="0">
                <a:solidFill>
                  <a:srgbClr val="000000"/>
                </a:solidFill>
              </a:rPr>
              <a:t>, </a:t>
            </a:r>
            <a:r>
              <a:rPr sz="2000" b="0" dirty="0">
                <a:solidFill>
                  <a:srgbClr val="000000"/>
                </a:solidFill>
              </a:rPr>
              <a:t>but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contradiction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real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54023"/>
              </p:ext>
            </p:extLst>
          </p:nvPr>
        </p:nvGraphicFramePr>
        <p:xfrm>
          <a:off x="310896" y="1060704"/>
          <a:ext cx="3246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Relation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94760" y="1042415"/>
            <a:ext cx="5029200" cy="217854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E37222"/>
                </a:solidFill>
              </a:rPr>
              <a:t>The intra-paper contradiction, in full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PMC2253716 — subject: MUCL1 gene · outcome: tumor grade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000000"/>
                </a:solidFill>
              </a:rPr>
              <a:t>•  “SBEM expression does NOT correlate with tumor grade”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000000"/>
                </a:solidFill>
              </a:rPr>
              <a:t>•  “Increased SBEM levels strongly associated with higher tumor grade; P = 0.0015”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1" dirty="0">
                <a:solidFill>
                  <a:srgbClr val="000000"/>
                </a:solidFill>
              </a:rPr>
              <a:t>NLI contradiction score 0.9991 and 0.9997 in both directions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Two statements in the same paper, pointing opposite ways. The system does not resolve it</a:t>
            </a:r>
            <a:r>
              <a:rPr lang="en-US" sz="1250" b="0" dirty="0">
                <a:solidFill>
                  <a:srgbClr val="005293"/>
                </a:solidFill>
              </a:rPr>
              <a:t>, </a:t>
            </a:r>
            <a:r>
              <a:rPr sz="1250" b="0" dirty="0">
                <a:solidFill>
                  <a:srgbClr val="005293"/>
                </a:solidFill>
              </a:rPr>
              <a:t>it flags it for a human.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4224528"/>
            <a:ext cx="8513064" cy="38404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Honest limit: 25 edges from 1,747 rules. The comparability gate is strict by design, and on randomly sampled papers it produces almost nothing (4 edges on heldout15).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6</a:t>
            </a:r>
            <a:r>
              <a:rPr sz="2000" b="0" dirty="0">
                <a:solidFill>
                  <a:srgbClr val="000000"/>
                </a:solidFill>
              </a:rPr>
              <a:t> · Every </a:t>
            </a:r>
            <a:r>
              <a:rPr sz="2000" b="0" dirty="0" err="1">
                <a:solidFill>
                  <a:srgbClr val="000000"/>
                </a:solidFill>
              </a:rPr>
              <a:t>component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mature</a:t>
            </a:r>
            <a:r>
              <a:rPr sz="2000" b="0" dirty="0">
                <a:solidFill>
                  <a:srgbClr val="000000"/>
                </a:solidFill>
              </a:rPr>
              <a:t>; the </a:t>
            </a:r>
            <a:r>
              <a:rPr sz="2000" b="0" dirty="0" err="1">
                <a:solidFill>
                  <a:srgbClr val="000000"/>
                </a:solidFill>
              </a:rPr>
              <a:t>audited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integration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not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Positioning against related work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15288"/>
            <a:ext cx="8513064" cy="286847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Layout-aware PDF parsing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</a:t>
            </a:r>
            <a:r>
              <a:rPr sz="1400" b="0" dirty="0" err="1">
                <a:solidFill>
                  <a:srgbClr val="000000"/>
                </a:solidFill>
              </a:rPr>
              <a:t>Docling</a:t>
            </a:r>
            <a:r>
              <a:rPr sz="1400" b="0" dirty="0">
                <a:solidFill>
                  <a:srgbClr val="000000"/>
                </a:solidFill>
              </a:rPr>
              <a:t>, TATR, pdffigures2)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Biomedical entity normalization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(UMLS, </a:t>
            </a:r>
            <a:r>
              <a:rPr sz="1400" b="0" dirty="0" err="1">
                <a:solidFill>
                  <a:srgbClr val="000000"/>
                </a:solidFill>
              </a:rPr>
              <a:t>scispaCy</a:t>
            </a:r>
            <a:r>
              <a:rPr sz="1400" b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Entailment / grounding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(MNLI, </a:t>
            </a:r>
            <a:r>
              <a:rPr sz="1400" b="0" dirty="0" err="1">
                <a:solidFill>
                  <a:srgbClr val="000000"/>
                </a:solidFill>
              </a:rPr>
              <a:t>MedNLI</a:t>
            </a:r>
            <a:r>
              <a:rPr sz="1400" b="0" dirty="0">
                <a:solidFill>
                  <a:srgbClr val="000000"/>
                </a:solidFill>
              </a:rPr>
              <a:t>, biomedical NLI)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0" dirty="0">
                <a:solidFill>
                  <a:srgbClr val="000000"/>
                </a:solidFill>
              </a:rPr>
              <a:t>•  Cost-aware cascading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(agreement-based cascading, Kolawole et al. 2025)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dirty="0">
                <a:solidFill>
                  <a:srgbClr val="005293"/>
                </a:solidFill>
              </a:rPr>
              <a:t>Each has its own benchmark and its own definition of success. What is rare is all of them in one auditable system, evaluated under a joint cost and quality constraint.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OCR-free end-to-end document models (Donut, mPLUG-DocOwl2)</a:t>
            </a:r>
            <a:r>
              <a:rPr lang="en-US" sz="1250" dirty="0">
                <a:solidFill>
                  <a:srgbClr val="E37222"/>
                </a:solidFill>
              </a:rPr>
              <a:t> are deliberately rejected: </a:t>
            </a:r>
            <a:r>
              <a:rPr sz="1250" b="0" dirty="0">
                <a:solidFill>
                  <a:srgbClr val="E37222"/>
                </a:solidFill>
              </a:rPr>
              <a:t>they do not return token-level bounding boxes, so provenance could not be structural.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Also rejected: chain-of-thought self-checking and LLM self-repair, in </a:t>
            </a:r>
            <a:r>
              <a:rPr lang="en-US" sz="1250" dirty="0">
                <a:solidFill>
                  <a:srgbClr val="E37222"/>
                </a:solidFill>
              </a:rPr>
              <a:t>favor</a:t>
            </a:r>
            <a:r>
              <a:rPr sz="1250" b="0" dirty="0">
                <a:solidFill>
                  <a:srgbClr val="E37222"/>
                </a:solidFill>
              </a:rPr>
              <a:t> of cross-provider agreement plus entailment against the source.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7</a:t>
            </a:r>
            <a:r>
              <a:rPr sz="2000" b="0" dirty="0">
                <a:solidFill>
                  <a:srgbClr val="000000"/>
                </a:solidFill>
              </a:rPr>
              <a:t> · Header, </a:t>
            </a:r>
            <a:r>
              <a:rPr sz="2000" b="0" dirty="0" err="1">
                <a:solidFill>
                  <a:srgbClr val="000000"/>
                </a:solidFill>
              </a:rPr>
              <a:t>footer</a:t>
            </a:r>
            <a:r>
              <a:rPr sz="2000" b="0" dirty="0">
                <a:solidFill>
                  <a:srgbClr val="000000"/>
                </a:solidFill>
              </a:rPr>
              <a:t> and </a:t>
            </a:r>
            <a:r>
              <a:rPr sz="2000" b="0" dirty="0" err="1">
                <a:solidFill>
                  <a:srgbClr val="000000"/>
                </a:solidFill>
              </a:rPr>
              <a:t>sidebar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redacted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before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text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assembly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p1 · original vs the pipeline's own *_twopass_masked.pdf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47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g1_header_footer_sideba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32" y="1425932"/>
            <a:ext cx="711619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8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things</a:t>
            </a:r>
            <a:r>
              <a:rPr sz="2000" b="0" dirty="0">
                <a:solidFill>
                  <a:srgbClr val="000000"/>
                </a:solidFill>
              </a:rPr>
              <a:t> a </a:t>
            </a:r>
            <a:r>
              <a:rPr sz="2000" b="0" dirty="0" err="1">
                <a:solidFill>
                  <a:srgbClr val="000000"/>
                </a:solidFill>
              </a:rPr>
              <a:t>detector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called</a:t>
            </a:r>
            <a:r>
              <a:rPr sz="2000" b="0" dirty="0">
                <a:solidFill>
                  <a:srgbClr val="000000"/>
                </a:solidFill>
              </a:rPr>
              <a:t> a </a:t>
            </a:r>
            <a:r>
              <a:rPr sz="2000" b="0" dirty="0" err="1">
                <a:solidFill>
                  <a:srgbClr val="000000"/>
                </a:solidFill>
              </a:rPr>
              <a:t>table</a:t>
            </a:r>
            <a:r>
              <a:rPr sz="2000" b="0" dirty="0">
                <a:solidFill>
                  <a:srgbClr val="000000"/>
                </a:solidFill>
              </a:rPr>
              <a:t>, and </a:t>
            </a:r>
            <a:r>
              <a:rPr sz="2000" b="0" dirty="0" err="1">
                <a:solidFill>
                  <a:srgbClr val="000000"/>
                </a:solidFill>
              </a:rPr>
              <a:t>none</a:t>
            </a:r>
            <a:r>
              <a:rPr sz="2000" b="0" dirty="0">
                <a:solidFill>
                  <a:srgbClr val="000000"/>
                </a:solidFill>
              </a:rPr>
              <a:t> of </a:t>
            </a:r>
            <a:r>
              <a:rPr sz="2000" b="0" dirty="0" err="1">
                <a:solidFill>
                  <a:srgbClr val="000000"/>
                </a:solidFill>
              </a:rPr>
              <a:t>them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Detector false positives suppressed by the pipeline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4_false_positive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673" y="1400048"/>
            <a:ext cx="6419508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35120"/>
            <a:ext cx="8513064" cy="49859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05293"/>
                </a:solidFill>
              </a:rPr>
              <a:t>Corpus-wide: 666 regions dropped by </a:t>
            </a:r>
            <a:r>
              <a:rPr sz="1300" b="1" dirty="0" err="1">
                <a:solidFill>
                  <a:srgbClr val="005293"/>
                </a:solidFill>
              </a:rPr>
              <a:t>drop_tables_in_top_pts</a:t>
            </a:r>
            <a:r>
              <a:rPr sz="1300" b="1" dirty="0">
                <a:solidFill>
                  <a:srgbClr val="005293"/>
                </a:solidFill>
              </a:rPr>
              <a:t>, 67 by </a:t>
            </a:r>
            <a:r>
              <a:rPr sz="1300" b="1" dirty="0" err="1">
                <a:solidFill>
                  <a:srgbClr val="005293"/>
                </a:solidFill>
              </a:rPr>
              <a:t>drop_tables_inside_figures</a:t>
            </a:r>
            <a:r>
              <a:rPr sz="1300" b="1" dirty="0">
                <a:solidFill>
                  <a:srgbClr val="00529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 table detector is a shape detector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ruled boxes with aligned text look like tables whatever they contain.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9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r>
              <a:rPr sz="2000" b="0" dirty="0">
                <a:solidFill>
                  <a:srgbClr val="000000"/>
                </a:solidFill>
              </a:rPr>
              <a:t> the </a:t>
            </a:r>
            <a:r>
              <a:rPr sz="2000" b="0" dirty="0" err="1">
                <a:solidFill>
                  <a:srgbClr val="000000"/>
                </a:solidFill>
              </a:rPr>
              <a:t>baseline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failed</a:t>
            </a:r>
            <a:r>
              <a:rPr sz="2000" b="0" dirty="0">
                <a:solidFill>
                  <a:srgbClr val="000000"/>
                </a:solidFill>
              </a:rPr>
              <a:t> to </a:t>
            </a:r>
            <a:r>
              <a:rPr sz="2000" b="0" dirty="0" err="1">
                <a:solidFill>
                  <a:srgbClr val="000000"/>
                </a:solidFill>
              </a:rPr>
              <a:t>produce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correctly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One table never emitted; two captions never attached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5_missed_and_caption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0" y="1339535"/>
            <a:ext cx="700391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10</a:t>
            </a:r>
            <a:r>
              <a:rPr sz="2000" b="0" dirty="0">
                <a:solidFill>
                  <a:srgbClr val="000000"/>
                </a:solidFill>
              </a:rPr>
              <a:t> · Text </a:t>
            </a:r>
            <a:r>
              <a:rPr sz="2000" b="0" dirty="0" err="1">
                <a:solidFill>
                  <a:srgbClr val="000000"/>
                </a:solidFill>
              </a:rPr>
              <a:t>assembly</a:t>
            </a:r>
            <a:r>
              <a:rPr sz="2000" b="0" dirty="0">
                <a:solidFill>
                  <a:srgbClr val="000000"/>
                </a:solidFill>
              </a:rPr>
              <a:t> also </a:t>
            </a:r>
            <a:r>
              <a:rPr sz="2000" b="0" dirty="0" err="1">
                <a:solidFill>
                  <a:srgbClr val="000000"/>
                </a:solidFill>
              </a:rPr>
              <a:t>strips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citations</a:t>
            </a:r>
            <a:r>
              <a:rPr sz="2000" b="0" dirty="0">
                <a:solidFill>
                  <a:srgbClr val="000000"/>
                </a:solidFill>
              </a:rPr>
              <a:t> and </a:t>
            </a:r>
            <a:r>
              <a:rPr sz="2000" b="0" dirty="0" err="1">
                <a:solidFill>
                  <a:srgbClr val="000000"/>
                </a:solidFill>
              </a:rPr>
              <a:t>layout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50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6_text_cleanup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74707"/>
            <a:ext cx="8513064" cy="2886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E1</a:t>
            </a:r>
            <a:r>
              <a:rPr lang="de-DE" sz="2000" b="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agreement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scorer</a:t>
            </a:r>
            <a:r>
              <a:rPr sz="2000" b="0" dirty="0">
                <a:solidFill>
                  <a:srgbClr val="000000"/>
                </a:solidFill>
              </a:rPr>
              <a:t>, end to 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One method: eligible voter outputs in, a deferral score and a winner out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344168"/>
            <a:ext cx="8513064" cy="34352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Input: the voter outputs that passed the schema and provenance gates</a:t>
            </a:r>
            <a:r>
              <a:rPr lang="en-US" sz="1450" b="0" dirty="0">
                <a:solidFill>
                  <a:srgbClr val="000000"/>
                </a:solidFill>
              </a:rPr>
              <a:t>, </a:t>
            </a:r>
            <a:r>
              <a:rPr sz="1450" b="0" dirty="0">
                <a:solidFill>
                  <a:srgbClr val="000000"/>
                </a:solidFill>
              </a:rPr>
              <a:t>each a set of typed findings, not a string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No voters → REJECT · exactly one → score 1.0 by construction (hence </a:t>
            </a:r>
            <a:r>
              <a:rPr sz="1450" b="0" dirty="0" err="1">
                <a:solidFill>
                  <a:srgbClr val="000000"/>
                </a:solidFill>
              </a:rPr>
              <a:t>legacy_single_voter_policy</a:t>
            </a:r>
            <a:r>
              <a:rPr sz="1450" b="0" dirty="0">
                <a:solidFill>
                  <a:srgbClr val="000000"/>
                </a:solidFill>
              </a:rPr>
              <a:t> = escalate)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Voters with zero findings are dropped before the matrix; fewer than two survive → ESCALATE at 0.0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 dirty="0">
                <a:solidFill>
                  <a:srgbClr val="000000"/>
                </a:solidFill>
              </a:rPr>
              <a:t>•  Pairwise similarity over the survivors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scores its mean similarity to the others; the chunk score is the maximum of those means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0" dirty="0">
                <a:solidFill>
                  <a:srgbClr val="000000"/>
                </a:solidFill>
              </a:rPr>
              <a:t>•  Winner = the argmax, ties broken on grounding quality. </a:t>
            </a:r>
            <a:r>
              <a:rPr sz="1450" b="0" dirty="0" err="1">
                <a:solidFill>
                  <a:srgbClr val="000000"/>
                </a:solidFill>
              </a:rPr>
              <a:t>θ</a:t>
            </a:r>
            <a:r>
              <a:rPr sz="1450" b="0" dirty="0">
                <a:solidFill>
                  <a:srgbClr val="000000"/>
                </a:solidFill>
              </a:rPr>
              <a:t> = 0.9 / </a:t>
            </a:r>
            <a:r>
              <a:rPr sz="1450" b="0" dirty="0" err="1">
                <a:solidFill>
                  <a:srgbClr val="000000"/>
                </a:solidFill>
              </a:rPr>
              <a:t>θ_reject</a:t>
            </a:r>
            <a:r>
              <a:rPr sz="1450" b="0" dirty="0">
                <a:solidFill>
                  <a:srgbClr val="000000"/>
                </a:solidFill>
              </a:rPr>
              <a:t> = 0.2 are applied downstream, not here.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00" b="1" dirty="0">
                <a:solidFill>
                  <a:srgbClr val="E37222"/>
                </a:solidFill>
              </a:rPr>
              <a:t>Max, not mean: one agreeing pair carries the chunk. Agreement is not correctness</a:t>
            </a:r>
            <a:r>
              <a:rPr lang="en-US" sz="1100" b="1" dirty="0">
                <a:solidFill>
                  <a:srgbClr val="E37222"/>
                </a:solidFill>
              </a:rPr>
              <a:t>, </a:t>
            </a:r>
            <a:r>
              <a:rPr sz="1100" b="1" dirty="0">
                <a:solidFill>
                  <a:srgbClr val="E37222"/>
                </a:solidFill>
              </a:rPr>
              <a:t>which is why GROUNDING runs afterwards.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39" y="896112"/>
            <a:ext cx="8307125" cy="960120"/>
          </a:xfrm>
        </p:spPr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20040" y="2103120"/>
            <a:ext cx="7818120" cy="11887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000000"/>
                </a:solidFill>
              </a:rPr>
              <a:t>Master's Thesis in </a:t>
            </a:r>
            <a:r>
              <a:rPr sz="1500" b="0" dirty="0" err="1">
                <a:solidFill>
                  <a:srgbClr val="000000"/>
                </a:solidFill>
              </a:rPr>
              <a:t>Informatics</a:t>
            </a:r>
            <a:endParaRPr lang="de-DE" sz="1500" dirty="0"/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000000"/>
                </a:solidFill>
              </a:rPr>
              <a:t>Emirhan Nadir Karaman</a:t>
            </a:r>
            <a:endParaRPr lang="de-DE" sz="13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Supervisor:  Frederic Mrozinski, </a:t>
            </a:r>
            <a:r>
              <a:rPr sz="1300" b="0" dirty="0" err="1">
                <a:solidFill>
                  <a:srgbClr val="595959"/>
                </a:solidFill>
              </a:rPr>
              <a:t>M.Sc</a:t>
            </a:r>
            <a:r>
              <a:rPr sz="1300" b="0" dirty="0">
                <a:solidFill>
                  <a:srgbClr val="595959"/>
                </a:solidFill>
              </a:rPr>
              <a:t>.      </a:t>
            </a:r>
            <a:endParaRPr lang="de-DE" sz="13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Examiner:  </a:t>
            </a:r>
            <a:r>
              <a:rPr sz="1300" b="0" dirty="0" err="1">
                <a:solidFill>
                  <a:srgbClr val="595959"/>
                </a:solidFill>
              </a:rPr>
              <a:t>apl</a:t>
            </a:r>
            <a:r>
              <a:rPr sz="1300" b="0" dirty="0">
                <a:solidFill>
                  <a:srgbClr val="595959"/>
                </a:solidFill>
              </a:rPr>
              <a:t>. Prof. Dr. Georg Groh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595959"/>
                </a:solidFill>
              </a:rPr>
              <a:t>Chair of </a:t>
            </a:r>
            <a:r>
              <a:rPr sz="1300" b="0" dirty="0" err="1">
                <a:solidFill>
                  <a:srgbClr val="595959"/>
                </a:solidFill>
              </a:rPr>
              <a:t>Connected</a:t>
            </a:r>
            <a:r>
              <a:rPr sz="1300" b="0" dirty="0">
                <a:solidFill>
                  <a:srgbClr val="595959"/>
                </a:solidFill>
              </a:rPr>
              <a:t> Mobility  |  Munich, </a:t>
            </a:r>
            <a:r>
              <a:rPr lang="de-DE" sz="1300" b="0" dirty="0">
                <a:solidFill>
                  <a:srgbClr val="595959"/>
                </a:solidFill>
              </a:rPr>
              <a:t>11</a:t>
            </a:r>
            <a:r>
              <a:rPr sz="1300" b="0" dirty="0">
                <a:solidFill>
                  <a:srgbClr val="595959"/>
                </a:solidFill>
              </a:rPr>
              <a:t>. August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CE58CB1E-F828-4F11-99E0-327109AF9DA4}" type="slidenum">
              <a:rPr lang="de-DE" smtClean="0"/>
              <a:pPr/>
              <a:t>52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2441905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591</TotalTime>
  <Words>16355</Words>
  <Application>Microsoft Macintosh PowerPoint</Application>
  <PresentationFormat>On-screen Show (16:9)</PresentationFormat>
  <Paragraphs>1660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A Pipeline for Extracting Simple Rules from Medical Literature for Automatic Disease Detection in Histopathology</vt:lpstr>
      <vt:lpstr>Diagnostic knowledge is trapped in prose, and an LLM's word for it is not enough</vt:lpstr>
      <vt:lpstr>Five research questions, each answered by a measurement</vt:lpstr>
      <vt:lpstr>Two pipelines, joined by a database that carries provenance</vt:lpstr>
      <vt:lpstr>Docling plus three targeted fixes, each aimed at a named failure</vt:lpstr>
      <vt:lpstr>Two-pass extraction removes an invisible “FOR PEER REVIEW” header</vt:lpstr>
      <vt:lpstr>Illustrative extraction example from the evaluation corpus</vt:lpstr>
      <vt:lpstr>Seven stages, only the MAP stage is stochastic</vt:lpstr>
      <vt:lpstr>Cheap voters decide; the strong model is called on disagreement</vt:lpstr>
      <vt:lpstr>How the agreement scorer picks a winner</vt:lpstr>
      <vt:lpstr>Four frozen datasets: one human-labeled, three LLM-labeled</vt:lpstr>
      <vt:lpstr>RQ1: Footnote capture and figure post-processing roughly double strict-F1</vt:lpstr>
      <vt:lpstr>Footnote expansion is the single biggest lever in the document layer</vt:lpstr>
      <vt:lpstr>RQ2: 1,747 rules, and every one traces back to a source paragraph</vt:lpstr>
      <vt:lpstr>What one extracted rule actually looks like</vt:lpstr>
      <vt:lpstr>RQ3a: Top cascade quality requires near-universal escalation</vt:lpstr>
      <vt:lpstr>How the shipped configuration was chosen: six experiments, in order</vt:lpstr>
      <vt:lpstr>RQ3b: The cascade ties the best single model, which costs 24% less</vt:lpstr>
      <vt:lpstr>RQ4: One frozen NLI model, two roles: grounding costs 6 F1 points</vt:lpstr>
      <vt:lpstr>RQ5: Held-out performance sits within noise of calibration</vt:lpstr>
      <vt:lpstr>Every number after RQ1 measures agreement with an LLM, not a pathologist</vt:lpstr>
      <vt:lpstr>Four questions answered; one negative result reported, not buried</vt:lpstr>
      <vt:lpstr>Backup</vt:lpstr>
      <vt:lpstr>Post-submission audit: the sub-figure merge step never executes</vt:lpstr>
      <vt:lpstr>B1 · Research questions, and their answers</vt:lpstr>
      <vt:lpstr>B2 · Corpus acquisition and the page-cap trade-off</vt:lpstr>
      <vt:lpstr>B3 · Why these 15 calibration papers: an integer linear program</vt:lpstr>
      <vt:lpstr>B4 · The document-extraction rubric: four dimensions, no partial credit</vt:lpstr>
      <vt:lpstr>B5 · Full document-extraction sweep, all key variants</vt:lpstr>
      <vt:lpstr>B6 · How a pipeline finding is matched to a silver label</vt:lpstr>
      <vt:lpstr>B7 · The pinned cascade configuration of record</vt:lpstr>
      <vt:lpstr>B8 · θ sweep and the gate ablation</vt:lpstr>
      <vt:lpstr>B9 · Cost model, operating points, and all single-model baselines</vt:lpstr>
      <vt:lpstr>B10 · Significance testing: paper-level clustered paired bootstrap</vt:lpstr>
      <vt:lpstr>B11 · Grounding score distribution and threshold trade-off</vt:lpstr>
      <vt:lpstr>B12 · Relation classification, per class, both input modes</vt:lpstr>
      <vt:lpstr>B13 · Held-out knowledge-extraction funnel, side by side</vt:lpstr>
      <vt:lpstr>B14 · Provenance chain and offline replay</vt:lpstr>
      <vt:lpstr>B15 · Operating points: why the knee misses the middle</vt:lpstr>
      <vt:lpstr>Expansion slides</vt:lpstr>
      <vt:lpstr>E1 · The icon filter removes journal furniture, not science</vt:lpstr>
      <vt:lpstr>E2 · Same pixels, correct caption: the geometric matcher</vt:lpstr>
      <vt:lpstr>E3 · A hidden duplicate paragraph would have been extracted twice</vt:lpstr>
      <vt:lpstr>E4 · Paragraph stitching is purely syntactic, which cuts both ways</vt:lpstr>
      <vt:lpstr>E5 · The corpus graph is small, but one contradiction is real</vt:lpstr>
      <vt:lpstr>E6 · Every component is mature; the audited integration is not</vt:lpstr>
      <vt:lpstr>E7 · Header, footer and sidebar are redacted before text assembly</vt:lpstr>
      <vt:lpstr>E8 · Three things a detector called a table, and none of them is one</vt:lpstr>
      <vt:lpstr>E9 · Three artifacts the baseline failed to produce correctly</vt:lpstr>
      <vt:lpstr>E10 · Text assembly also strips citations and layout artifacts</vt:lpstr>
      <vt:lpstr>E11 · The agreement scorer, end to end</vt:lpstr>
      <vt:lpstr>A Pipeline for Extracting Simple Rules from Medical Literature for Automatic Disease Detection in Histopathology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Emirhan Nadir Karaman</cp:lastModifiedBy>
  <cp:revision>49</cp:revision>
  <cp:lastPrinted>2015-07-30T14:04:45Z</cp:lastPrinted>
  <dcterms:created xsi:type="dcterms:W3CDTF">2020-10-03T23:03:33Z</dcterms:created>
  <dcterms:modified xsi:type="dcterms:W3CDTF">2026-08-09T15:06:08Z</dcterms:modified>
</cp:coreProperties>
</file>