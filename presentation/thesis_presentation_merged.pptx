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3" r:id="rId1"/>
    <p:sldMasterId id="2147483722" r:id="rId2"/>
    <p:sldMasterId id="2147483668" r:id="rId3"/>
    <p:sldMasterId id="2147483674" r:id="rId4"/>
    <p:sldMasterId id="2147483648" r:id="rId5"/>
    <p:sldMasterId id="2147483684" r:id="rId6"/>
    <p:sldMasterId id="2147483697" r:id="rId7"/>
  </p:sldMasterIdLst>
  <p:notesMasterIdLst>
    <p:notesMasterId r:id="rId60"/>
  </p:notesMasterIdLst>
  <p:handoutMasterIdLst>
    <p:handoutMasterId r:id="rId61"/>
  </p:handoutMasterIdLst>
  <p:sldIdLst>
    <p:sldId id="355" r:id="rId8"/>
    <p:sldId id="257" r:id="rId9"/>
    <p:sldId id="357" r:id="rId66"/>
    <p:sldId id="258" r:id="rId10"/>
    <p:sldId id="259" r:id="rId11"/>
    <p:sldId id="358" r:id="rId67"/>
    <p:sldId id="260" r:id="rId12"/>
    <p:sldId id="292" r:id="rId13"/>
    <p:sldId id="359" r:id="rId68"/>
    <p:sldId id="261" r:id="rId14"/>
    <p:sldId id="360" r:id="rId69"/>
    <p:sldId id="361" r:id="rId70"/>
    <p:sldId id="262" r:id="rId15"/>
    <p:sldId id="363" r:id="rId72"/>
    <p:sldId id="263" r:id="rId16"/>
    <p:sldId id="364" r:id="rId73"/>
    <p:sldId id="298" r:id="rId17"/>
    <p:sldId id="365" r:id="rId74"/>
    <p:sldId id="264" r:id="rId18"/>
    <p:sldId id="265" r:id="rId19"/>
    <p:sldId id="362" r:id="rId71"/>
    <p:sldId id="289" r:id="rId20"/>
    <p:sldId id="266" r:id="rId21"/>
    <p:sldId id="366" r:id="rId75"/>
    <p:sldId id="296" r:id="rId22"/>
    <p:sldId id="267" r:id="rId23"/>
    <p:sldId id="367" r:id="rId76"/>
    <p:sldId id="299" r:id="rId24"/>
    <p:sldId id="268" r:id="rId25"/>
    <p:sldId id="368" r:id="rId77"/>
    <p:sldId id="269" r:id="rId26"/>
    <p:sldId id="369" r:id="rId78"/>
    <p:sldId id="270" r:id="rId27"/>
    <p:sldId id="370" r:id="rId79"/>
    <p:sldId id="271" r:id="rId28"/>
    <p:sldId id="272" r:id="rId29"/>
    <p:sldId id="273" r:id="rId30"/>
    <p:sldId id="295" r:id="rId31"/>
    <p:sldId id="274" r:id="rId32"/>
    <p:sldId id="275" r:id="rId33"/>
    <p:sldId id="276" r:id="rId34"/>
    <p:sldId id="277" r:id="rId35"/>
    <p:sldId id="278" r:id="rId36"/>
    <p:sldId id="279" r:id="rId37"/>
    <p:sldId id="280" r:id="rId38"/>
    <p:sldId id="281" r:id="rId39"/>
    <p:sldId id="282" r:id="rId40"/>
    <p:sldId id="283" r:id="rId41"/>
    <p:sldId id="284" r:id="rId42"/>
    <p:sldId id="285" r:id="rId43"/>
    <p:sldId id="286" r:id="rId44"/>
    <p:sldId id="287" r:id="rId45"/>
    <p:sldId id="356" r:id="rId46"/>
    <p:sldId id="288" r:id="rId47"/>
    <p:sldId id="290" r:id="rId48"/>
    <p:sldId id="291" r:id="rId49"/>
    <p:sldId id="293" r:id="rId50"/>
    <p:sldId id="294" r:id="rId51"/>
    <p:sldId id="297" r:id="rId52"/>
    <p:sldId id="300" r:id="rId53"/>
    <p:sldId id="301" r:id="rId54"/>
    <p:sldId id="302" r:id="rId55"/>
    <p:sldId id="303" r:id="rId56"/>
    <p:sldId id="304" r:id="rId57"/>
    <p:sldId id="305" r:id="rId58"/>
    <p:sldId id="256" r:id="rId59"/>
  </p:sldIdLst>
  <p:sldSz cx="9144000" cy="5143500" type="screen16x9"/>
  <p:notesSz cx="9925050" cy="6665913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4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00">
          <p15:clr>
            <a:srgbClr val="A4A3A4"/>
          </p15:clr>
        </p15:guide>
        <p15:guide id="2" pos="312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999"/>
    <a:srgbClr val="98C6EA"/>
    <a:srgbClr val="0052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269D01E-BC32-4049-B463-5C60D7B0CCD2}" styleName="Designformatvorlage 2 - Akz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D083AE6-46FA-4A59-8FB0-9F97EB10719F}" styleName="Helle Formatvorlage 3 - Akz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Helle Formatvorlage 2 - Akz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27102A9-8310-4765-A935-A1911B00CA55}" styleName="Helle Formatvorlage 1 - Akz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EC20E35-A176-4012-BC5E-935CFFF8708E}" styleName="Mittlere Formatvorlag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4B1156A-380E-4F78-BDF5-A606A8083BF9}" styleName="Mittlere Formatvorlage 4 - Akz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4C1A8A3-306A-4EB7-A6B1-4F7E0EB9C5D6}" styleName="Mittlere Formatvorlage 3 - Akz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4" autoAdjust="0"/>
    <p:restoredTop sz="79857" autoAdjust="0"/>
  </p:normalViewPr>
  <p:slideViewPr>
    <p:cSldViewPr snapToGrid="0">
      <p:cViewPr varScale="1">
        <p:scale>
          <a:sx n="128" d="100"/>
          <a:sy n="128" d="100"/>
        </p:scale>
        <p:origin x="584" y="160"/>
      </p:cViewPr>
      <p:guideLst>
        <p:guide orient="horz" pos="2164"/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31" d="100"/>
          <a:sy n="131" d="100"/>
        </p:scale>
        <p:origin x="-810" y="-96"/>
      </p:cViewPr>
      <p:guideLst>
        <p:guide orient="horz" pos="2100"/>
        <p:guide pos="3126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notesMaster" Target="notesMasters/notesMaster1.xml"/><Relationship Id="rId61" Type="http://schemas.openxmlformats.org/officeDocument/2006/relationships/handoutMaster" Target="handoutMasters/handoutMaster1.xml"/><Relationship Id="rId62" Type="http://schemas.openxmlformats.org/officeDocument/2006/relationships/presProps" Target="presProps.xml"/><Relationship Id="rId63" Type="http://schemas.openxmlformats.org/officeDocument/2006/relationships/viewProps" Target="viewProps.xml"/><Relationship Id="rId64" Type="http://schemas.openxmlformats.org/officeDocument/2006/relationships/theme" Target="theme/theme1.xml"/><Relationship Id="rId65" Type="http://schemas.openxmlformats.org/officeDocument/2006/relationships/tableStyles" Target="tableStyles.xml"/><Relationship Id="rId66" Type="http://schemas.openxmlformats.org/officeDocument/2006/relationships/slide" Target="slides/slide53.xml"/><Relationship Id="rId67" Type="http://schemas.openxmlformats.org/officeDocument/2006/relationships/slide" Target="slides/slide54.xml"/><Relationship Id="rId68" Type="http://schemas.openxmlformats.org/officeDocument/2006/relationships/slide" Target="slides/slide55.xml"/><Relationship Id="rId69" Type="http://schemas.openxmlformats.org/officeDocument/2006/relationships/slide" Target="slides/slide56.xml"/><Relationship Id="rId70" Type="http://schemas.openxmlformats.org/officeDocument/2006/relationships/slide" Target="slides/slide57.xml"/><Relationship Id="rId71" Type="http://schemas.openxmlformats.org/officeDocument/2006/relationships/slide" Target="slides/slide58.xml"/><Relationship Id="rId72" Type="http://schemas.openxmlformats.org/officeDocument/2006/relationships/slide" Target="slides/slide59.xml"/><Relationship Id="rId73" Type="http://schemas.openxmlformats.org/officeDocument/2006/relationships/slide" Target="slides/slide60.xml"/><Relationship Id="rId74" Type="http://schemas.openxmlformats.org/officeDocument/2006/relationships/slide" Target="slides/slide61.xml"/><Relationship Id="rId75" Type="http://schemas.openxmlformats.org/officeDocument/2006/relationships/slide" Target="slides/slide62.xml"/><Relationship Id="rId76" Type="http://schemas.openxmlformats.org/officeDocument/2006/relationships/slide" Target="slides/slide63.xml"/><Relationship Id="rId77" Type="http://schemas.openxmlformats.org/officeDocument/2006/relationships/slide" Target="slides/slide64.xml"/><Relationship Id="rId78" Type="http://schemas.openxmlformats.org/officeDocument/2006/relationships/slide" Target="slides/slide65.xml"/><Relationship Id="rId79" Type="http://schemas.openxmlformats.org/officeDocument/2006/relationships/slide" Target="slides/slide6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0751376-2EB8-4403-B858-305A8AAA6B01}" type="datetimeFigureOut">
              <a:rPr lang="en-GB"/>
              <a:pPr>
                <a:defRPr/>
              </a:pPr>
              <a:t>09/08/2026</a:t>
            </a:fld>
            <a:endParaRPr lang="en-GB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2C15F7A-46C6-4AD2-BFEC-842DCCCC19C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90957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9C46BC9-2C9E-4670-A85A-6A588BA2D405}" type="datetimeFigureOut">
              <a:rPr lang="en-GB"/>
              <a:pPr>
                <a:defRPr/>
              </a:pPr>
              <a:t>09/08/2026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08" tIns="45354" rIns="90708" bIns="45354" rtlCol="0" anchor="ctr"/>
          <a:lstStyle/>
          <a:p>
            <a:pPr lvl="0"/>
            <a:endParaRPr lang="en-GB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92506" y="3166309"/>
            <a:ext cx="7940040" cy="2999661"/>
          </a:xfrm>
          <a:prstGeom prst="rect">
            <a:avLst/>
          </a:prstGeom>
        </p:spPr>
        <p:txBody>
          <a:bodyPr vert="horz" wrap="square" lIns="90708" tIns="45354" rIns="90708" bIns="45354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0AFC6D0-44D5-4EB7-828F-6F464F83D79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9973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182563" indent="-182563" algn="l" rtl="0" fontAlgn="base">
      <a:spcBef>
        <a:spcPct val="30000"/>
      </a:spcBef>
      <a:spcAft>
        <a:spcPct val="0"/>
      </a:spcAft>
      <a:buFont typeface="Arial" charset="0"/>
      <a:buChar char="•"/>
      <a:defRPr sz="1200" kern="1200">
        <a:solidFill>
          <a:schemeClr val="tx1"/>
        </a:solidFill>
        <a:latin typeface="+mn-lt"/>
        <a:ea typeface="+mn-ea"/>
        <a:cs typeface="Arial" charset="0"/>
      </a:defRPr>
    </a:lvl2pPr>
    <a:lvl3pPr marL="355600" indent="-173038" algn="l" rtl="0" fontAlgn="base">
      <a:spcBef>
        <a:spcPct val="30000"/>
      </a:spcBef>
      <a:spcAft>
        <a:spcPct val="0"/>
      </a:spcAft>
      <a:buFont typeface="Symbol" pitchFamily="18" charset="2"/>
      <a:buChar char="-"/>
      <a:defRPr sz="1200" kern="1200">
        <a:solidFill>
          <a:schemeClr val="tx1"/>
        </a:solidFill>
        <a:latin typeface="+mn-lt"/>
        <a:ea typeface="+mn-ea"/>
        <a:cs typeface="Arial" charset="0"/>
      </a:defRPr>
    </a:lvl3pPr>
    <a:lvl4pPr marL="538163" indent="-182563" algn="l" rtl="0" fontAlgn="base">
      <a:spcBef>
        <a:spcPct val="30000"/>
      </a:spcBef>
      <a:spcAft>
        <a:spcPct val="0"/>
      </a:spcAft>
      <a:buFont typeface="Courier New" pitchFamily="49" charset="0"/>
      <a:buChar char="o"/>
      <a:defRPr sz="1200" kern="1200">
        <a:solidFill>
          <a:schemeClr val="tx1"/>
        </a:solidFill>
        <a:latin typeface="+mn-lt"/>
        <a:ea typeface="+mn-ea"/>
        <a:cs typeface="Arial" charset="0"/>
      </a:defRPr>
    </a:lvl4pPr>
    <a:lvl5pPr marL="720725" indent="-182563" algn="l" rtl="0" fontAlgn="base">
      <a:spcBef>
        <a:spcPct val="30000"/>
      </a:spcBef>
      <a:spcAft>
        <a:spcPct val="0"/>
      </a:spcAft>
      <a:buFont typeface="Wingdings" pitchFamily="2" charset="2"/>
      <a:buChar char="§"/>
      <a:defRPr sz="1200" kern="1200">
        <a:solidFill>
          <a:schemeClr val="tx1"/>
        </a:solidFill>
        <a:latin typeface="+mn-lt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Good morning, and thank you for coming. I'm Emirhan Karaman, and this is my Master's thesis,</a:t>
            </a:r>
          </a:p>
          <a:p>
            <a:r>
              <a:rPr lang="en-US" dirty="0"/>
              <a:t>supervised by Frederic Mrozinski and examined by Professor Groh.</a:t>
            </a:r>
          </a:p>
          <a:p>
            <a:endParaRPr lang="en-US" dirty="0"/>
          </a:p>
          <a:p>
            <a:r>
              <a:rPr lang="en-US" dirty="0"/>
              <a:t>The title is long, so let me split it. The input is medical literature - histopathology papers.</a:t>
            </a:r>
          </a:p>
          <a:p>
            <a:r>
              <a:rPr lang="en-US" dirty="0"/>
              <a:t>The output is "simple rules": small, typed, subject-outcome statements a pathologist could</a:t>
            </a:r>
          </a:p>
          <a:p>
            <a:r>
              <a:rPr lang="en-US" dirty="0"/>
              <a:t>actually check. The word doing the most work in that sentence is CHECK. Everything in the next</a:t>
            </a:r>
          </a:p>
          <a:p>
            <a:r>
              <a:rPr lang="en-US" dirty="0"/>
              <a:t>eighteen minutes follows from taking that word seriously.</a:t>
            </a:r>
          </a:p>
          <a:p>
            <a:endParaRPr lang="en-US" dirty="0"/>
          </a:p>
          <a:p>
            <a:r>
              <a:rPr lang="en-US" dirty="0"/>
              <a:t>[0:25]  -&gt;  "Let me start with why that's hard."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Histopathology diagnosis rests on facts that live in prose. Which biomarker is expressed in which</a:t>
            </a:r>
          </a:p>
          <a:p>
            <a:r>
              <a:rPr dirty="0" err="1"/>
              <a:t>tumour</a:t>
            </a:r>
            <a:r>
              <a:rPr dirty="0"/>
              <a:t> subtype; which morphological features support a diagnosis; whether a finding means a</a:t>
            </a:r>
          </a:p>
          <a:p>
            <a:r>
              <a:rPr dirty="0"/>
              <a:t>better or a worse prognosis. Those facts exist - they are just scattered across thousands of</a:t>
            </a:r>
          </a:p>
          <a:p>
            <a:r>
              <a:rPr dirty="0"/>
              <a:t>papers, and no pathologist can read all of them.</a:t>
            </a:r>
          </a:p>
          <a:p>
            <a:endParaRPr dirty="0"/>
          </a:p>
          <a:p>
            <a:r>
              <a:rPr dirty="0"/>
              <a:t>Large language models can. That is genuinely new. But the failure modes are exactly the ones that</a:t>
            </a:r>
          </a:p>
          <a:p>
            <a:r>
              <a:rPr dirty="0"/>
              <a:t>matter here: they invent claims that look plausible, they drop the qualifier that made the claim</a:t>
            </a:r>
          </a:p>
          <a:p>
            <a:r>
              <a:rPr dirty="0"/>
              <a:t>true, and they paraphrase until you can no longer find the original sentence. In a clinical</a:t>
            </a:r>
          </a:p>
          <a:p>
            <a:r>
              <a:rPr dirty="0"/>
              <a:t>setting, a claim you cannot verify is not a weak result - it is not a result.</a:t>
            </a:r>
          </a:p>
          <a:p>
            <a:endParaRPr dirty="0"/>
          </a:p>
          <a:p>
            <a:r>
              <a:rPr dirty="0"/>
              <a:t>So the requirement is traceability, and here is the gap. Layout-aware PDF parsing, biomedical</a:t>
            </a:r>
          </a:p>
          <a:p>
            <a:r>
              <a:rPr dirty="0"/>
              <a:t>entity linking, entailment checking, cost-aware model cascading - every one is mature on its own,</a:t>
            </a:r>
          </a:p>
          <a:p>
            <a:r>
              <a:rPr dirty="0"/>
              <a:t>with its own benchmark and its own definition of success. What is rare is all of them combined</a:t>
            </a:r>
          </a:p>
          <a:p>
            <a:r>
              <a:rPr dirty="0"/>
              <a:t>into a single auditable system, evaluated under a joint cost AND quality constraint.</a:t>
            </a:r>
          </a:p>
          <a:p>
            <a:endParaRPr dirty="0"/>
          </a:p>
          <a:p>
            <a:r>
              <a:rPr dirty="0"/>
              <a:t>(OPTIONAL - cut if behind: that combination is what this thesis asks about: where do off-the-shelf</a:t>
            </a:r>
          </a:p>
          <a:p>
            <a:r>
              <a:rPr dirty="0"/>
              <a:t>tools already suffice, where does calibrated agreement help, and where does it justify its cost?)</a:t>
            </a:r>
          </a:p>
          <a:p>
            <a:endParaRPr dirty="0"/>
          </a:p>
          <a:p>
            <a:r>
              <a:rPr dirty="0"/>
              <a:t>[1:10]  -&gt;  "I turned that into five questions, each with a number attached."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lnSpcReduction="10000"/>
          </a:bodyPr>
          <a:lstStyle/>
          <a:p>
            <a:r>
              <a:t>Five questions. RQ1 is the document layer: how faithfully do we recover text, tables, figures and</a:t>
            </a:r>
          </a:p>
          <a:p>
            <a:r>
              <a:t>captions, and - importantly - how much of that is MY pipeline rather than the off-the-shelf tool</a:t>
            </a:r>
          </a:p>
          <a:p>
            <a:r>
              <a:t>underneath it. RQ2 asks about the knowledge layer and about provenance. RQ3 is the cost question,</a:t>
            </a:r>
          </a:p>
          <a:p>
            <a:r>
              <a:t>and it is where the interesting result lives. RQ4 asks whether one frozen NLI model can do two</a:t>
            </a:r>
          </a:p>
          <a:p>
            <a:r>
              <a:t>different jobs. RQ5 asks whether the calibration overfits.</a:t>
            </a:r>
          </a:p>
          <a:p/>
          <a:p>
            <a:r>
              <a:t>One caveat up front, because it conditions everything after RQ1. The reference labels for RQ2</a:t>
            </a:r>
          </a:p>
          <a:p>
            <a:r>
              <a:t>through RQ5 were generated by a strong LLM - Claude Opus 4.7 - not by a human expert. So those</a:t>
            </a:r>
          </a:p>
          <a:p>
            <a:r>
              <a:t>scores measure AGREEMENT WITH THE LABELLER. I will flag that again where it bites, and I have a</a:t>
            </a:r>
          </a:p>
          <a:p>
            <a:r>
              <a:t>slide on it at the end. RQ1 is the exception: those labels are human, annotated against a written</a:t>
            </a:r>
          </a:p>
          <a:p>
            <a:r>
              <a:t>rubric.</a:t>
            </a:r>
          </a:p>
          <a:p/>
          <a:p>
            <a:r>
              <a:t>[0:50]  -&gt;  "Here is the system those questions are asking about."</a:t>
            </a:r>
          </a:p>
          <a:p/>
          <a:p>
            <a:r>
              <a:t>JUMPS — if asked:</a:t>
            </a:r>
          </a:p>
          <a:p>
            <a:r>
              <a:t>  the exact RQ wording → B1, slide 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92500" lnSpcReduction="20000"/>
          </a:bodyPr>
          <a:lstStyle/>
          <a:p>
            <a:r>
              <a:t>Four stages. We select and filter histopathology papers from the PMC Open Access subset - 977 make</a:t>
            </a:r>
          </a:p>
          <a:p>
            <a:r>
              <a:t>it into the database. Document extraction turns each PDF into hierarchical text, figure crops and</a:t>
            </a:r>
          </a:p>
          <a:p>
            <a:r>
              <a:t>table crops. Knowledge extraction turns sentences into typed findings and then into rules. And</a:t>
            </a:r>
          </a:p>
          <a:p>
            <a:r>
              <a:t>everything is written to artifacts that let me replay the whole evaluation offline.</a:t>
            </a:r>
          </a:p>
          <a:p/>
          <a:p>
            <a:r>
              <a:t>The thing I want you to take from this diagram is the database in the middle. It is not storage -</a:t>
            </a:r>
          </a:p>
          <a:p>
            <a:r>
              <a:t>it is the provenance backbone. Every object carries back-pointers, the chain at the bottom of the</a:t>
            </a:r>
          </a:p>
          <a:p>
            <a:r>
              <a:t>slide. That chain is enforced by the data model, so it cannot silently break.</a:t>
            </a:r>
          </a:p>
          <a:p/>
          <a:p>
            <a:r>
              <a:t>One honest caveat I will repeat later: provenance enables auditability. It is NOT proof of</a:t>
            </a:r>
          </a:p>
          <a:p>
            <a:r>
              <a:t>correctness. It tells you where a claim came from, not that the claim is true.</a:t>
            </a:r>
          </a:p>
          <a:p/>
          <a:p>
            <a:r>
              <a:t>(OPTIONAL: the system deliberately emits rule CANDIDATES for expert review; it does not aim to</a:t>
            </a:r>
          </a:p>
          <a:p>
            <a:r>
              <a:t>produce clinical rules autonomously.)</a:t>
            </a:r>
          </a:p>
          <a:p/>
          <a:p>
            <a:r>
              <a:t>[1:15]  -&gt;  "Let's start at the bottom of that stack - turning a PDF into something structured."</a:t>
            </a:r>
          </a:p>
          <a:p/>
          <a:p>
            <a:r>
              <a:t>JUMPS — if asked:</a:t>
            </a:r>
          </a:p>
          <a:p>
            <a:r>
              <a:t>  corpus size, the page cap → B2, slide 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55000" lnSpcReduction="20000"/>
          </a:bodyPr>
          <a:lstStyle/>
          <a:p>
            <a:r>
              <a:t>The backbone is Docling, an open-source layout-aware parser, and it stays the sole source of body</a:t>
            </a:r>
          </a:p>
          <a:p>
            <a:r>
              <a:t>text, section structure and figure regions. I did not replace it - I measured it and then fixed</a:t>
            </a:r>
          </a:p>
          <a:p>
            <a:r>
              <a:t>what it got wrong.</a:t>
            </a:r>
          </a:p>
          <a:p/>
          <a:p>
            <a:r>
              <a:t>Three fixes. First, table detection: I run Microsoft's Table Transformer alongside Docling and</a:t>
            </a:r>
          </a:p>
          <a:p>
            <a:r>
              <a:t>take the union of overlapping boxes. Threshold-free - any two boxes that overlap at all are merged</a:t>
            </a:r>
          </a:p>
          <a:p>
            <a:r>
              <a:t>into their bounding union. Second, footnote expansion: Docling crops tables tightly and cuts the</a:t>
            </a:r>
          </a:p>
          <a:p>
            <a:r>
              <a:t>footnotes off, so I extend the crop downward by twenty percent. That sounds trivial. It is the</a:t>
            </a:r>
          </a:p>
          <a:p>
            <a:r>
              <a:t>single biggest lever in the entire document layer, and I will show you the number shortly. Third,</a:t>
            </a:r>
          </a:p>
          <a:p>
            <a:r>
              <a:t>figure post-processing: a size filter dropping anything under fifty points and my own geometric</a:t>
            </a:r>
          </a:p>
          <a:p>
            <a:r>
              <a:t>caption matcher instead of Docling's default. (A sub-figure merge step also exists in the code.</a:t>
            </a:r>
          </a:p>
          <a:p>
            <a:r>
              <a:t>After submission I found it never executes - see the sub-figure audit slide - so I do not claim it as</a:t>
            </a:r>
          </a:p>
          <a:p>
            <a:r>
              <a:t>a contributor.)</a:t>
            </a:r>
          </a:p>
          <a:p/>
          <a:p>
            <a:r>
              <a:t>The fourth item is the two-pass extractor. Some publisher PDFs carry invisible OCR text underneath</a:t>
            </a:r>
          </a:p>
          <a:p>
            <a:r>
              <a:t>the visible text. I detect those elements by rendering the region and testing the pixels, redact</a:t>
            </a:r>
          </a:p>
          <a:p>
            <a:r>
              <a:t>the underlying text objects, and re-run Docling on the cleaned PDF.</a:t>
            </a:r>
          </a:p>
          <a:p/>
          <a:p>
            <a:r>
              <a:t>(OPTIONAL: one deliberate choice - the pipeline never reads JATS-XML, even when PMC provides it.</a:t>
            </a:r>
          </a:p>
          <a:p>
            <a:r>
              <a:t>It is built to work from the PDF alone, so it transfers to literature where structured XML does</a:t>
            </a:r>
          </a:p>
          <a:p>
            <a:r>
              <a:t>not exist.)</a:t>
            </a:r>
          </a:p>
          <a:p/>
          <a:p>
            <a:r>
              <a:t>[1:00]  -&gt;  "That's the description. Here is what one of those failures actually looks like."</a:t>
            </a:r>
          </a:p>
          <a:p/>
          <a:p>
            <a:r>
              <a:t>JUMPS — if asked:</a:t>
            </a:r>
          </a:p>
          <a:p>
            <a:r>
              <a:t>  the icon filter → E1, slide 41</a:t>
            </a:r>
          </a:p>
          <a:p>
            <a:r>
              <a:t>  caption matching → E2, slide 42</a:t>
            </a:r>
          </a:p>
          <a:p>
            <a:r>
              <a:t>  header/footer/sidebar masking → E7, slide 47</a:t>
            </a:r>
          </a:p>
          <a:p>
            <a:r>
              <a:t>  the sub-figure merge correction — volunteer this → the audit slide, slide 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7500" lnSpcReduction="20000"/>
          </a:bodyPr>
          <a:lstStyle/>
          <a:p>
            <a:r>
              <a:t>This is the fault mode nobody sees, because by definition you cannot see it.</a:t>
            </a:r>
          </a:p>
          <a:p/>
          <a:p>
            <a:r>
              <a:t>The purple boxes are text elements Docling extracted from this page. Render the page and none of</a:t>
            </a:r>
          </a:p>
          <a:p>
            <a:r>
              <a:t>it is there. What happened is that the publisher left the pre-publication running header in the</a:t>
            </a:r>
          </a:p>
          <a:p>
            <a:r>
              <a:t>file as an invisible layer - "Dermatopathology 2025, 12, x FOR PEER REVIEW" - sitting directly on</a:t>
            </a:r>
          </a:p>
          <a:p>
            <a:r>
              <a:t>top of the real published header, which reads "2025, 12, 2". The "x" is the unassigned article</a:t>
            </a:r>
          </a:p>
          <a:p>
            <a:r>
              <a:t>number.</a:t>
            </a:r>
          </a:p>
          <a:p/>
          <a:p>
            <a:r>
              <a:t>Docling has no way to know. It reads the text layer, and the text layer says both.</a:t>
            </a:r>
          </a:p>
          <a:p/>
          <a:p>
            <a:r>
              <a:t>My detection is pixel-based rather than font-based: for each element, render its bounding box and</a:t>
            </a:r>
          </a:p>
          <a:p>
            <a:r>
              <a:t>test whether anything was actually drawn there. If the region is blank, the text is invisible, and</a:t>
            </a:r>
          </a:p>
          <a:p>
            <a:r>
              <a:t>the underlying text objects get redacted before a second Docling pass. That rule -</a:t>
            </a:r>
          </a:p>
          <a:p>
            <a:r>
              <a:t>R1_blank_pixels - accounts for 7,595 of 9,836 rejections across the corpus.</a:t>
            </a:r>
          </a:p>
          <a:p/>
          <a:p>
            <a:r>
              <a:t>Why this matters for the thesis rather than just being tidy: every one of those fragments would</a:t>
            </a:r>
          </a:p>
          <a:p>
            <a:r>
              <a:t>otherwise become a sentence, get chunked, and be sent to a language model as if it were content.</a:t>
            </a:r>
          </a:p>
          <a:p/>
          <a:p>
            <a:r>
              <a:t>[1:15]</a:t>
            </a:r>
          </a:p>
          <a:p/>
          <a:p>
            <a:r>
              <a:t>JUMPS — if asked:</a:t>
            </a:r>
          </a:p>
          <a:p>
            <a:r>
              <a:t>  how ghost text is detected → E3, slide 43</a:t>
            </a:r>
          </a:p>
          <a:p>
            <a:r>
              <a:t>  what else gets redacted → E7, slide 47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85000" lnSpcReduction="20000"/>
          </a:bodyPr>
          <a:lstStyle/>
          <a:p>
            <a:r>
              <a:t>This slide is an illustration, not evidence - and it says so at the bottom. The evidence is the</a:t>
            </a:r>
          </a:p>
          <a:p>
            <a:r>
              <a:t>rubric numbers on the next slide. What this does is show you what those numbers MEAN.</a:t>
            </a:r>
          </a:p>
          <a:p/>
          <a:p>
            <a:r>
              <a:t>One paper from the 27-paper rubric set. It has three tables. One of them, Table 1, starts on page</a:t>
            </a:r>
          </a:p>
          <a:p>
            <a:r>
              <a:t>3 and continues onto page 4 under the heading "Table 1. Cont." - a completely ordinary journal</a:t>
            </a:r>
          </a:p>
          <a:p>
            <a:r>
              <a:t>convention.</a:t>
            </a:r>
          </a:p>
          <a:p/>
          <a:p>
            <a:r>
              <a:t>Left column: the region as it appears in the PDF. Middle: what the Docling-only configuration</a:t>
            </a:r>
          </a:p>
          <a:p>
            <a:r>
              <a:t>emitted for those two regions - nothing. It emitted one table for this paper, the one on page 7.</a:t>
            </a:r>
          </a:p>
          <a:p>
            <a:r>
              <a:t>Both halves of Table 1 were never recovered. Right: the hybrid detector emits both halves, and my</a:t>
            </a:r>
          </a:p>
          <a:p>
            <a:r>
              <a:t>annotation of them under the rubric is "correct" for each.</a:t>
            </a:r>
          </a:p>
          <a:p/>
          <a:p>
            <a:r>
              <a:t>The failure mode generalises: page-by-page detection means a table spanning a page boundary looks</a:t>
            </a:r>
          </a:p>
          <a:p>
            <a:r>
              <a:t>like two partial tables, and a detector tuned for whole tables proposes neither. That is precisely</a:t>
            </a:r>
          </a:p>
          <a:p>
            <a:r>
              <a:t>the gap the second detector fills.</a:t>
            </a:r>
          </a:p>
          <a:p/>
          <a:p>
            <a:r>
              <a:t>[1:20]  -&gt;  "Multiply that across 27 papers and four scoring dimensions, and you get RQ1."</a:t>
            </a:r>
          </a:p>
          <a:p/>
          <a:p>
            <a:r>
              <a:t>JUMPS — if asked:</a:t>
            </a:r>
          </a:p>
          <a:p>
            <a:r>
              <a:t>  paragraph stitching → E4, slide 44</a:t>
            </a:r>
          </a:p>
          <a:p>
            <a:r>
              <a:t>  citation stripping → E10, slide 50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Seven stages. MAP is the only one that calls a language model - it reads a window of ten</a:t>
            </a:r>
          </a:p>
          <a:p>
            <a:r>
              <a:rPr dirty="0"/>
              <a:t>consecutive sentences and emits typed findings against a strict </a:t>
            </a:r>
            <a:r>
              <a:rPr dirty="0" err="1"/>
              <a:t>Pydantic</a:t>
            </a:r>
            <a:r>
              <a:rPr dirty="0"/>
              <a:t> schema: a claim, subject</a:t>
            </a:r>
          </a:p>
          <a:p>
            <a:r>
              <a:rPr dirty="0"/>
              <a:t>and outcome entities, a relation type, a polarity direction, a category, scope fields like tissue</a:t>
            </a:r>
          </a:p>
          <a:p>
            <a:r>
              <a:rPr dirty="0"/>
              <a:t>site and assay method, and a verbatim evidence span.</a:t>
            </a:r>
          </a:p>
          <a:p>
            <a:endParaRPr dirty="0"/>
          </a:p>
          <a:p>
            <a:r>
              <a:rPr dirty="0"/>
              <a:t>Then GROUNDING checks each claim against the paragraph it cites, using an NLI model. NORMALIZE</a:t>
            </a:r>
          </a:p>
          <a:p>
            <a:r>
              <a:rPr dirty="0"/>
              <a:t>maps entity names to canonical forms and UMLS concept IDs and deduplicates. GROUP collects</a:t>
            </a:r>
          </a:p>
          <a:p>
            <a:r>
              <a:rPr dirty="0"/>
              <a:t>findings sharing subject, outcome, relation type and category. CANONICALIZE picks one</a:t>
            </a:r>
          </a:p>
          <a:p>
            <a:r>
              <a:rPr dirty="0"/>
              <a:t>representative per polarity direction - one bin per direction, including "unclear", which makes it</a:t>
            </a:r>
          </a:p>
          <a:p>
            <a:r>
              <a:rPr dirty="0"/>
              <a:t>lossless. RELATE finds support and contradiction between claims. RESOLVE scores the final rules.</a:t>
            </a:r>
          </a:p>
          <a:p>
            <a:endParaRPr dirty="0"/>
          </a:p>
          <a:p>
            <a:r>
              <a:rPr dirty="0"/>
              <a:t>The line to underline is the bold one. After MAP, nothing generates text. Every downstream stage</a:t>
            </a:r>
          </a:p>
          <a:p>
            <a:r>
              <a:rPr dirty="0"/>
              <a:t>is deterministic - it merges, selects, or scores. That is the structural reason the provenance</a:t>
            </a:r>
          </a:p>
          <a:p>
            <a:r>
              <a:rPr dirty="0"/>
              <a:t>chain survives to the end. And one specific safeguard: after MAP returns, I overwrite the model's</a:t>
            </a:r>
          </a:p>
          <a:p>
            <a:r>
              <a:rPr dirty="0"/>
              <a:t>verbatim quote with the actual source text from the database, so the evidence string reflects the</a:t>
            </a:r>
          </a:p>
          <a:p>
            <a:r>
              <a:rPr dirty="0"/>
              <a:t>real paragraph rather than a possibly invented quotation.</a:t>
            </a:r>
          </a:p>
          <a:p>
            <a:endParaRPr dirty="0"/>
          </a:p>
          <a:p>
            <a:r>
              <a:rPr dirty="0"/>
              <a:t>[1:05]  -&gt;  "MAP is the stochastic step and the expensive one - so that's where the cascade goes."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55000" lnSpcReduction="20000"/>
          </a:bodyPr>
          <a:lstStyle/>
          <a:p>
            <a:r>
              <a:t>The cascade sits on MAP. Three cheap voters from OpenAI and Google run in parallel on every chunk.</a:t>
            </a:r>
          </a:p>
          <a:p>
            <a:r>
              <a:t>A scorer measures how much they agree: it builds a pairwise similarity matrix, takes each voter's</a:t>
            </a:r>
          </a:p>
          <a:p>
            <a:r>
              <a:t>mean similarity to the others, and the agreement score is the MAXIMUM of those means - so the</a:t>
            </a:r>
          </a:p>
          <a:p>
            <a:r>
              <a:t>winning output is the one most aligned with the consensus.</a:t>
            </a:r>
          </a:p>
          <a:p/>
          <a:p>
            <a:r>
              <a:t>That score drives a three-way decision. Above theta, accept the winner and stop. Below a reject</a:t>
            </a:r>
          </a:p>
          <a:p>
            <a:r>
              <a:t>threshold, emit nothing. In between, escalate. Escalation runs the two mid-tier voters, and if</a:t>
            </a:r>
          </a:p>
          <a:p>
            <a:r>
              <a:t>they still disagree it goes to Claude Sonnet, whose output is accepted unconditionally - no scorer</a:t>
            </a:r>
          </a:p>
          <a:p>
            <a:r>
              <a:t>is applied at level three.</a:t>
            </a:r>
          </a:p>
          <a:p/>
          <a:p>
            <a:r>
              <a:t>Two design points that matter for the results. First, every voter runs at temperature zero. The</a:t>
            </a:r>
          </a:p>
          <a:p>
            <a:r>
              <a:t>diversity here is PROVIDER diversity, not sampling noise - a deliberate choice, and it turns out</a:t>
            </a:r>
          </a:p>
          <a:p>
            <a:r>
              <a:t>to be the cascade's most defensible property. Second, and I flag it now because it predicts the</a:t>
            </a:r>
          </a:p>
          <a:p>
            <a:r>
              <a:t>negative result: if the cheap voters disagree often, you pay for them AND for the strong model.</a:t>
            </a:r>
          </a:p>
          <a:p>
            <a:r>
              <a:t>The cascade is only cheaper than always calling the strong model if agreement is common. Hold that</a:t>
            </a:r>
          </a:p>
          <a:p>
            <a:r>
              <a:t>thought.</a:t>
            </a:r>
          </a:p>
          <a:p/>
          <a:p>
            <a:r>
              <a:t>(OPTIONAL: there are also three safety gates - a polarity-conflict hard-fail forcing escalation</a:t>
            </a:r>
          </a:p>
          <a:p>
            <a:r>
              <a:t>when two voters give opposite polarity, a single-voter policy, and a citation-provenance screen.</a:t>
            </a:r>
          </a:p>
          <a:p>
            <a:r>
              <a:t>Their purpose is safety, not strict-F1; backup slide B8 has the numbers.)</a:t>
            </a:r>
          </a:p>
          <a:p/>
          <a:p>
            <a:r>
              <a:t>[1:10]  -&gt;  "That's the system. Now - how do you evaluate it honestly?"</a:t>
            </a:r>
          </a:p>
          <a:p/>
          <a:p>
            <a:r>
              <a:t>JUMPS — if asked:</a:t>
            </a:r>
          </a:p>
          <a:p>
            <a:r>
              <a:t>  the pinned cascade config → B7, slide 31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0000" lnSpcReduction="20000"/>
          </a:bodyPr>
          <a:lstStyle/>
          <a:p>
            <a:r>
              <a:t>This is the machinery behind the accept/reject/escalate decision, and it is worth being precise</a:t>
            </a:r>
          </a:p>
          <a:p>
            <a:r>
              <a:t>because the whole cost argument rests on it.</a:t>
            </a:r>
          </a:p>
          <a:p/>
          <a:p>
            <a:r>
              <a:t>Every voter returns a set of typed findings - not a string, a set of structured records. So</a:t>
            </a:r>
          </a:p>
          <a:p>
            <a:r>
              <a:t>"do they agree?" is not string comparison. I align the two sets one-to-one and score the</a:t>
            </a:r>
          </a:p>
          <a:p>
            <a:r>
              <a:t>alignment. The scorer that won calibration blends four signals, and the weights are on the slide:</a:t>
            </a:r>
          </a:p>
          <a:p>
            <a:r>
              <a:t>entity overlap dominates at 0.50, claim embedding 0.30, category agreement 0.15, and cited</a:t>
            </a:r>
          </a:p>
          <a:p>
            <a:r>
              <a:t>evidence 0.05. That entity-heavy weighting was selected empirically, not chosen by hand.</a:t>
            </a:r>
          </a:p>
          <a:p/>
          <a:p>
            <a:r>
              <a:t>Then, for each voter, take its mean similarity to all the others. The chunk's agreement score is</a:t>
            </a:r>
          </a:p>
          <a:p>
            <a:r>
              <a:t>the maximum of those means, and the winner is the voter that achieved it - the most</a:t>
            </a:r>
          </a:p>
          <a:p>
            <a:r>
              <a:t>consensus-aligned output. Ties break on grounding quality: how many findings carry a real evidence</a:t>
            </a:r>
          </a:p>
          <a:p>
            <a:r>
              <a:t>chain.</a:t>
            </a:r>
          </a:p>
          <a:p/>
          <a:p>
            <a:r>
              <a:t>The line I would underline is the last one. This measures agreement, not correctness. If all five</a:t>
            </a:r>
          </a:p>
          <a:p>
            <a:r>
              <a:t>voters share a misconception they will agree strongly and the cascade will accept confidently and</a:t>
            </a:r>
          </a:p>
          <a:p>
            <a:r>
              <a:t>cheaply. Nothing in the scorer detects that. That is precisely why grounding runs afterwards</a:t>
            </a:r>
          </a:p>
          <a:p>
            <a:r>
              <a:t>against the source text, and why I kept the grounding filter even though it costs six strict-F1</a:t>
            </a:r>
          </a:p>
          <a:p>
            <a:r>
              <a:t>points.</a:t>
            </a:r>
          </a:p>
          <a:p/>
          <a:p>
            <a:r>
              <a:t>[1:15]</a:t>
            </a:r>
          </a:p>
          <a:p/>
          <a:p>
            <a:r>
              <a:t>JUMPS — if asked:</a:t>
            </a:r>
          </a:p>
          <a:p>
            <a:r>
              <a:t>  scorer internals, degenerate voter counts → E11, slide 51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0000" lnSpcReduction="20000"/>
          </a:bodyPr>
          <a:lstStyle/>
          <a:p>
            <a:r>
              <a:t>Four frozen datasets, and I want the disclosure on the table before any result.</a:t>
            </a:r>
          </a:p>
          <a:p/>
          <a:p>
            <a:r>
              <a:t>The corpus is 977 histopathology papers from PMC Open Access. The rubric set for RQ1 is 27 PDFs I</a:t>
            </a:r>
          </a:p>
          <a:p>
            <a:r>
              <a:t>annotated by hand against a written four-dimension rubric - the only human labels in the thesis,</a:t>
            </a:r>
          </a:p>
          <a:p>
            <a:r>
              <a:t>and I annotated them alone, which I come back to as a limitation.</a:t>
            </a:r>
          </a:p>
          <a:p/>
          <a:p>
            <a:r>
              <a:t>The calibration cluster is fifteen papers selected by an integer linear program maximising</a:t>
            </a:r>
          </a:p>
          <a:p>
            <a:r>
              <a:t>pairwise relatedness, so the cascade is calibrated on papers that genuinely share vocabulary. The</a:t>
            </a:r>
          </a:p>
          <a:p>
            <a:r>
              <a:t>held-out set is fifteen more, sampled randomly and disjoint. And the relation-classifier set is</a:t>
            </a:r>
          </a:p>
          <a:p>
            <a:r>
              <a:t>three hundred synthetic claim pairs, a hundred per class, generated label-first - the label was</a:t>
            </a:r>
          </a:p>
          <a:p>
            <a:r>
              <a:t>chosen and then a pair was written to fit it.</a:t>
            </a:r>
          </a:p>
          <a:p/>
          <a:p>
            <a:r>
              <a:t>The orange column is the honest part. For everything except RQ1, the reference labels come from</a:t>
            </a:r>
          </a:p>
          <a:p>
            <a:r>
              <a:t>Claude Opus 4.7. So when I say strict-F1 of 0.716, that means agreement with Opus. It is not</a:t>
            </a:r>
          </a:p>
          <a:p>
            <a:r>
              <a:t>agreement with a pathologist. That bound cannot be lifted by any experiment in this thesis, and it</a:t>
            </a:r>
          </a:p>
          <a:p>
            <a:r>
              <a:t>is the first thing I would fix with more time.</a:t>
            </a:r>
          </a:p>
          <a:p/>
          <a:p>
            <a:r>
              <a:t>Note also: 2,223 is the count of SILVER findings. The 2,294 you will see on the next slide is the</a:t>
            </a:r>
          </a:p>
          <a:p>
            <a:r>
              <a:t>count of PIPELINE findings. Different quantities.</a:t>
            </a:r>
          </a:p>
          <a:p/>
          <a:p>
            <a:r>
              <a:t>[1:10]  -&gt;  "Starting with the one place I do have human labels - RQ1."</a:t>
            </a:r>
          </a:p>
          <a:p/>
          <a:p>
            <a:r>
              <a:t>JUMPS — if asked:</a:t>
            </a:r>
          </a:p>
          <a:p>
            <a:r>
              <a:t>  why these 15 papers → B3, slide 27</a:t>
            </a:r>
          </a:p>
          <a:p>
            <a:r>
              <a:t>  how a finding is matched to silver → B6, slide 30</a:t>
            </a:r>
          </a:p>
          <a:p/>
          <a:p>
            <a:r>
              <a:t>Chain: this slide → B6 → B3 if they push on whether silver is trustworthy.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55000" lnSpcReduction="20000"/>
          </a:bodyPr>
          <a:lstStyle/>
          <a:p>
            <a:r>
              <a:t>This is the only slide backed by human labels, and the metric is deliberately harsh. Strict-F1</a:t>
            </a:r>
          </a:p>
          <a:p>
            <a:r>
              <a:t>counts a table as a true positive only if it scores perfectly on EVERY applicable dimension - crop</a:t>
            </a:r>
          </a:p>
          <a:p>
            <a:r>
              <a:t>geometry, caption, footnote, and masking. A near-miss earns zero. No partial credit.</a:t>
            </a:r>
          </a:p>
          <a:p/>
          <a:p>
            <a:r>
              <a:t>Tables go from 0.366 to 0.838. Figures from 0.447 to 0.840. Roughly double, on both.</a:t>
            </a:r>
          </a:p>
          <a:p/>
          <a:p>
            <a:r>
              <a:t>But the attribution matters more than the headline. Adding the second table detector on its own</a:t>
            </a:r>
          </a:p>
          <a:p>
            <a:r>
              <a:t>moves strict-F1 from 0.400 to 0.420 - almost nothing. Adding footnote expansion on its own gets</a:t>
            </a:r>
          </a:p>
          <a:p>
            <a:r>
              <a:t>you to 0.800. The two together give 0.838. So the dominant lever is FOOTNOTES: footnote precision</a:t>
            </a:r>
          </a:p>
          <a:p>
            <a:r>
              <a:t>goes from 43.8 to 91.4 percent. The hybrid detector is not what produced the headline - it</a:t>
            </a:r>
          </a:p>
          <a:p>
            <a:r>
              <a:t>recovers tables missed entirely, like the split table you just saw, which is a smaller population</a:t>
            </a:r>
          </a:p>
          <a:p>
            <a:r>
              <a:t>but the one that matters for recall.</a:t>
            </a:r>
          </a:p>
          <a:p/>
          <a:p>
            <a:r>
              <a:t>For figures the gain is post-processing rather than detection: the decorative-icon filter cuts</a:t>
            </a:r>
          </a:p>
          <a:p>
            <a:r>
              <a:t>false positives from 73 to 14, and my caption matcher takes correct captions from 61 to 90 percent.</a:t>
            </a:r>
          </a:p>
          <a:p>
            <a:r>
              <a:t>Those two mechanisms account for the whole 139 -&gt; 76 reduction. The thesis names a third,</a:t>
            </a:r>
          </a:p>
          <a:p>
            <a:r>
              <a:t>sub-figure merging; after submission I verified it never runs. The sub-figure audit slide has the evidence.</a:t>
            </a:r>
          </a:p>
          <a:p/>
          <a:p>
            <a:r>
              <a:t>One honest cost on the bottom line: expanding table crops downward slightly hurts masking -</a:t>
            </a:r>
          </a:p>
          <a:p>
            <a:r>
              <a:t>mask-F1 drops from 94.3 to 91.9 - because a larger crop sometimes covers text that should have</a:t>
            </a:r>
          </a:p>
          <a:p>
            <a:r>
              <a:t>stayed. I took that trade knowingly.</a:t>
            </a:r>
          </a:p>
          <a:p/>
          <a:p>
            <a:r>
              <a:t>[1:10]  -&gt;  "So the document layer works. What does the knowledge layer produce on top of it?"</a:t>
            </a:r>
          </a:p>
          <a:p/>
          <a:p>
            <a:r>
              <a:t>JUMPS — if asked:</a:t>
            </a:r>
          </a:p>
          <a:p>
            <a:r>
              <a:t>  the rubric → B4, slide 28</a:t>
            </a:r>
          </a:p>
          <a:p>
            <a:r>
              <a:t>  the full sweep → B5, slide 29</a:t>
            </a:r>
          </a:p>
          <a:p>
            <a:r>
              <a:t>  detector false positives → E8, slide 48</a:t>
            </a:r>
          </a:p>
          <a:p>
            <a:r>
              <a:t>  what the baseline missed → E9, slide 49</a:t>
            </a:r>
          </a:p>
          <a:p>
            <a:r>
              <a:t>  the figure-gain correction — volunteer this → the audit slide, slide 24</a:t>
            </a:r>
          </a:p>
          <a:p/>
          <a:p>
            <a:r>
              <a:t>Chain: this slide → B4 → B5 → E8/E9 for depth on document extraction.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This is the mechanism behind the RQ1 headline, and it is almost embarrassingly simple: extend the</a:t>
            </a:r>
          </a:p>
          <a:p>
            <a:r>
              <a:rPr dirty="0"/>
              <a:t>table crop downward by twenty percent and re-check what falls inside.</a:t>
            </a:r>
          </a:p>
          <a:p>
            <a:endParaRPr dirty="0"/>
          </a:p>
          <a:p>
            <a:r>
              <a:rPr dirty="0"/>
              <a:t>The green band is what the pipeline added. Everything in it is the footnote block - the</a:t>
            </a:r>
          </a:p>
          <a:p>
            <a:r>
              <a:rPr dirty="0"/>
              <a:t>significance note, the abbreviation key, the two dagger footnotes. </a:t>
            </a:r>
            <a:r>
              <a:rPr dirty="0" err="1"/>
              <a:t>Docling's</a:t>
            </a:r>
            <a:r>
              <a:rPr dirty="0"/>
              <a:t> crop stops at the</a:t>
            </a:r>
          </a:p>
          <a:p>
            <a:r>
              <a:rPr dirty="0"/>
              <a:t>last data row, which is a perfectly reasonable definition of "the table" and completely wrong for</a:t>
            </a:r>
          </a:p>
          <a:p>
            <a:r>
              <a:rPr dirty="0"/>
              <a:t>downstream use: those footnotes carry the abbreviation expansions and the significance markers</a:t>
            </a:r>
          </a:p>
          <a:p>
            <a:r>
              <a:rPr dirty="0"/>
              <a:t>that make the numbers interpretable.</a:t>
            </a:r>
          </a:p>
          <a:p>
            <a:endParaRPr dirty="0"/>
          </a:p>
          <a:p>
            <a:r>
              <a:rPr dirty="0"/>
              <a:t>Footnote precision goes from 43.8 to 91.4 percent. On its own this one change takes table</a:t>
            </a:r>
          </a:p>
          <a:p>
            <a:r>
              <a:rPr dirty="0"/>
              <a:t>strict-F1 from 0.400 to 0.800 - it is worth more than the second detector by a wide margin.</a:t>
            </a:r>
          </a:p>
          <a:p>
            <a:endParaRPr dirty="0"/>
          </a:p>
          <a:p>
            <a:r>
              <a:rPr dirty="0"/>
              <a:t>And the honest cost is on the right in orange: a bigger crop sometimes swallows body text that</a:t>
            </a:r>
          </a:p>
          <a:p>
            <a:r>
              <a:rPr dirty="0"/>
              <a:t>should have stayed in the running text, so mask-F1 drops about two and a half points. I took that</a:t>
            </a:r>
          </a:p>
          <a:p>
            <a:r>
              <a:rPr dirty="0"/>
              <a:t>trade knowingly.</a:t>
            </a:r>
          </a:p>
          <a:p>
            <a:endParaRPr dirty="0"/>
          </a:p>
          <a:p>
            <a:r>
              <a:rPr dirty="0"/>
              <a:t>[1:15]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0000" lnSpcReduction="20000"/>
          </a:bodyPr>
          <a:lstStyle/>
          <a:p>
            <a:r>
              <a:t>Fifteen papers, frozen configuration. MAP produces 2,294 findings - note this is the count of</a:t>
            </a:r>
          </a:p>
          <a:p>
            <a:r>
              <a:t>PIPELINE findings, not the 2,223 silver labels. Grounding removes about sixteen percent.</a:t>
            </a:r>
          </a:p>
          <a:p>
            <a:r>
              <a:t>Everything after that barely moves the count - deduplication removes three percent, grouping two</a:t>
            </a:r>
          </a:p>
          <a:p>
            <a:r>
              <a:t>percent - and we end with 1,747 canonical rules, which are also the 1,747 final rules. About 117</a:t>
            </a:r>
          </a:p>
          <a:p>
            <a:r>
              <a:t>rules per paper.</a:t>
            </a:r>
          </a:p>
          <a:p/>
          <a:p>
            <a:r>
              <a:t>That shallow funnel is itself a finding. It says the findings coming out of MAP are already mostly</a:t>
            </a:r>
          </a:p>
          <a:p>
            <a:r>
              <a:t>atomic and distinct - not redundant restatements of each other. If they had been, consolidation</a:t>
            </a:r>
          </a:p>
          <a:p>
            <a:r>
              <a:t>would have collapsed them.</a:t>
            </a:r>
          </a:p>
          <a:p/>
          <a:p>
            <a:r>
              <a:t>The number on the right is the one I would defend hardest. All 1,747 final rules resolve to at</a:t>
            </a:r>
          </a:p>
          <a:p>
            <a:r>
              <a:t>least one source paragraph in their own paper. Not 99 percent - all of them. And that is not luck;</a:t>
            </a:r>
          </a:p>
          <a:p>
            <a:r>
              <a:t>it is structural. A rule cannot exist in the data model without its back-pointer chain. Figures and</a:t>
            </a:r>
          </a:p>
          <a:p>
            <a:r>
              <a:t>tables likewise carry page and bounding box a hundred percent of the time.</a:t>
            </a:r>
          </a:p>
          <a:p/>
          <a:p>
            <a:r>
              <a:t>Two honest gaps in grey. Only 86 percent of figures have a caption attached - rotated figures and</a:t>
            </a:r>
          </a:p>
          <a:p>
            <a:r>
              <a:t>side captions defeat the geometric matcher. And cross-reference linking, connecting "as shown in</a:t>
            </a:r>
          </a:p>
          <a:p>
            <a:r>
              <a:t>Figure 3" to the actual figure, resolves only around half the time. That one is not used</a:t>
            </a:r>
          </a:p>
          <a:p>
            <a:r>
              <a:t>downstream, so it does not affect the rules - but it is not solved.</a:t>
            </a:r>
          </a:p>
          <a:p/>
          <a:p>
            <a:r>
              <a:t>[1:00]  -&gt;  "Those rules came out of the cascade. Was the cascade worth it? First, how it's tuned."</a:t>
            </a:r>
          </a:p>
          <a:p/>
          <a:p>
            <a:r>
              <a:t>JUMPS — if asked:</a:t>
            </a:r>
          </a:p>
          <a:p>
            <a:r>
              <a:t>  provenance chain and offline replay → B14, slide 38</a:t>
            </a:r>
          </a:p>
          <a:p>
            <a:r>
              <a:t>  the corpus graph, contradictions → E5, slide 45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55000" lnSpcReduction="20000"/>
          </a:bodyPr>
          <a:lstStyle/>
          <a:p>
            <a:r>
              <a:t>Abstractions are easy to nod along to, so here is one actual rule, taken verbatim from the frozen</a:t>
            </a:r>
          </a:p>
          <a:p>
            <a:r>
              <a:t>output.</a:t>
            </a:r>
          </a:p>
          <a:p>
            <a:endParaRPr/>
          </a:p>
          <a:p>
            <a:r>
              <a:t>The subject is PHH3, a mitosis marker. The outcome is survival. The relation type is prognostic,</a:t>
            </a:r>
          </a:p>
          <a:p>
            <a:r>
              <a:t>the direction negative, the category prognosis. The predicate is the model's own compressed</a:t>
            </a:r>
          </a:p>
          <a:p>
            <a:r>
              <a:t>statement: PHH3 is an independent predictor of survival in a Cox regression model.</a:t>
            </a:r>
          </a:p>
          <a:p>
            <a:endParaRPr/>
          </a:p>
          <a:p>
            <a:r>
              <a:t>The grounding score is 0.9997 - that is the NLI model checking the claim against the paragraph it</a:t>
            </a:r>
          </a:p>
          <a:p>
            <a:r>
              <a:t>cites, and it is about as confident as it gets.</a:t>
            </a:r>
          </a:p>
          <a:p>
            <a:endParaRPr/>
          </a:p>
          <a:p>
            <a:r>
              <a:t>Two fields I want to draw out. First, the ID chain. member_normal_ids points at the two normalized</a:t>
            </a:r>
          </a:p>
          <a:p>
            <a:r>
              <a:t>findings this rule was built from; those point back at MAP findings, which point at text elements,</a:t>
            </a:r>
          </a:p>
          <a:p>
            <a:r>
              <a:t>which carry page and bounding box. That is the provenance chain, and it is data, not documentation</a:t>
            </a:r>
          </a:p>
          <a:p>
            <a:r>
              <a:t>- you can follow it in the database.</a:t>
            </a:r>
          </a:p>
          <a:p>
            <a:endParaRPr/>
          </a:p>
          <a:p>
            <a:r>
              <a:t>Second, is_conflicted is True. That means the group this rule came from contained more than one</a:t>
            </a:r>
          </a:p>
          <a:p>
            <a:r>
              <a:t>polarity - somewhere in the source there is a statement pointing the other way. The system does</a:t>
            </a:r>
          </a:p>
          <a:p>
            <a:r>
              <a:t>not silently pick a winner and hide that; it flags the group and keeps both directions, because</a:t>
            </a:r>
          </a:p>
          <a:p>
            <a:r>
              <a:t>the point is to surface candidates for a human, not to adjudicate.</a:t>
            </a:r>
          </a:p>
          <a:p>
            <a:endParaRPr/>
          </a:p>
          <a:p>
            <a:r>
              <a:t>And the final score of 0.62 is a ranking signal. It is not a probability, and the thesis says so.</a:t>
            </a:r>
          </a:p>
          <a:p>
            <a:endParaRPr/>
          </a:p>
          <a:p>
            <a:r>
              <a:t>[1:15]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7500" lnSpcReduction="20000"/>
          </a:bodyPr>
          <a:lstStyle/>
          <a:p>
            <a:r>
              <a:t>Calibration, on the fifteen related papers, 474 chunks.</a:t>
            </a:r>
          </a:p>
          <a:p/>
          <a:p>
            <a:r>
              <a:t>The blue line is quality against the agreement threshold theta. It rises and then flattens - going</a:t>
            </a:r>
          </a:p>
          <a:p>
            <a:r>
              <a:t>from 0.7 to 0.8 buys about five points of strict-F1, but 0.8 to 0.9 buys 0.0085. Less than one</a:t>
            </a:r>
          </a:p>
          <a:p>
            <a:r>
              <a:t>point.</a:t>
            </a:r>
          </a:p>
          <a:p/>
          <a:p>
            <a:r>
              <a:t>The orange line is why this slide exists. Escalation rate climbs with theta, and at the operating</a:t>
            </a:r>
          </a:p>
          <a:p>
            <a:r>
              <a:t>point I pinned - theta of 0.9 - 95.6 percent of chunks escalate. Almost every chunk ends up at</a:t>
            </a:r>
          </a:p>
          <a:p>
            <a:r>
              <a:t>Claude Sonnet anyway.</a:t>
            </a:r>
          </a:p>
          <a:p/>
          <a:p>
            <a:r>
              <a:t>I want to state the implication plainly rather than let you find it: at that setting the cascade is</a:t>
            </a:r>
          </a:p>
          <a:p>
            <a:r>
              <a:t>barely a cascade. It is a strong model with an expensive pre-filter attached. The cheap voters are</a:t>
            </a:r>
          </a:p>
          <a:p>
            <a:r>
              <a:t>still paid for on every chunk, and they resolve only about one chunk in twenty on their own. That</a:t>
            </a:r>
          </a:p>
          <a:p>
            <a:r>
              <a:t>is not a tuning bug - it is what agreement looks like on this task, where the schema is rich and</a:t>
            </a:r>
          </a:p>
          <a:p>
            <a:r>
              <a:t>the voters genuinely disagree about direction and category.</a:t>
            </a:r>
          </a:p>
          <a:p/>
          <a:p>
            <a:r>
              <a:t>So the obvious question is: should you just call the strong model directly?</a:t>
            </a:r>
          </a:p>
          <a:p/>
          <a:p>
            <a:r>
              <a:t>[1:00]  -&gt;  "That question is RQ3, and it's the thesis's central negative result."</a:t>
            </a:r>
          </a:p>
          <a:p/>
          <a:p>
            <a:r>
              <a:t>JUMPS — if asked:</a:t>
            </a:r>
          </a:p>
          <a:p>
            <a:r>
              <a:t>  θ sweep and the gate ablation → B8, slide 32</a:t>
            </a:r>
          </a:p>
          <a:p>
            <a:r>
              <a:t>  how findings are matched → B6, slide 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0000" lnSpcReduction="20000"/>
          </a:bodyPr>
          <a:lstStyle/>
          <a:p>
            <a:r>
              <a:t>A reasonable question is whether the shipped configuration was tuned or just picked. This is the</a:t>
            </a:r>
          </a:p>
          <a:p>
            <a:r>
              <a:t>audit trail.</a:t>
            </a:r>
          </a:p>
          <a:p/>
          <a:p>
            <a:r>
              <a:t>Six stages, in this order, each fixing one knob and handing the rest forward. E05 screens the</a:t>
            </a:r>
          </a:p>
          <a:p>
            <a:r>
              <a:t>structural choices - which embedder, which scorer, which alignment strategy - twelve combinations,</a:t>
            </a:r>
          </a:p>
          <a:p>
            <a:r>
              <a:t>and the structured hybrid scorer beats plain embedding similarity on every embedder, which is the</a:t>
            </a:r>
          </a:p>
          <a:p>
            <a:r>
              <a:t>cleanest result in the whole calibration. E06 refines the blend weights and lands on the</a:t>
            </a:r>
          </a:p>
          <a:p>
            <a:r>
              <a:t>entity-heavy mix. E06b and E06c ask whether any voter is carrying its weight, and dropping Claude</a:t>
            </a:r>
          </a:p>
          <a:p>
            <a:r>
              <a:t>Haiku turns out to be quality-neutral at eighteen percent lower cost, which is how the six-voter</a:t>
            </a:r>
          </a:p>
          <a:p>
            <a:r>
              <a:t>pool became five. E07 sweeps the thresholds. E08 ablates the gates. E08b produces the final curve.</a:t>
            </a:r>
          </a:p>
          <a:p/>
          <a:p>
            <a:r>
              <a:t>Two things I would defend here. First, the order is deliberate: fixing one knob at a time makes</a:t>
            </a:r>
          </a:p>
          <a:p>
            <a:r>
              <a:t>the search linear instead of combinatorial, at the cost of assuming the knobs are roughly</a:t>
            </a:r>
          </a:p>
          <a:p>
            <a:r>
              <a:t>separable. That assumption is not tested, and I would list it as a limitation.</a:t>
            </a:r>
          </a:p>
          <a:p/>
          <a:p>
            <a:r>
              <a:t>Second, and this is the part I am proudest of: all six replay from cached voter outputs. Every</a:t>
            </a:r>
          </a:p>
          <a:p>
            <a:r>
              <a:t>number on this slide can be regenerated on a laptop with no network and no spend, byte-identical.</a:t>
            </a:r>
          </a:p>
          <a:p>
            <a:r>
              <a:t>That is what makes the calibration auditable rather than a story about what I did in June.</a:t>
            </a:r>
          </a:p>
          <a:p/>
          <a:p>
            <a:r>
              <a:t>[1:15]</a:t>
            </a:r>
          </a:p>
          <a:p/>
          <a:p>
            <a:r>
              <a:t>JUMPS — if asked:</a:t>
            </a:r>
          </a:p>
          <a:p>
            <a:r>
              <a:t>  the config of record → B7, slide 31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40000" lnSpcReduction="20000"/>
          </a:bodyPr>
          <a:lstStyle/>
          <a:p>
            <a:r>
              <a:t>This is the result I would lead with if I could only report one, and it is a negative one.</a:t>
            </a:r>
          </a:p>
          <a:p/>
          <a:p>
            <a:r>
              <a:t>The cascade at its best setting reaches 0.7160 at a cost of 23.66 per chunk. A single Claude</a:t>
            </a:r>
          </a:p>
          <a:p>
            <a:r>
              <a:t>Sonnet call reaches 0.7129 at 18.00. The difference is +0.0031, and the ninety-five percent</a:t>
            </a:r>
          </a:p>
          <a:p>
            <a:r>
              <a:t>confidence interval from a paper-level clustered paired bootstrap - ten thousand resamples, papers</a:t>
            </a:r>
          </a:p>
          <a:p>
            <a:r>
              <a:t>as the sampling unit - runs from minus 0.0002 to plus 0.0068. It crosses zero. THIS IS NOT A</a:t>
            </a:r>
          </a:p>
          <a:p>
            <a:r>
              <a:t>STATISTICALLY SIGNIFICANT IMPROVEMENT. And the single model is about twenty-four percent cheaper.</a:t>
            </a:r>
          </a:p>
          <a:p/>
          <a:p>
            <a:r>
              <a:t>So under the silver cost-quality criterion, the cascade is not cost-justified against the strong</a:t>
            </a:r>
          </a:p>
          <a:p>
            <a:r>
              <a:t>single model. I say that in those words because it would be easy to describe 0.7160 versus 0.7129</a:t>
            </a:r>
          </a:p>
          <a:p>
            <a:r>
              <a:t>as "the cascade wins" and technically not be lying.</a:t>
            </a:r>
          </a:p>
          <a:p/>
          <a:p>
            <a:r>
              <a:t>The other half is real too, and the plot shows it. Against every OTHER single model the cascade</a:t>
            </a:r>
          </a:p>
          <a:p>
            <a:r>
              <a:t>wins by between six and twenty-six points, all significant. The next best single model, Haiku,</a:t>
            </a:r>
          </a:p>
          <a:p>
            <a:r>
              <a:t>trails by more than six strict-F1 points. So this is not "the cascade doesn't work" - it is "the</a:t>
            </a:r>
          </a:p>
          <a:p>
            <a:r>
              <a:t>cascade doesn't beat the one model that is already very good and already cheaper".</a:t>
            </a:r>
          </a:p>
          <a:p/>
          <a:p>
            <a:r>
              <a:t>One counter-consideration, stated carefully. The silver labels come from Claude Opus; the Sonnet</a:t>
            </a:r>
          </a:p>
          <a:p>
            <a:r>
              <a:t>baseline is also Anthropic. There is a plausible family-resemblance advantage for Sonnet, and the</a:t>
            </a:r>
          </a:p>
          <a:p>
            <a:r>
              <a:t>cascade's five voters are entirely non-Anthropic. So the measured gap is arguably conservative.</a:t>
            </a:r>
          </a:p>
          <a:p>
            <a:r>
              <a:t>But I did NOT measure that effect - I cannot quantify it, and it does not turn a null result into</a:t>
            </a:r>
          </a:p>
          <a:p>
            <a:r>
              <a:t>a positive one. Removing it needs human labels.</a:t>
            </a:r>
          </a:p>
          <a:p/>
          <a:p>
            <a:r>
              <a:t>If asked about cost units: it is a price-weighted unit from a hand-compiled price book of provider</a:t>
            </a:r>
          </a:p>
          <a:p>
            <a:r>
              <a:t>list prices. The thesis does not state a currency - a genuine gap in the write-up.</a:t>
            </a:r>
          </a:p>
          <a:p/>
          <a:p>
            <a:r>
              <a:t>(OPTIONAL: the knee point, theta = 0.8, is 0.7067 for 21.80 - knee to quality buys one point of</a:t>
            </a:r>
          </a:p>
          <a:p>
            <a:r>
              <a:t>strict-F1 for 8.5 percent more cost, and the knee is itself dominated by single-Sonnet on both</a:t>
            </a:r>
          </a:p>
          <a:p>
            <a:r>
              <a:t>axes.)</a:t>
            </a:r>
          </a:p>
          <a:p/>
          <a:p>
            <a:r>
              <a:t>[1:30]  -&gt;  "RQ4 is a cleaner result: one frozen model doing two jobs."</a:t>
            </a:r>
          </a:p>
          <a:p/>
          <a:p>
            <a:r>
              <a:t>JUMPS — if asked:</a:t>
            </a:r>
          </a:p>
          <a:p>
            <a:r>
              <a:t>  cost model, operating points, baselines → B9, slide 33</a:t>
            </a:r>
          </a:p>
          <a:p>
            <a:r>
              <a:t>  why nothing sits between cheap and expensive → B15, slide 39</a:t>
            </a:r>
          </a:p>
          <a:p>
            <a:r>
              <a:t>  significance testing → B10, slide 34</a:t>
            </a:r>
          </a:p>
          <a:p/>
          <a:p>
            <a:r>
              <a:t>Chain: this slide → B9 → B15 is the likeliest sequence in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47500" lnSpcReduction="20000"/>
          </a:bodyPr>
          <a:lstStyle/>
          <a:p>
            <a:r>
              <a:t>One model, frozen, no fine-tuning: a PubMedBERT cross-encoder fine-tuned on MNLI and MedNLI. It</a:t>
            </a:r>
          </a:p>
          <a:p>
            <a:r>
              <a:t>does two different jobs.</a:t>
            </a:r>
          </a:p>
          <a:p/>
          <a:p>
            <a:r>
              <a:t>Job one is grounding. For each extracted claim I run entailment against the paragraph the claim</a:t>
            </a:r>
          </a:p>
          <a:p>
            <a:r>
              <a:t>cites. The left panel shows the distribution, strongly bimodal - 77.5 percent above 0.9, about 14</a:t>
            </a:r>
          </a:p>
          <a:p>
            <a:r>
              <a:t>percent below 0.3. Very little in the middle, which is reassuring: the model is mostly confident,</a:t>
            </a:r>
          </a:p>
          <a:p>
            <a:r>
              <a:t>in both directions.</a:t>
            </a:r>
          </a:p>
          <a:p/>
          <a:p>
            <a:r>
              <a:t>Now the honest part. Turning the filter OFF gives the best strict-F1 - 0.716. Setting it at 0.5</a:t>
            </a:r>
          </a:p>
          <a:p>
            <a:r>
              <a:t>drops that to 0.652. Six points. And of the 371 findings the filter removes, about 86 percent</a:t>
            </a:r>
          </a:p>
          <a:p>
            <a:r>
              <a:t>actually agreed with the Opus silver labels.</a:t>
            </a:r>
          </a:p>
          <a:p/>
          <a:p>
            <a:r>
              <a:t>I kept the filter anyway, and I want to defend that rather than apologise for it. What the filter</a:t>
            </a:r>
          </a:p>
          <a:p>
            <a:r>
              <a:t>enforces is that a claim is entailed by the text it points at. A finding that agrees with Opus but</a:t>
            </a:r>
          </a:p>
          <a:p>
            <a:r>
              <a:t>is not supported by its own cited paragraph is exactly the failure mode this thesis exists to</a:t>
            </a:r>
          </a:p>
          <a:p>
            <a:r>
              <a:t>prevent. Six points of agreement-with-a-labeller, traded for a property the labeller cannot</a:t>
            </a:r>
          </a:p>
          <a:p>
            <a:r>
              <a:t>measure. The right panel of the figure shows what it buys: recall falls as the threshold rises,</a:t>
            </a:r>
          </a:p>
          <a:p>
            <a:r>
              <a:t>precision stays flat.</a:t>
            </a:r>
          </a:p>
          <a:p/>
          <a:p>
            <a:r>
              <a:t>Job two is relation classification - SUPPORT, CONTRADICT, UNRELATED between two claims. About 92</a:t>
            </a:r>
          </a:p>
          <a:p>
            <a:r>
              <a:t>percent accuracy on three hundred synthetic pairs. But read that with the orange caveat: the set</a:t>
            </a:r>
          </a:p>
          <a:p>
            <a:r>
              <a:t>is class-balanced, synthetic, and generated label-first, which makes it easier than reality. It is</a:t>
            </a:r>
          </a:p>
          <a:p>
            <a:r>
              <a:t>an optimistic ceiling. Relations extracted from the real corpus have no labels at all, so I could</a:t>
            </a:r>
          </a:p>
          <a:p>
            <a:r>
              <a:t>not measure this on production output.</a:t>
            </a:r>
          </a:p>
          <a:p/>
          <a:p>
            <a:r>
              <a:t>[1:05]  -&gt;  "One question left: does any of this survive on papers I didn't calibrate on?"</a:t>
            </a:r>
          </a:p>
          <a:p/>
          <a:p>
            <a:r>
              <a:t>JUMPS — if asked:</a:t>
            </a:r>
          </a:p>
          <a:p>
            <a:r>
              <a:t>  grounding threshold trade-off → B11, slide 35</a:t>
            </a:r>
          </a:p>
          <a:p>
            <a:r>
              <a:t>  relation classification per class → B12, slide 36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0000" lnSpcReduction="20000"/>
          </a:bodyPr>
          <a:lstStyle/>
          <a:p>
            <a:r>
              <a:t>Fifteen new papers, sampled randomly, disjoint from calibration. The configuration was frozen</a:t>
            </a:r>
          </a:p>
          <a:p>
            <a:r>
              <a:t>before I ran this - theta, the voter set, the weights, the thresholds, all fixed.</a:t>
            </a:r>
          </a:p>
          <a:p/>
          <a:p>
            <a:r>
              <a:t>Strict-F1 goes from 0.7160 to 0.7128. A gap of 0.0032, inside the bootstrap noise band. Loose-F1,</a:t>
            </a:r>
          </a:p>
          <a:p>
            <a:r>
              <a:t>precision, recall all track. The funnel keeps its shape, and provenance is again a hundred percent</a:t>
            </a:r>
          </a:p>
          <a:p>
            <a:r>
              <a:t>- 1,273 out of 1,273 rules.</a:t>
            </a:r>
          </a:p>
          <a:p/>
          <a:p>
            <a:r>
              <a:t>One thing to read carefully: the curve on the left is DESCRIPTIVE. I did not tune theta on the</a:t>
            </a:r>
          </a:p>
          <a:p>
            <a:r>
              <a:t>held-out set - that would defeat the purpose. It is shown so you can see the two curves have the</a:t>
            </a:r>
          </a:p>
          <a:p>
            <a:r>
              <a:t>same shape and the same diminishing-returns knee above 0.8.</a:t>
            </a:r>
          </a:p>
          <a:p/>
          <a:p>
            <a:r>
              <a:t>And one number that moved: escalation goes from 95.6 to 99.0 percent. On papers the calibration</a:t>
            </a:r>
          </a:p>
          <a:p>
            <a:r>
              <a:t>never saw, the cheap voters agree even less often. That reinforces the RQ3 conclusion rather than</a:t>
            </a:r>
          </a:p>
          <a:p>
            <a:r>
              <a:t>softening it - the cascade's economics get WORSE on unfamiliar material.</a:t>
            </a:r>
          </a:p>
          <a:p/>
          <a:p>
            <a:r>
              <a:t>Finally, the claim this licenses is narrow, and I bound it myself: this shows the configuration</a:t>
            </a:r>
          </a:p>
          <a:p>
            <a:r>
              <a:t>does not overfit related15. It does NOT show generalization to other biomedical subfields, to</a:t>
            </a:r>
          </a:p>
          <a:p>
            <a:r>
              <a:t>non-PMC papers, or to non-English literature. Those are untested.</a:t>
            </a:r>
          </a:p>
          <a:p/>
          <a:p>
            <a:r>
              <a:t>[0:50]  -&gt;  "Which brings me to what these numbers do not support."</a:t>
            </a:r>
          </a:p>
          <a:p/>
          <a:p>
            <a:r>
              <a:t>JUMPS — if asked:</a:t>
            </a:r>
          </a:p>
          <a:p>
            <a:r>
              <a:t>  the held-out funnel → B13, slide 37</a:t>
            </a:r>
          </a:p>
          <a:p>
            <a:r>
              <a:t>  significance testing → B10, slide 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55000" lnSpcReduction="20000"/>
          </a:bodyPr>
          <a:lstStyle/>
          <a:p>
            <a:r>
              <a:t>I would rather state these than be asked them.</a:t>
            </a:r>
          </a:p>
          <a:p/>
          <a:p>
            <a:r>
              <a:t>The first bounds everything after RQ1. Strict-F1 measures agreement with Claude Opus. If Opus is</a:t>
            </a:r>
          </a:p>
          <a:p>
            <a:r>
              <a:t>systematically wrong about something, my pipeline is rewarded for being wrong the same way, and no</a:t>
            </a:r>
          </a:p>
          <a:p>
            <a:r>
              <a:t>experiment inside this design detects that. It needs expert annotation - the top item in future</a:t>
            </a:r>
          </a:p>
          <a:p>
            <a:r>
              <a:t>work.</a:t>
            </a:r>
          </a:p>
          <a:p/>
          <a:p>
            <a:r>
              <a:t>The second is sharper and aimed at RQ3. My level-three fallback is Sonnet, my silver labeller is</a:t>
            </a:r>
          </a:p>
          <a:p>
            <a:r>
              <a:t>Opus - same provider, same model family. So a Sonnet-heavy system may match the silver partly</a:t>
            </a:r>
          </a:p>
          <a:p>
            <a:r>
              <a:t>through family resemblance. I argued earlier this makes my null result conservative; that is a</a:t>
            </a:r>
          </a:p>
          <a:p>
            <a:r>
              <a:t>REASONED EXPECTATION, not a measurement. I did not quantify it.</a:t>
            </a:r>
          </a:p>
          <a:p/>
          <a:p>
            <a:r>
              <a:t>Third, the one place I have human labels is small: 27 papers, annotated by me alone, no second</a:t>
            </a:r>
          </a:p>
          <a:p>
            <a:r>
              <a:t>annotator and therefore no inter-annotator agreement. Those results show a clear trend -</a:t>
            </a:r>
          </a:p>
          <a:p>
            <a:r>
              <a:t>near-doubling is not a rounding artefact - but the individual percentages should not be read to</a:t>
            </a:r>
          </a:p>
          <a:p>
            <a:r>
              <a:t>the decimal.</a:t>
            </a:r>
          </a:p>
          <a:p/>
          <a:p>
            <a:r>
              <a:t>Fourth, the 92 percent relation accuracy is on synthetic, class-balanced, label-first data. A</a:t>
            </a:r>
          </a:p>
          <a:p>
            <a:r>
              <a:t>ceiling.</a:t>
            </a:r>
          </a:p>
          <a:p/>
          <a:p>
            <a:r>
              <a:t>And the scope line: English, open-access, histopathology. The system emits candidates for a domain</a:t>
            </a:r>
          </a:p>
          <a:p>
            <a:r>
              <a:t>expert to validate. The confidence scores are ranking signals - not clinical probabilities, and</a:t>
            </a:r>
          </a:p>
          <a:p>
            <a:r>
              <a:t>nothing here should be read as a diagnostic claim.</a:t>
            </a:r>
          </a:p>
          <a:p/>
          <a:p>
            <a:r>
              <a:t>[0:55]  -&gt;  "So - five questions. Here are the five answers."</a:t>
            </a:r>
          </a:p>
          <a:p/>
          <a:p>
            <a:r>
              <a:t>JUMPS — if asked:</a:t>
            </a:r>
          </a:p>
          <a:p>
            <a:r>
              <a:t>  novelty vs related work → E6, slide 46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40000" lnSpcReduction="20000"/>
          </a:bodyPr>
          <a:lstStyle/>
          <a:p>
            <a:r>
              <a:t>Five questions, five answers.</a:t>
            </a:r>
          </a:p>
          <a:p/>
          <a:p>
            <a:r>
              <a:t>RQ1 - met. Document extraction roughly doubles strict-F1 on both tables and figures against human</a:t>
            </a:r>
          </a:p>
          <a:p>
            <a:r>
              <a:t>labels.</a:t>
            </a:r>
          </a:p>
          <a:p/>
          <a:p>
            <a:r>
              <a:t>RQ2 - met. 0.7160 strict-F1 at the MAP stage, and provenance is complete: every one of 1,747 rules</a:t>
            </a:r>
          </a:p>
          <a:p>
            <a:r>
              <a:t>resolves to a source paragraph. Structural, not incidental.</a:t>
            </a:r>
          </a:p>
          <a:p/>
          <a:p>
            <a:r>
              <a:t>RQ3 - negative, and I will not soften it. The cascade reaches the same quality as a single Sonnet</a:t>
            </a:r>
          </a:p>
          <a:p>
            <a:r>
              <a:t>call, the difference is not statistically significant, and Sonnet is twenty-four percent cheaper.</a:t>
            </a:r>
          </a:p>
          <a:p>
            <a:r>
              <a:t>Not cost-justified. What survives is that the cascade beats every cheaper model decisively, and</a:t>
            </a:r>
          </a:p>
          <a:p>
            <a:r>
              <a:t>that its five governing voters are entirely non-Anthropic - so the defensible value is PROVIDER</a:t>
            </a:r>
          </a:p>
          <a:p>
            <a:r>
              <a:t>INDEPENDENCE, not accuracy. If a provider changes prices, deprecates a model, or you cannot send</a:t>
            </a:r>
          </a:p>
          <a:p>
            <a:r>
              <a:t>data to one vendor, that property is worth something. It is just not the property I set out to</a:t>
            </a:r>
          </a:p>
          <a:p>
            <a:r>
              <a:t>demonstrate.</a:t>
            </a:r>
          </a:p>
          <a:p/>
          <a:p>
            <a:r>
              <a:t>RQ4 - the NLI backbone works in both roles, with the grounding trade made deliberately.</a:t>
            </a:r>
          </a:p>
          <a:p/>
          <a:p>
            <a:r>
              <a:t>RQ5 - no meaningful overfitting.</a:t>
            </a:r>
          </a:p>
          <a:p/>
          <a:p>
            <a:r>
              <a:t>And the closing line is what I would actually defend as the contribution. Not this operating point</a:t>
            </a:r>
          </a:p>
          <a:p>
            <a:r>
              <a:t>- theta of 0.9 with those five voters is specific to this corpus and to today's prices, and it</a:t>
            </a:r>
          </a:p>
          <a:p>
            <a:r>
              <a:t>will be stale within a year. What lasts is the framework: provenance guaranteed by the data model</a:t>
            </a:r>
          </a:p>
          <a:p>
            <a:r>
              <a:t>rather than by discipline, cost and quality exposed as explicit knobs you recalibrate for a new</a:t>
            </a:r>
          </a:p>
          <a:p>
            <a:r>
              <a:t>corpus or budget, and an offline replay protocol that reproduces every number in the thesis from</a:t>
            </a:r>
          </a:p>
          <a:p>
            <a:r>
              <a:t>cached artifacts without a single new API call.</a:t>
            </a:r>
          </a:p>
          <a:p/>
          <a:p>
            <a:r>
              <a:t>Thank you - I'm happy to take questions.</a:t>
            </a:r>
          </a:p>
          <a:p/>
          <a:p>
            <a:r>
              <a:t>[1:15]  -&gt;  END OF MAIN TALK. Stay on this slide during questions.</a:t>
            </a:r>
          </a:p>
          <a:p/>
          <a:p>
            <a:r>
              <a:t>JUMPS — if asked:</a:t>
            </a:r>
          </a:p>
          <a:p>
            <a:r>
              <a:t>  positioning against related work → E6, slide 46</a:t>
            </a:r>
          </a:p>
          <a:p>
            <a:r>
              <a:t>  the correction, if not already raised → the audit slide, slide 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 speech. Land on the conclusion slide during questions and jump here by slide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55000" lnSpcReduction="20000"/>
          </a:bodyPr>
          <a:lstStyle/>
          <a:p>
            <a:r>
              <a:rPr dirty="0"/>
              <a:t>I want to volunteer this rather than wait to be asked.</a:t>
            </a:r>
          </a:p>
          <a:p>
            <a:endParaRPr dirty="0"/>
          </a:p>
          <a:p>
            <a:r>
              <a:rPr dirty="0"/>
              <a:t>After submission I went back through the figure path to build worked examples, and found that one</a:t>
            </a:r>
          </a:p>
          <a:p>
            <a:r>
              <a:rPr dirty="0"/>
              <a:t>of the three mechanisms the thesis credits for the figure improvement never actually runs.</a:t>
            </a:r>
          </a:p>
          <a:p>
            <a:endParaRPr dirty="0"/>
          </a:p>
          <a:p>
            <a:r>
              <a:rPr dirty="0"/>
              <a:t>The logic is this. The cropper walks picture elements, finds each one's nearest caption, and</a:t>
            </a:r>
          </a:p>
          <a:p>
            <a:r>
              <a:rPr dirty="0"/>
              <a:t>claims it. Sub-figure merging is supposed to fire when a second panel finds a caption that has</a:t>
            </a:r>
          </a:p>
          <a:p>
            <a:r>
              <a:rPr dirty="0"/>
              <a:t>already been claimed - then it merges into the owner. But when a caption is claimed it is removed</a:t>
            </a:r>
          </a:p>
          <a:p>
            <a:r>
              <a:rPr dirty="0"/>
              <a:t>from the candidate pool, so the next panel can never find it. The condition that triggers the</a:t>
            </a:r>
          </a:p>
          <a:p>
            <a:r>
              <a:rPr dirty="0"/>
              <a:t>merge is unreachable.</a:t>
            </a:r>
          </a:p>
          <a:p>
            <a:endParaRPr dirty="0"/>
          </a:p>
          <a:p>
            <a:r>
              <a:rPr dirty="0"/>
              <a:t>Three independent checks, on the slide. I instrumented the actual cropper class and ran all 27</a:t>
            </a:r>
          </a:p>
          <a:p>
            <a:r>
              <a:rPr dirty="0"/>
              <a:t>rubric PDFs: 76 figures, and the union function that performs the merge is called zero times. I</a:t>
            </a:r>
          </a:p>
          <a:p>
            <a:r>
              <a:rPr dirty="0"/>
              <a:t>replayed the loop over all 977 papers: the branch is entered zero times. And I built the textbook</a:t>
            </a:r>
          </a:p>
          <a:p>
            <a:r>
              <a:rPr dirty="0"/>
              <a:t>case by hand - two panels ten points apart sharing one caption - and it emits two crops, not one.</a:t>
            </a:r>
          </a:p>
          <a:p>
            <a:endParaRPr dirty="0"/>
          </a:p>
          <a:p>
            <a:r>
              <a:rPr dirty="0"/>
              <a:t>Now the important part, and I would say this plainly: no reported number changes. Code that never</a:t>
            </a:r>
          </a:p>
          <a:p>
            <a:r>
              <a:rPr dirty="0"/>
              <a:t>executed cannot have affected a measurement. The figure result of 0.447 to 0.840 stands exactly as</a:t>
            </a:r>
          </a:p>
          <a:p>
            <a:r>
              <a:rPr dirty="0"/>
              <a:t>published; the attribution in one sentence over-counts by one mechanism. The gain is icon</a:t>
            </a:r>
          </a:p>
          <a:p>
            <a:r>
              <a:rPr dirty="0"/>
              <a:t>filtering and caption matching.</a:t>
            </a:r>
          </a:p>
          <a:p>
            <a:endParaRPr dirty="0"/>
          </a:p>
          <a:p>
            <a:r>
              <a:rPr dirty="0"/>
              <a:t>I would rather have found this than not, and it is the kind of thing the provenance and</a:t>
            </a:r>
          </a:p>
          <a:p>
            <a:r>
              <a:rPr dirty="0"/>
              <a:t>offline-replay design is supposed to make findable.</a:t>
            </a:r>
          </a:p>
          <a:p>
            <a:endParaRPr dirty="0"/>
          </a:p>
          <a:p>
            <a:r>
              <a:rPr dirty="0"/>
              <a:t>[1:15]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when asked to restate a research question exactly. The answers column is from the thesis's own summary-of-findings section, not from Chapter 6, which is narrative.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cap exists to bound Docling runtime and memory. It drops under a tenth of papers while removing nearly half the page volume.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Expect: 'isn't that cherry-picking?' Answer: yes, deliberately, and disclosed. The cluster maximises relatedness so cross-paper relations are possible at all. The held-out set is random precisely to test whether that choice inflated the result. It did not inflate strict-F1 (0.7128 vs 0.7160) but it did inflate relation counts (25 vs 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harshness is the point: it is the metric under which a 'mostly right' table crop still fails, which is the standard a downstream auditor would apply.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ablation the committee will want. Read down the strict-F1 column: detection alone 40.0 → 42.0; footnotes alone 80.0; both 83.8.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strict/loose gap is where the schema bites: the pipeline usually finds the right claim (loose 0.886) but disagrees with the </a:t>
            </a:r>
            <a:r>
              <a:rPr dirty="0" err="1"/>
              <a:t>labeller</a:t>
            </a:r>
            <a:r>
              <a:rPr dirty="0"/>
              <a:t> about direction or category often enough to drop to 0.716.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If asked why Haiku was dropped: E06b/E06c showed dropping it was strict-F1-neutral (0.7147 five-voter vs 0.7131 six-voter, inside the noise band) at 18% lower cost per chunk.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if asked whether the gates are doing anything. Answer honestly: measurably almost nothing on strict-F1, and that was never their purpose. The polarity gate is a guard against silently emitting two contradictory polarities for the same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7500" lnSpcReduction="20000"/>
          </a:bodyPr>
          <a:lstStyle/>
          <a:p>
            <a:r>
              <a:t>Concede the missing currency unit immediately if asked; do not improvise one. The numbers are internally consistent and comparable across systems, which is what the frontier needs, but the axis should have been labelled.</a:t>
            </a:r>
          </a:p>
          <a:p>
            <a:endParaRPr/>
          </a:p>
          <a:p>
            <a:r>
              <a:t>Four operating points, ascending cost. Quality is the shipped configuration - it is simply the</a:t>
            </a:r>
          </a:p>
          <a:p>
            <a:r>
              <a:t>maximum, no coefficient and no threshold involved. Economy and balanced are the same method, the</a:t>
            </a:r>
          </a:p>
          <a:p>
            <a:r>
              <a:t>epsilon-constraint: cheapest configuration clearing a quality floor, at 0.50 and 0.60 respectively.</a:t>
            </a:r>
          </a:p>
          <a:p>
            <a:r>
              <a:t>The knee is the odd one out - it maximises strict-F1 minus lambda times cost.</a:t>
            </a:r>
          </a:p>
          <a:p>
            <a:endParaRPr/>
          </a:p>
          <a:p>
            <a:r>
              <a:t>Read the bold line rather than the table if you are short of time: a third more spend buys seven</a:t>
            </a:r>
          </a:p>
          <a:p>
            <a:r>
              <a:t>percent, and a third again buys one. That is the diminishing-returns shape, and it is the same</a:t>
            </a:r>
          </a:p>
          <a:p>
            <a:r>
              <a:t>point the cost-quality argument rests on.</a:t>
            </a:r>
          </a:p>
          <a:p>
            <a:endParaRPr/>
          </a:p>
          <a:p>
            <a:r>
              <a:t>If asked why nothing sits between economy at 3.38 and the knee at 21.80 - which is the sharpest</a:t>
            </a:r>
          </a:p>
          <a:p>
            <a:r>
              <a:t>question this slide invites - jump to B15. Short answer: the knee is chosen by a weighted sum, and</a:t>
            </a:r>
          </a:p>
          <a:p>
            <a:r>
              <a:t>a weighted sum can only ever return a vertex of the convex hull. Seven configurations here are</a:t>
            </a:r>
          </a:p>
          <a:p>
            <a:r>
              <a:t>Pareto-optimal but only three are on that hull, so theta 0.4 through 0.7 are unreachable by any</a:t>
            </a:r>
          </a:p>
          <a:p>
            <a:r>
              <a:t>lambda at all. Balanced exists because the epsilon-constraint has no such blind spot. Nothing about</a:t>
            </a:r>
          </a:p>
          <a:p>
            <a:r>
              <a:t>the shipped configuration changes - quality depends on neither lambda nor a floor.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If pushed on 'the CI is only just crossing zero': agreed, it is marginal — the upper bound is positive and the lower bound is barely negative. But a marginal interval is not evidence of an effect, and I will not present it as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0.5 was pinned as a design decision for source faithfulness, not chosen to </a:t>
            </a:r>
            <a:r>
              <a:rPr dirty="0" err="1"/>
              <a:t>maximise</a:t>
            </a:r>
            <a:r>
              <a:rPr dirty="0"/>
              <a:t> F1 — the F1-maximising choice is to switch the filter off entirely.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honest reading: predicate_only actually scores marginally higher, and the mode the pipeline ships cannot demonstrate its own mechanism on this dataset. Both facts are in the 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clearest evidence that the ILP cluster choice mattered for relations but not for strict-F1. Do not oversell the knowledge-graph angle on randomly sampled papers.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reproducibility answer. The command is `</a:t>
            </a:r>
            <a:r>
              <a:rPr dirty="0" err="1"/>
              <a:t>nlp-histo</a:t>
            </a:r>
            <a:r>
              <a:rPr dirty="0"/>
              <a:t> replay results` and it is free — it reads cached artifacts, it does not call any provider.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40000" lnSpcReduction="20000"/>
          </a:bodyPr>
          <a:lstStyle/>
          <a:p>
            <a:r>
              <a:t>This is the slide for "how did you choose the operating points", and the honest answer has a</a:t>
            </a:r>
          </a:p>
          <a:p>
            <a:r>
              <a:t>methodological wrinkle worth owning.</a:t>
            </a:r>
          </a:p>
          <a:p>
            <a:endParaRPr/>
          </a:p>
          <a:p>
            <a:r>
              <a:t>Quality is just argmax strict-F1 - no coefficient, no threshold. That is the shipped configuration.</a:t>
            </a:r>
          </a:p>
          <a:p>
            <a:r>
              <a:t>Economy and the knee are reporting points that summarise the rest of the curve.</a:t>
            </a:r>
          </a:p>
          <a:p>
            <a:endParaRPr/>
          </a:p>
          <a:p>
            <a:r>
              <a:t>The knee uses weighted-sum scalarization: maximise strict-F1 minus lambda times cost, with lambda</a:t>
            </a:r>
          </a:p>
          <a:p>
            <a:r>
              <a:t>at 0.20. I swept lambda afterwards. The chosen cell only holds for lambda between roughly 0.12 and</a:t>
            </a:r>
          </a:p>
          <a:p>
            <a:r>
              <a:t>0.21, and above 0.21 the knee stops being a knee - it collapses straight onto the economy point.</a:t>
            </a:r>
          </a:p>
          <a:p>
            <a:endParaRPr/>
          </a:p>
          <a:p>
            <a:r>
              <a:t>But the more interesting finding is that re-tuning lambda would not have helped. A weighted sum can</a:t>
            </a:r>
          </a:p>
          <a:p>
            <a:r>
              <a:t>only ever return a vertex of the upper convex hull of the cost-quality points. Any Pareto-optimal</a:t>
            </a:r>
          </a:p>
          <a:p>
            <a:r>
              <a:t>point sitting in a concave stretch loses to a blend of its neighbours for every lambda. On this</a:t>
            </a:r>
          </a:p>
          <a:p>
            <a:r>
              <a:t>curve seven cells are Pareto-optimal and only three are on the hull, so theta 0.4 through 0.7 are</a:t>
            </a:r>
          </a:p>
          <a:p>
            <a:r>
              <a:t>unreachable by any lambda whatsoever. That is the standard limitation of the method, stated in</a:t>
            </a:r>
          </a:p>
          <a:p>
            <a:r>
              <a:t>Boyd, which is the source I cite for it.</a:t>
            </a:r>
          </a:p>
          <a:p>
            <a:endParaRPr/>
          </a:p>
          <a:p>
            <a:r>
              <a:t>The practical consequence: the knee sits at ninety-two percent of the quality cost. It is not</a:t>
            </a:r>
          </a:p>
          <a:p>
            <a:r>
              <a:t>really a middle ground. Everything between 3.38 and 21.80 was unrepresented.</a:t>
            </a:r>
          </a:p>
          <a:p>
            <a:endParaRPr/>
          </a:p>
          <a:p>
            <a:r>
              <a:t>The fix is not a better lambda, it is a different selection rule. Epsilon-constraint - cheapest</a:t>
            </a:r>
          </a:p>
          <a:p>
            <a:r>
              <a:t>configuration clearing a quality floor - does not blend the objectives, so it reads the concave</a:t>
            </a:r>
          </a:p>
          <a:p>
            <a:r>
              <a:t>region directly. I was already using it for the economy point at a 0.50 floor; balanced is the</a:t>
            </a:r>
          </a:p>
          <a:p>
            <a:r>
              <a:t>same method at 0.60, and it selects theta 0.7: thirty-one percent cheaper than quality for about</a:t>
            </a:r>
          </a:p>
          <a:p>
            <a:r>
              <a:t>six strict-F1 points.</a:t>
            </a:r>
          </a:p>
          <a:p>
            <a:endParaRPr/>
          </a:p>
          <a:p>
            <a:r>
              <a:t>If asked whether this changes any result: no. The shipped configuration is the quality point, which</a:t>
            </a:r>
          </a:p>
          <a:p>
            <a:r>
              <a:t>depends on neither lambda nor a floor. No published number moves.</a:t>
            </a:r>
          </a:p>
          <a:p>
            <a:endParaRPr/>
          </a:p>
          <a:p>
            <a:r>
              <a:t>[1:15]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Divider. Everything after this point is written to main-slide standard and can be moved into the main line for a 30- or 45-minute slot. See PRESENTATION.md, 'Scaling the talk to the slot'.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This is the other half of the figure story, and it is the least glamorous fix in the thesis.</a:t>
            </a:r>
          </a:p>
          <a:p>
            <a:endParaRPr dirty="0"/>
          </a:p>
          <a:p>
            <a:r>
              <a:rPr dirty="0"/>
              <a:t>Off-the-shelf </a:t>
            </a:r>
            <a:r>
              <a:rPr dirty="0" err="1"/>
              <a:t>Docling</a:t>
            </a:r>
            <a:r>
              <a:rPr dirty="0"/>
              <a:t> emitted 139 figure crops on the rubric set. 73 of them were rated "icon" by</a:t>
            </a:r>
          </a:p>
          <a:p>
            <a:r>
              <a:rPr dirty="0"/>
              <a:t>the annotator. Look at what they actually are: two ORCID marks next to the author names, the</a:t>
            </a:r>
          </a:p>
          <a:p>
            <a:r>
              <a:rPr dirty="0"/>
              <a:t>"check for updates" badge, the Creative Commons </a:t>
            </a:r>
            <a:r>
              <a:rPr dirty="0" err="1"/>
              <a:t>licence</a:t>
            </a:r>
            <a:r>
              <a:rPr dirty="0"/>
              <a:t> badge, and the journal masthead. Every</a:t>
            </a:r>
          </a:p>
          <a:p>
            <a:r>
              <a:rPr dirty="0"/>
              <a:t>open-access paper has these, on page one, every time.</a:t>
            </a:r>
          </a:p>
          <a:p>
            <a:endParaRPr dirty="0"/>
          </a:p>
          <a:p>
            <a:r>
              <a:rPr dirty="0"/>
              <a:t>The rule is a size filter - both width and height must reach fifty points. Note the masthead is</a:t>
            </a:r>
          </a:p>
          <a:p>
            <a:r>
              <a:rPr dirty="0"/>
              <a:t>178 points wide but only 36 tall, so it fails on height. That is why the rule uses AND rather than</a:t>
            </a:r>
          </a:p>
          <a:p>
            <a:r>
              <a:rPr dirty="0"/>
              <a:t>area.</a:t>
            </a:r>
          </a:p>
          <a:p>
            <a:endParaRPr dirty="0"/>
          </a:p>
          <a:p>
            <a:r>
              <a:rPr dirty="0"/>
              <a:t>Corpus-wide this drops 3,065 of 7,544 picture elements, about forty percent. Combined with the</a:t>
            </a:r>
          </a:p>
          <a:p>
            <a:r>
              <a:rPr dirty="0"/>
              <a:t>caption matcher on the next slide, these two mechanisms account for the entire 139 to 76</a:t>
            </a:r>
          </a:p>
          <a:p>
            <a:r>
              <a:rPr dirty="0"/>
              <a:t>reduction and the whole figure strict-F1 gain.</a:t>
            </a:r>
          </a:p>
          <a:p>
            <a:endParaRPr dirty="0"/>
          </a:p>
          <a:p>
            <a:r>
              <a:rPr dirty="0"/>
              <a:t>[1:00]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55000" lnSpcReduction="20000"/>
          </a:bodyPr>
          <a:lstStyle/>
          <a:p>
            <a:r>
              <a:t>This is the subtlest of the document-layer fixes and the easiest to under-rate.</a:t>
            </a:r>
          </a:p>
          <a:p>
            <a:endParaRPr/>
          </a:p>
          <a:p>
            <a:r>
              <a:t>Look at the page layout, because that is what defeats the default matcher. The figure sits in the</a:t>
            </a:r>
          </a:p>
          <a:p>
            <a:r>
              <a:t>left column; its caption is in the right column, beside it rather than beneath it. Docling's</a:t>
            </a:r>
          </a:p>
          <a:p>
            <a:r>
              <a:t>matcher searches downward, finds nothing, and returns an empty string.</a:t>
            </a:r>
          </a:p>
          <a:p>
            <a:endParaRPr/>
          </a:p>
          <a:p>
            <a:r>
              <a:t>The crop is byte-identical between baseline and pipeline - same bounding box, IoU exactly 1.0. The</a:t>
            </a:r>
          </a:p>
          <a:p>
            <a:r>
              <a:t>figure was never the problem. What changed is the string attached to it. Docling's default matcher</a:t>
            </a:r>
          </a:p>
          <a:p>
            <a:r>
              <a:t>returned nothing; mine returns "Fig 2, Schematic diagram of iron kinetics in the CNS."</a:t>
            </a:r>
          </a:p>
          <a:p>
            <a:endParaRPr/>
          </a:p>
          <a:p>
            <a:r>
              <a:t>Why it matters: this figure's caption sits to the RIGHT of the image rather than below it, which</a:t>
            </a:r>
          </a:p>
          <a:p>
            <a:r>
              <a:t>is a common journal layout and breaks a matcher that only looks downward. My matcher scores</a:t>
            </a:r>
          </a:p>
          <a:p>
            <a:r>
              <a:t>candidates by edge-to-edge gap in both axes and parses the figure number out of the caption text</a:t>
            </a:r>
          </a:p>
          <a:p>
            <a:r>
              <a:t>to check consistency.</a:t>
            </a:r>
          </a:p>
          <a:p>
            <a:endParaRPr/>
          </a:p>
          <a:p>
            <a:r>
              <a:t>Sixteen caption labels were corrected this way on the rubric set - eleven figures with no caption</a:t>
            </a:r>
          </a:p>
          <a:p>
            <a:r>
              <a:t>at all, five with the caption to the side. Correct captions go from 60.6 to 90.3 percent.</a:t>
            </a:r>
          </a:p>
          <a:p>
            <a:endParaRPr/>
          </a:p>
          <a:p>
            <a:r>
              <a:t>And a caption is not cosmetic here. It is the only human-readable description of what a figure</a:t>
            </a:r>
          </a:p>
          <a:p>
            <a:r>
              <a:t>shows, and it is what an auditor reads first when checking a rule that cites that figure.</a:t>
            </a:r>
          </a:p>
          <a:p>
            <a:endParaRPr/>
          </a:p>
          <a:p>
            <a:r>
              <a:t>[1:00]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0000" lnSpcReduction="20000"/>
          </a:bodyPr>
          <a:lstStyle/>
          <a:p>
            <a:r>
              <a:t>A second, nastier variant of the same problem - and this one is not journal furniture, it is real</a:t>
            </a:r>
          </a:p>
          <a:p>
            <a:r>
              <a:t>scientific text.</a:t>
            </a:r>
          </a:p>
          <a:p>
            <a:endParaRPr/>
          </a:p>
          <a:p>
            <a:r>
              <a:t>This paper carries a hidden duplicate of a genuine body paragraph, about granular cell tumours and</a:t>
            </a:r>
          </a:p>
          <a:p>
            <a:r>
              <a:t>their immunohistochemical profile. The visible copy is there; a second copy sits underneath it in</a:t>
            </a:r>
          </a:p>
          <a:p>
            <a:r>
              <a:t>a compressed, invisible layer.</a:t>
            </a:r>
          </a:p>
          <a:p>
            <a:endParaRPr/>
          </a:p>
          <a:p>
            <a:r>
              <a:t>The pixel test does not always catch this one, because the hidden copy can overlap real ink. So</a:t>
            </a:r>
          </a:p>
          <a:p>
            <a:r>
              <a:t>there is a second rule: character density. This node claims 170 characters inside a bounding box</a:t>
            </a:r>
          </a:p>
          <a:p>
            <a:r>
              <a:t>8.6 points tall - about twenty characters per point, which is physically impossible for rendered</a:t>
            </a:r>
          </a:p>
          <a:p>
            <a:r>
              <a:t>type. That is R3_dense_text, and it fires 2,228 times across the corpus.</a:t>
            </a:r>
          </a:p>
          <a:p>
            <a:endParaRPr/>
          </a:p>
          <a:p>
            <a:r>
              <a:t>The consequence if you skip this: the paragraph reaches MAP twice, the model extracts the same</a:t>
            </a:r>
          </a:p>
          <a:p>
            <a:r>
              <a:t>finding twice, and the two copies agree perfectly. So the cascade sees strong agreement, accepts</a:t>
            </a:r>
          </a:p>
          <a:p>
            <a:r>
              <a:t>cheaply, and the deduplication stage merges them back into one rule with an inflated evidence</a:t>
            </a:r>
          </a:p>
          <a:p>
            <a:r>
              <a:t>count. A duplicate looks exactly like corroboration.</a:t>
            </a:r>
          </a:p>
          <a:p>
            <a:endParaRPr/>
          </a:p>
          <a:p>
            <a:r>
              <a:t>That is the honest reason this stage exists. It is not about text tidiness - it is about not</a:t>
            </a:r>
          </a:p>
          <a:p>
            <a:r>
              <a:t>manufacturing false support.</a:t>
            </a:r>
          </a:p>
          <a:p>
            <a:endParaRPr/>
          </a:p>
          <a:p>
            <a:r>
              <a:t>[1:00]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7500" lnSpcReduction="20000"/>
          </a:bodyPr>
          <a:lstStyle/>
          <a:p>
            <a:r>
              <a:t>Layout parsers return text in fragments - a paragraph broken by a column boundary, a page break,</a:t>
            </a:r>
          </a:p>
          <a:p>
            <a:r>
              <a:t>or a floating figure arrives as two or three separate elements. The stitcher rejoins them using</a:t>
            </a:r>
          </a:p>
          <a:p>
            <a:r>
              <a:t>syntactic cues: a trailing hyphen, comma, or connective word; a fragment that starts lower-case.</a:t>
            </a:r>
          </a:p>
          <a:p>
            <a:endParaRPr/>
          </a:p>
          <a:p>
            <a:r>
              <a:t>It works. I verified ten clean joins on the rubric set alone - for example a sentence about tumour</a:t>
            </a:r>
          </a:p>
          <a:p>
            <a:r>
              <a:t>nodule shape that spans a column break and is correctly reassembled.</a:t>
            </a:r>
          </a:p>
          <a:p>
            <a:endParaRPr/>
          </a:p>
          <a:p>
            <a:r>
              <a:t>But the rule is purely syntactic, and this slide shows the failure. A body sentence ends</a:t>
            </a:r>
          </a:p>
          <a:p>
            <a:r>
              <a:t>"...to prevent iron-dependent proliferation of" - a trailing "of", so the stitcher looks for a</a:t>
            </a:r>
          </a:p>
          <a:p>
            <a:r>
              <a:t>continuation. The next element in reading order is the journal copyright footer. It glues them</a:t>
            </a:r>
          </a:p>
          <a:p>
            <a:r>
              <a:t>together, and the knowledge extractor receives a sentence that reads "...proliferation of © 2025</a:t>
            </a:r>
          </a:p>
          <a:p>
            <a:r>
              <a:t>The Author(s), Neuropathology published by John Wiley and Sons".</a:t>
            </a:r>
          </a:p>
          <a:p>
            <a:endParaRPr/>
          </a:p>
          <a:p>
            <a:r>
              <a:t>I want to be clear about the status of this. The thesis already states that paragraph-merging</a:t>
            </a:r>
          </a:p>
          <a:p>
            <a:r>
              <a:t>errors happen "without leaving a signal in the rubric-based evaluation" - the rubric scores crops,</a:t>
            </a:r>
          </a:p>
          <a:p>
            <a:r>
              <a:t>not prose, so this class of error is invisible to my own RQ1 metric. What I am adding is a</a:t>
            </a:r>
          </a:p>
          <a:p>
            <a:r>
              <a:t>concrete instance, found by auditing the artifacts afterwards. I do not know the rate.</a:t>
            </a:r>
          </a:p>
          <a:p>
            <a:endParaRPr/>
          </a:p>
          <a:p>
            <a:r>
              <a:t>[1:15]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/>
              <a:t>The relation layer is the smallest part of the output and I want to present it honestly: 46 rule</a:t>
            </a:r>
          </a:p>
          <a:p>
            <a:r>
              <a:rPr dirty="0"/>
              <a:t>nodes participate in any edge at all, 25 edges, 22 connected components, the largest with three</a:t>
            </a:r>
          </a:p>
          <a:p>
            <a:r>
              <a:rPr dirty="0"/>
              <a:t>nodes. This is not a knowledge graph in the ambitious sense.</a:t>
            </a:r>
          </a:p>
          <a:p>
            <a:endParaRPr dirty="0"/>
          </a:p>
          <a:p>
            <a:r>
              <a:rPr dirty="0"/>
              <a:t>But look at the contradiction on the right, because it is the single best illustration of what the</a:t>
            </a:r>
          </a:p>
          <a:p>
            <a:r>
              <a:rPr dirty="0"/>
              <a:t>system is for. Both statements come from the SAME paper. One says SBEM expression does not</a:t>
            </a:r>
          </a:p>
          <a:p>
            <a:r>
              <a:rPr dirty="0"/>
              <a:t>correlate with </a:t>
            </a:r>
            <a:r>
              <a:rPr dirty="0" err="1"/>
              <a:t>tumour</a:t>
            </a:r>
            <a:r>
              <a:rPr dirty="0"/>
              <a:t> grade. The other says increased SBEM levels are strongly associated with</a:t>
            </a:r>
          </a:p>
          <a:p>
            <a:r>
              <a:rPr dirty="0"/>
              <a:t>higher grade, with a p-value of 0.0015. The NLI model scores the contradiction above 0.99 in both</a:t>
            </a:r>
          </a:p>
          <a:p>
            <a:r>
              <a:rPr dirty="0"/>
              <a:t>directions, so this is not a threshold artefact.</a:t>
            </a:r>
          </a:p>
          <a:p>
            <a:endParaRPr dirty="0"/>
          </a:p>
          <a:p>
            <a:r>
              <a:rPr dirty="0"/>
              <a:t>That is a genuine internal inconsistency in a published paper - possibly a different cohort, a</a:t>
            </a:r>
          </a:p>
          <a:p>
            <a:r>
              <a:rPr dirty="0"/>
              <a:t>different assay, or an error - and it surfaced automatically, with both source sentences attached</a:t>
            </a:r>
          </a:p>
          <a:p>
            <a:r>
              <a:rPr dirty="0"/>
              <a:t>and traceable to their paragraphs. The system does not adjudicate; it hands a pathologist two</a:t>
            </a:r>
          </a:p>
          <a:p>
            <a:r>
              <a:rPr dirty="0"/>
              <a:t>sentences and says "these disagree, look".</a:t>
            </a:r>
          </a:p>
          <a:p>
            <a:endParaRPr dirty="0"/>
          </a:p>
          <a:p>
            <a:r>
              <a:rPr dirty="0"/>
              <a:t>The honest limit is at the bottom. 25 edges from 1,747 rules is sparse, and that is the</a:t>
            </a:r>
          </a:p>
          <a:p>
            <a:r>
              <a:rPr dirty="0"/>
              <a:t>comparability gate doing its job - both claims must be polarity-bearing and share subject,</a:t>
            </a:r>
          </a:p>
          <a:p>
            <a:r>
              <a:rPr dirty="0"/>
              <a:t>outcome, category and relation type. On the randomly sampled held-out set it produces four edges</a:t>
            </a:r>
          </a:p>
          <a:p>
            <a:r>
              <a:rPr dirty="0"/>
              <a:t>and no cross-paper links at all. So I would not oversell this as a corpus-scale graph.</a:t>
            </a:r>
          </a:p>
          <a:p>
            <a:endParaRPr dirty="0"/>
          </a:p>
          <a:p>
            <a:r>
              <a:rPr dirty="0"/>
              <a:t>[1:15]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55000" lnSpcReduction="20000"/>
          </a:bodyPr>
          <a:lstStyle/>
          <a:p>
            <a:r>
              <a:t>If you want the one-sentence positioning: nothing in this pipeline is a new algorithm, and that is</a:t>
            </a:r>
          </a:p>
          <a:p>
            <a:r>
              <a:t>deliberate.</a:t>
            </a:r>
          </a:p>
          <a:p>
            <a:endParaRPr/>
          </a:p>
          <a:p>
            <a:r>
              <a:t>Layout-aware parsing is mature. Entity normalization against UMLS is mature. Biomedical entailment</a:t>
            </a:r>
          </a:p>
          <a:p>
            <a:r>
              <a:t>is mature. Cost-aware cascading has an established literature, and I integrate a published</a:t>
            </a:r>
          </a:p>
          <a:p>
            <a:r>
              <a:t>framework rather than proposing one. Each of these has its own benchmark and its own definition of</a:t>
            </a:r>
          </a:p>
          <a:p>
            <a:r>
              <a:t>success, and each is evaluated in isolation.</a:t>
            </a:r>
          </a:p>
          <a:p>
            <a:endParaRPr/>
          </a:p>
          <a:p>
            <a:r>
              <a:t>What is rare - and what the thesis actually contributes - is the combination: all of them in a</a:t>
            </a:r>
          </a:p>
          <a:p>
            <a:r>
              <a:t>single system where every output is traceable, evaluated under cost AND quality at the same time.</a:t>
            </a:r>
          </a:p>
          <a:p>
            <a:endParaRPr/>
          </a:p>
          <a:p>
            <a:r>
              <a:t>Two rejections worth stating because they were real forks. First, OCR-free end-to-end document</a:t>
            </a:r>
          </a:p>
          <a:p>
            <a:r>
              <a:t>models - Donut, mPLUG-DocOwl2 - can read a page image directly and skip the layout stage entirely.</a:t>
            </a:r>
          </a:p>
          <a:p>
            <a:r>
              <a:t>I did not use them because they do not return token-level bounding boxes, and without coordinates</a:t>
            </a:r>
          </a:p>
          <a:p>
            <a:r>
              <a:t>provenance stops being structural and becomes a claim. That would have undercut the central design</a:t>
            </a:r>
          </a:p>
          <a:p>
            <a:r>
              <a:t>commitment.</a:t>
            </a:r>
          </a:p>
          <a:p>
            <a:endParaRPr/>
          </a:p>
          <a:p>
            <a:r>
              <a:t>Second, I rejected chain-of-thought self-checking and LLM self-repair loops. Both ask a model to</a:t>
            </a:r>
          </a:p>
          <a:p>
            <a:r>
              <a:t>audit itself. I preferred cross-provider agreement plus entailment against the actual source text,</a:t>
            </a:r>
          </a:p>
          <a:p>
            <a:r>
              <a:t>because both of those are external checks.</a:t>
            </a:r>
          </a:p>
          <a:p>
            <a:endParaRPr/>
          </a:p>
          <a:p>
            <a:r>
              <a:t>[1:00]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0000" lnSpcReduction="20000"/>
          </a:bodyPr>
          <a:lstStyle/>
          <a:p>
            <a:r>
              <a:t>The two-pass extractor does more than remove invisible text. It also masks the parts of the page</a:t>
            </a:r>
          </a:p>
          <a:p>
            <a:r>
              <a:t>that are visible but are not the paper: the running header, the page footer, and the editorial</a:t>
            </a:r>
          </a:p>
          <a:p>
            <a:r>
              <a:t>sidebar.</a:t>
            </a:r>
          </a:p>
          <a:p>
            <a:endParaRPr/>
          </a:p>
          <a:p>
            <a:r>
              <a:t>This is a real before-and-after - the right-hand page is the pipeline's own redacted PDF, not a</a:t>
            </a:r>
          </a:p>
          <a:p>
            <a:r>
              <a:t>mock-up. Everything highlighted on the right is gone: the journal masthead, the "check for</a:t>
            </a:r>
          </a:p>
          <a:p>
            <a:r>
              <a:t>updates" badge, the licence block, the DOI footer, and the whole left margin.</a:t>
            </a:r>
          </a:p>
          <a:p>
            <a:endParaRPr/>
          </a:p>
          <a:p>
            <a:r>
              <a:t>The strings in orange are what disappeared: "Academic Editor: Gurkan Kaya", the four submission</a:t>
            </a:r>
          </a:p>
          <a:p>
            <a:r>
              <a:t>dates, the full self-citation, the copyright notice. MDPI puts all of that in the left margin of</a:t>
            </a:r>
          </a:p>
          <a:p>
            <a:r>
              <a:t>page one. It is perfectly legitimate metadata and it is not body text.</a:t>
            </a:r>
          </a:p>
          <a:p>
            <a:endParaRPr/>
          </a:p>
          <a:p>
            <a:r>
              <a:t>Why this matters rather than being housekeeping: every one of those lines would otherwise be</a:t>
            </a:r>
          </a:p>
          <a:p>
            <a:r>
              <a:t>turned into a sentence, chunked, and sent to a language model as if it were scientific content.</a:t>
            </a:r>
          </a:p>
          <a:p>
            <a:r>
              <a:t>The model would dutifully extract findings from a copyright notice. On the rubric set this</a:t>
            </a:r>
          </a:p>
          <a:p>
            <a:r>
              <a:t>mechanism removes 92 header and footer elements - the second-largest removal after captions.</a:t>
            </a:r>
          </a:p>
          <a:p>
            <a:endParaRPr/>
          </a:p>
          <a:p>
            <a:r>
              <a:t>Method note if asked: I did not re-implement the masking geometry for this slide. I rendered the</a:t>
            </a:r>
          </a:p>
          <a:p>
            <a:r>
              <a:t>original page and the redacted PDF the pipeline actually wrote, and diffed the text layers.</a:t>
            </a:r>
          </a:p>
          <a:p>
            <a:endParaRPr/>
          </a:p>
          <a:p>
            <a:r>
              <a:t>[1:00]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47500" lnSpcReduction="20000"/>
          </a:bodyPr>
          <a:lstStyle/>
          <a:p>
            <a:r>
              <a:t>Table detection is shape detection. TATR in particular finds ruled boxes with aligned text, and</a:t>
            </a:r>
          </a:p>
          <a:p>
            <a:r>
              <a:t>it does not know or care what is written inside them.</a:t>
            </a:r>
          </a:p>
          <a:p>
            <a:endParaRPr/>
          </a:p>
          <a:p>
            <a:r>
              <a:t>I am showing these in page context rather than as crops, because *where* each sits is what makes</a:t>
            </a:r>
          </a:p>
          <a:p>
            <a:r>
              <a:t>it wrong - a cropped byline looks like a small table, and only the page tells you it is the author</a:t>
            </a:r>
          </a:p>
          <a:p>
            <a:r>
              <a:t>block.</a:t>
            </a:r>
          </a:p>
          <a:p>
            <a:endParaRPr/>
          </a:p>
          <a:p>
            <a:r>
              <a:t>Three real false positives. On the left, a journal running header - the Karger banner with the</a:t>
            </a:r>
          </a:p>
          <a:p>
            <a:r>
              <a:t>DOI, the publication date and the copyright line. It has rules and columns, so it looks exactly</a:t>
            </a:r>
          </a:p>
          <a:p>
            <a:r>
              <a:t>like a small table, and it was detected as one on six consecutive pages of the same paper. The</a:t>
            </a:r>
          </a:p>
          <a:p>
            <a:r>
              <a:t>fix is blunt and effective: drop any table region whose top edge is within fifty points of the</a:t>
            </a:r>
          </a:p>
          <a:p>
            <a:r>
              <a:t>page top. That rule fires 666 times across the corpus.</a:t>
            </a:r>
          </a:p>
          <a:p>
            <a:endParaRPr/>
          </a:p>
          <a:p>
            <a:r>
              <a:t>In the middle, the author byline from a different paper - names separated by vertical bars, which</a:t>
            </a:r>
          </a:p>
          <a:p>
            <a:r>
              <a:t>is a grid. My annotation for it under the rubric was "should be masked, not a table in the</a:t>
            </a:r>
          </a:p>
          <a:p>
            <a:r>
              <a:t>scientific sense", which I think is the right description.</a:t>
            </a:r>
          </a:p>
          <a:p>
            <a:endParaRPr/>
          </a:p>
          <a:p>
            <a:r>
              <a:t>On the right, a forest plot. There genuinely is a table inside that figure - study names, sample</a:t>
            </a:r>
          </a:p>
          <a:p>
            <a:r>
              <a:t>sizes, hazard ratios - but it belongs to the figure, and emitting it separately double-counts the</a:t>
            </a:r>
          </a:p>
          <a:p>
            <a:r>
              <a:t>content and breaks the figure crop. That is dropped by a containment rule: any table region 80</a:t>
            </a:r>
          </a:p>
          <a:p>
            <a:r>
              <a:t>percent or more inside a figure element is discarded. 67 corpus-wide.</a:t>
            </a:r>
          </a:p>
          <a:p>
            <a:endParaRPr/>
          </a:p>
          <a:p>
            <a:r>
              <a:t>The honest framing is that none of these is a clever fix. They are three narrow geometric rules</a:t>
            </a:r>
          </a:p>
          <a:p>
            <a:r>
              <a:t>that each remove one recurring class of nonsense.</a:t>
            </a:r>
          </a:p>
          <a:p>
            <a:endParaRPr/>
          </a:p>
          <a:p>
            <a:r>
              <a:t>[1:15]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55000" lnSpcReduction="20000"/>
          </a:bodyPr>
          <a:lstStyle/>
          <a:p>
            <a:r>
              <a:t>Three more cases, all from the rubric set, all verified against my own annotations.</a:t>
            </a:r>
          </a:p>
          <a:p>
            <a:endParaRPr/>
          </a:p>
          <a:p>
            <a:r>
              <a:t>On the left, a table the Docling-only configuration never emitted at all. TATR proposes it, the</a:t>
            </a:r>
          </a:p>
          <a:p>
            <a:r>
              <a:t>union keeps it, and the rubric rates the resulting crop correct. This is the same mechanism as the</a:t>
            </a:r>
          </a:p>
          <a:p>
            <a:r>
              <a:t>split table on slide six, on a simpler case - an ordinary single-page table that one detector</a:t>
            </a:r>
          </a:p>
          <a:p>
            <a:r>
              <a:t>happened to miss.</a:t>
            </a:r>
          </a:p>
          <a:p>
            <a:endParaRPr/>
          </a:p>
          <a:p>
            <a:r>
              <a:t>The middle and right panels are caption failures. Blue marks the region the pipeline emitted;</a:t>
            </a:r>
          </a:p>
          <a:p>
            <a:r>
              <a:t>orange dashed marks the caption it attached. You can see the spatial relationship the matcher has</a:t>
            </a:r>
          </a:p>
          <a:p>
            <a:r>
              <a:t>to solve - caption above the table in one case, below the figure in the other. The crop itself is</a:t>
            </a:r>
          </a:p>
          <a:p>
            <a:r>
              <a:t>byte-identical to the baseline's; only the attached string changes.</a:t>
            </a:r>
          </a:p>
          <a:p>
            <a:endParaRPr/>
          </a:p>
          <a:p>
            <a:r>
              <a:t>I show a table case and a figure case together because the matcher is the same code and both</a:t>
            </a:r>
          </a:p>
          <a:p>
            <a:r>
              <a:t>failure modes are common. Eleven figures on the rubric set had no caption at all; five more had</a:t>
            </a:r>
          </a:p>
          <a:p>
            <a:r>
              <a:t>the caption to the side; and one table had none.</a:t>
            </a:r>
          </a:p>
          <a:p>
            <a:endParaRPr/>
          </a:p>
          <a:p>
            <a:r>
              <a:t>The line at the bottom is the point I would make if pressed on why captions deserve a slide. A</a:t>
            </a:r>
          </a:p>
          <a:p>
            <a:r>
              <a:t>caption is the only human-readable description of what a table or figure contains. If a rule cites</a:t>
            </a:r>
          </a:p>
          <a:p>
            <a:r>
              <a:t>Table 2 and Table 2 has no caption, the auditor has to reconstruct from the crop what the table</a:t>
            </a:r>
          </a:p>
          <a:p>
            <a:r>
              <a:t>was even measuring. Provenance without a caption is a coordinate, not an explanation.</a:t>
            </a:r>
          </a:p>
          <a:p>
            <a:endParaRPr/>
          </a:p>
          <a:p>
            <a:r>
              <a:t>[1:00]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0000" lnSpcReduction="20000"/>
          </a:bodyPr>
          <a:lstStyle/>
          <a:p>
            <a:r>
              <a:t>Two smaller cleanup stages that run during text assembly, shown together because neither warrants</a:t>
            </a:r>
          </a:p>
          <a:p>
            <a:r>
              <a:t>a slide alone.</a:t>
            </a:r>
          </a:p>
          <a:p>
            <a:endParaRPr/>
          </a:p>
          <a:p>
            <a:r>
              <a:t>On the left, citation stripping. Bracketed reference markers are removed - fourteen to zero on</a:t>
            </a:r>
          </a:p>
          <a:p>
            <a:r>
              <a:t>this paper - along with collapsed double spaces and the line-level fragmentation. The reason is</a:t>
            </a:r>
          </a:p>
          <a:p>
            <a:r>
              <a:t>that a citation marker sitting mid-sentence corrupts the sentence segmentation that MAP depends</a:t>
            </a:r>
          </a:p>
          <a:p>
            <a:r>
              <a:t>on: "expression correlates with grade [12,14]" splits badly, and the marker itself carries no</a:t>
            </a:r>
          </a:p>
          <a:p>
            <a:r>
              <a:t>meaning once the paper is out of context.</a:t>
            </a:r>
          </a:p>
          <a:p>
            <a:endParaRPr/>
          </a:p>
          <a:p>
            <a:r>
              <a:t>On the right, filter_artifacts. It drops elements with no alphabetic characters at all, short</a:t>
            </a:r>
          </a:p>
          <a:p>
            <a:r>
              <a:t>sidebar metadata lines like Received / Revised / Accepted / Published, single-line text elements</a:t>
            </a:r>
          </a:p>
          <a:p>
            <a:r>
              <a:t>that fall outside the vertical range of the page's anchor blocks, and, on pages with no anchors,</a:t>
            </a:r>
          </a:p>
          <a:p>
            <a:r>
              <a:t>single lines that fail a named-entity check.</a:t>
            </a:r>
          </a:p>
          <a:p>
            <a:endParaRPr/>
          </a:p>
          <a:p>
            <a:r>
              <a:t>Two honest caveats. First, this overlaps with the header/footer masking on E13 - the same</a:t>
            </a:r>
          </a:p>
          <a:p>
            <a:r>
              <a:t>editorial metadata is caught by both, which is belt-and-braces rather than elegance. Second, the</a:t>
            </a:r>
          </a:p>
          <a:p>
            <a:r>
              <a:t>NER-based rule is the only place in the document layer where a model decides what to keep, and I</a:t>
            </a:r>
          </a:p>
          <a:p>
            <a:r>
              <a:t>did not evaluate it separately. It is a heuristic that survived because the rubric numbers were</a:t>
            </a:r>
          </a:p>
          <a:p>
            <a:r>
              <a:t>acceptable with it on.</a:t>
            </a:r>
          </a:p>
          <a:p>
            <a:endParaRPr/>
          </a:p>
          <a:p>
            <a:r>
              <a:t>[0:50]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40000" lnSpcReduction="20000"/>
          </a:bodyPr>
          <a:lstStyle/>
          <a:p>
            <a:r>
              <a:rPr dirty="0"/>
              <a:t>This is the whole scoring method in one slide, and it is worth walking because every accept,</a:t>
            </a:r>
          </a:p>
          <a:p>
            <a:r>
              <a:rPr dirty="0"/>
              <a:t>escalate and reject decision in the cascade comes out of it.</a:t>
            </a:r>
          </a:p>
          <a:p>
            <a:endParaRPr dirty="0"/>
          </a:p>
          <a:p>
            <a:r>
              <a:rPr dirty="0"/>
              <a:t>Start with what goes in. Not raw model text - the voter outputs that already survived the schema</a:t>
            </a:r>
          </a:p>
          <a:p>
            <a:r>
              <a:rPr dirty="0"/>
              <a:t>and provenance gates, each one a set of typed findings. So "do these voters agree?" is a question</a:t>
            </a:r>
          </a:p>
          <a:p>
            <a:r>
              <a:rPr dirty="0"/>
              <a:t>about structured records, not string overlap.</a:t>
            </a:r>
          </a:p>
          <a:p>
            <a:endParaRPr dirty="0"/>
          </a:p>
          <a:p>
            <a:r>
              <a:rPr dirty="0"/>
              <a:t>Two degenerate cases are handled before any matrix exists. Zero eligible voters is a reject. Exactly</a:t>
            </a:r>
          </a:p>
          <a:p>
            <a:r>
              <a:rPr dirty="0"/>
              <a:t>one voter is scored 1.0 - by construction, because a single output trivially agrees with itself.</a:t>
            </a:r>
          </a:p>
          <a:p>
            <a:r>
              <a:rPr dirty="0"/>
              <a:t>That number is an artifact, not evidence, and it is exactly why the shipped configuration sets</a:t>
            </a:r>
          </a:p>
          <a:p>
            <a:r>
              <a:rPr dirty="0" err="1"/>
              <a:t>legacy_single_voter_policy</a:t>
            </a:r>
            <a:r>
              <a:rPr dirty="0"/>
              <a:t> to escalate: a lone survivor has no agreement signal, so it goes up the</a:t>
            </a:r>
          </a:p>
          <a:p>
            <a:r>
              <a:rPr dirty="0"/>
              <a:t>cascade rather than being accepted on a synthetic score.</a:t>
            </a:r>
          </a:p>
          <a:p>
            <a:endParaRPr dirty="0"/>
          </a:p>
          <a:p>
            <a:r>
              <a:rPr dirty="0"/>
              <a:t>Voters that returned nothing are then dropped, because leaving them in would drag every real</a:t>
            </a:r>
          </a:p>
          <a:p>
            <a:r>
              <a:rPr dirty="0"/>
              <a:t>voter's average down and manufacture disagreement. If fewer than two survive, the chunk escalates.</a:t>
            </a:r>
          </a:p>
          <a:p>
            <a:endParaRPr dirty="0"/>
          </a:p>
          <a:p>
            <a:r>
              <a:rPr dirty="0"/>
              <a:t>Only then is the matrix built, pairwise over the survivors, using the hybrid scorer whose weights</a:t>
            </a:r>
          </a:p>
          <a:p>
            <a:r>
              <a:rPr dirty="0"/>
              <a:t>are on the slide - entity overlap dominant at 0.50, claim embedding 0.30, category 0.15, cited</a:t>
            </a:r>
          </a:p>
          <a:p>
            <a:r>
              <a:rPr dirty="0"/>
              <a:t>evidence 0.05. Each voter takes its mean similarity to the others; the chunk's score is the maximum</a:t>
            </a:r>
          </a:p>
          <a:p>
            <a:r>
              <a:rPr dirty="0"/>
              <a:t>of those means, and the winner is the voter that achieved it. Ties break on grounding quality.</a:t>
            </a:r>
          </a:p>
          <a:p>
            <a:endParaRPr dirty="0"/>
          </a:p>
          <a:p>
            <a:r>
              <a:rPr dirty="0"/>
              <a:t>Two things I would </a:t>
            </a:r>
            <a:r>
              <a:rPr dirty="0" err="1"/>
              <a:t>emphasise</a:t>
            </a:r>
            <a:r>
              <a:rPr dirty="0"/>
              <a:t>. First, maximum rather than mean: one tightly agreeing pair carries the</a:t>
            </a:r>
          </a:p>
          <a:p>
            <a:r>
              <a:rPr dirty="0"/>
              <a:t>chunk even if a third voter dissents completely. That is deliberate - it is a consensus detector,</a:t>
            </a:r>
          </a:p>
          <a:p>
            <a:r>
              <a:rPr dirty="0"/>
              <a:t>not a unanimity detector. Second, this method returns a score, not a verdict. Theta at 0.9 and</a:t>
            </a:r>
          </a:p>
          <a:p>
            <a:r>
              <a:rPr dirty="0"/>
              <a:t>theta-reject at 0.2 are applied one layer up, which is what let me sweep those thresholds offline</a:t>
            </a:r>
          </a:p>
          <a:p>
            <a:r>
              <a:rPr dirty="0"/>
              <a:t>without re-running a single voter.</a:t>
            </a:r>
          </a:p>
          <a:p>
            <a:endParaRPr dirty="0"/>
          </a:p>
          <a:p>
            <a:r>
              <a:rPr dirty="0"/>
              <a:t>And the caveat from E10 stands: this measures agreement, not correctness. Voters can agree and all</a:t>
            </a:r>
          </a:p>
          <a:p>
            <a:r>
              <a:rPr dirty="0"/>
              <a:t>be wrong. Nothing here detects that, which is why grounding runs against the source text afterwards.</a:t>
            </a:r>
          </a:p>
          <a:p>
            <a:endParaRPr dirty="0"/>
          </a:p>
          <a:p>
            <a:r>
              <a:rPr dirty="0"/>
              <a:t>[1:15]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Good morning, and thank you for coming. I'm Emirhan Karaman, and this is my Master's thesis,</a:t>
            </a:r>
          </a:p>
          <a:p>
            <a:r>
              <a:rPr dirty="0"/>
              <a:t>supervised by Frederic Mrozinski and examined by Professor Groh.</a:t>
            </a:r>
          </a:p>
          <a:p>
            <a:endParaRPr dirty="0"/>
          </a:p>
          <a:p>
            <a:r>
              <a:rPr dirty="0"/>
              <a:t>The title is long, so let me split it. The input is medical literature - histopathology papers.</a:t>
            </a:r>
          </a:p>
          <a:p>
            <a:r>
              <a:rPr dirty="0"/>
              <a:t>The output is "simple rules": small, typed, subject-outcome statements a pathologist could</a:t>
            </a:r>
          </a:p>
          <a:p>
            <a:r>
              <a:rPr dirty="0"/>
              <a:t>actually check. The word doing the most work in that sentence is CHECK. Everything in the next</a:t>
            </a:r>
          </a:p>
          <a:p>
            <a:r>
              <a:rPr dirty="0"/>
              <a:t>eighteen minutes follows from taking that word seriously.</a:t>
            </a:r>
          </a:p>
          <a:p>
            <a:endParaRPr dirty="0"/>
          </a:p>
          <a:p>
            <a:r>
              <a:rPr dirty="0"/>
              <a:t>[0:25]  -&gt;  "Let me start with why that's hard."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73625161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[VISUAL DECK · unique — the provenance requirement, stated as the research gap]</a:t>
            </a:r>
          </a:p>
          <a:p/>
          <a:p>
            <a:r>
              <a:t>This is the slide that justifies everything downstream. Land the last bullet properly — it is why document extraction is measured separately rather than assumed. [1:10]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[VISUAL DECK · figure — architecture diagram]</a:t>
            </a:r>
          </a:p>
          <a:p/>
          <a:p>
            <a:r>
              <a:t>Walk left to right once. Document extraction turns PDFs into typed elements in PostgreSQL; knowledge extraction turns those into scored rules. The dashed line is the provenance chain — the thing that makes RQ2 answerable.</a:t>
            </a:r>
          </a:p>
          <a:p/>
          <a:p>
            <a:r>
              <a:t>Say explicitly that the grey box is the only place a language model is involved. [1:10]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[VISUAL DECK · figure — header/footer/sidebar redaction]</a:t>
            </a:r>
          </a:p>
          <a:p/>
          <a:p>
            <a:r>
              <a:t>This is the slide that earns the document-extraction half of the thesis. Nobody expects a PDF to be hostile.</a:t>
            </a:r>
          </a:p>
          <a:p/>
          <a:p>
            <a:r>
              <a:t>Point at the sidebar: 'Academic Editor', received and accepted dates, the citation block. All of it would otherwise land in the body text and be extracted as if it were a finding. [1:10]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[VISUAL DECK · figure — three detector false positives]</a:t>
            </a:r>
          </a:p>
          <a:p/>
          <a:p>
            <a:r>
              <a:t>Precision matters as much as recall here. Every false table is a region of text removed from the body — so a spurious detection does not just add noise, it deletes real content. [1:00]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[VISUAL DECK · figure — citation and artifact stripping]</a:t>
            </a:r>
          </a:p>
          <a:p/>
          <a:p>
            <a:r>
              <a:t>Small, unglamorous, and load-bearing: the model sees clean sentences, so a verbatim quote it returns can actually be matched back against the source. Without this, provenance checking fails on formatting noise. [1:00]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[VISUAL DECK · figure — RQ1 strict-F1]</a:t>
            </a:r>
          </a:p>
          <a:p/>
          <a:p>
            <a:r>
              <a:t>Name the rubric first — four dimensions, no partial credit, human-labelled. Then the numbers.</a:t>
            </a:r>
          </a:p>
          <a:p/>
          <a:p>
            <a:r>
              <a:t>If asked whether the rubric was designed after seeing the results: it was fixed first, and the sweep was run against it. [1:10]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[VISUAL DECK · figure — the seven-stage pipeline]</a:t>
            </a:r>
          </a:p>
          <a:p/>
          <a:p>
            <a:r>
              <a:t>The design principle: push all the nondeterminism into one stage, then make everything downstream reproducible.</a:t>
            </a:r>
          </a:p>
          <a:p/>
          <a:p>
            <a:r>
              <a:t>NORMALIZE resolves entity names through a curated synonym dictionary, then UMLS — the biomedical terminology database — then an identity fallback. That ordering is deliberate: a clinician's mapping beats the automated linker. [1:10]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[VISUAL DECK · figure — the ABC cascade]</a:t>
            </a:r>
          </a:p>
          <a:p/>
          <a:p>
            <a:r>
              <a:t>This is the core mechanism, so take it slowly.</a:t>
            </a:r>
          </a:p>
          <a:p/>
          <a:p>
            <a:r>
              <a:t>Three cheap models read the same chunk. If they agree, we accept and stop. If they disagree, two mid-tier models get it. If those disagree, Claude Sonnet adjudicates and always emits.</a:t>
            </a:r>
          </a:p>
          <a:p/>
          <a:p>
            <a:r>
              <a:t>The bet is that agreement among cheap models is a usable proxy for confidence — and the whole cost argument rests on whether that bet pays. [1:20]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[VISUAL DECK · unique — grounding as its own slide]</a:t>
            </a:r>
          </a:p>
          <a:p/>
          <a:p>
            <a:r>
              <a:t>Grounding is where an unsupported claim dies, and it costs real recall — six strict-F1 points, which I report rather than hide.</a:t>
            </a:r>
          </a:p>
          <a:p/>
          <a:p>
            <a:r>
              <a:t>I kept it anyway. An ungrounded rule in this domain is worse than a missing one. [1:00]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[VISUAL DECK · figure — the provenance funnel]</a:t>
            </a:r>
          </a:p>
          <a:p/>
          <a:p>
            <a:r>
              <a:t>Two things to say. First the carry-rate: provenance survives all seven stages, which is the RQ2 answer.</a:t>
            </a:r>
          </a:p>
          <a:p/>
          <a:p>
            <a:r>
              <a:t>Second, do not apologise for the funnel narrowing. Every drop is a claim that failed a check — that is the system working. [1:10]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[VISUAL DECK · figure — θ vs escalation]</a:t>
            </a:r>
          </a:p>
          <a:p/>
          <a:p>
            <a:r>
              <a:t>This is the uncomfortable finding and the setup for the next slide.</a:t>
            </a:r>
          </a:p>
          <a:p/>
          <a:p>
            <a:r>
              <a:t>The cascade's best quality arrives only when almost everything escalates — which means the cheap tier is doing very little work at the quality end. Say it plainly; the next slide draws the consequence. [1:10]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[VISUAL DECK · figure — cost–quality plane, with `balanced`]</a:t>
            </a:r>
          </a:p>
          <a:p/>
          <a:p>
            <a:r>
              <a:t>Give this the full ninety seconds. It is the most honest slide in the deck and the committee will respect it more than a win.</a:t>
            </a:r>
          </a:p>
          <a:p/>
          <a:p>
            <a:r>
              <a:t>The cascade reaches 0.7160. A single Sonnet call reaches 0.7129 — within noise — at 24 percent lower cost. On this corpus, at these prices, the cascade is not the cost-effective deployment.</a:t>
            </a:r>
          </a:p>
          <a:p/>
          <a:p>
            <a:r>
              <a:t>What survives is the framework: provenance by construction, cost and quality as calibrated knobs, and an offline replay that reproduces every number here without a new API call. The calibration numbers are corpus- and price-specific. The method is not.</a:t>
            </a:r>
          </a:p>
          <a:p/>
          <a:p>
            <a:r>
              <a:t>If asked why the middle of the curve looks empty — the knee is chosen by weighted-sum scalarization, which only reaches convex-hull vertices. 'balanced' is an ε-constraint point that fills it. [1:30]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[VISUAL DECK · figure — NLI in two roles]</a:t>
            </a:r>
          </a:p>
          <a:p/>
          <a:p>
            <a:r>
              <a:t>One model, two jobs, no fine-tuning for either — that is the reusability claim.</a:t>
            </a:r>
          </a:p>
          <a:p/>
          <a:p>
            <a:r>
              <a:t>The six-point cost is the price of refusing to emit unsupported rules. I report it as a trade, not as a loss. [1:00]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[VISUAL DECK · figure — held-out θ curve]</a:t>
            </a:r>
          </a:p>
          <a:p/>
          <a:p>
            <a:r>
              <a:t>The configuration was frozen before this set was touched, and the two clusters are physically disjoint rather than a seeded split of one pool — which is what makes the claim defensible.</a:t>
            </a:r>
          </a:p>
          <a:p/>
          <a:p>
            <a:r>
              <a:t>The honest reading: this shows the calibration did not overfit. It does not show the system generalises to a different corpus. [1:00]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833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 4" descr="TUM_Glockenturm.tif">
            <a:extLst>
              <a:ext uri="{FF2B5EF4-FFF2-40B4-BE49-F238E27FC236}">
                <a16:creationId xmlns:a16="http://schemas.microsoft.com/office/drawing/2014/main" id="{3DC659F7-0024-9FCB-D753-C693EDA777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75215" y="1476375"/>
            <a:ext cx="3819542" cy="3333750"/>
          </a:xfrm>
          <a:prstGeom prst="rect">
            <a:avLst/>
          </a:prstGeom>
        </p:spPr>
      </p:pic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833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81830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3858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>
                <a:solidFill>
                  <a:schemeClr val="bg1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>
                <a:solidFill>
                  <a:schemeClr val="bg1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2" name="Textfeld 10">
            <a:extLst>
              <a:ext uri="{FF2B5EF4-FFF2-40B4-BE49-F238E27FC236}">
                <a16:creationId xmlns:a16="http://schemas.microsoft.com/office/drawing/2014/main" id="{154976A3-D458-EBF9-B242-F3440F1111AF}"/>
              </a:ext>
            </a:extLst>
          </p:cNvPr>
          <p:cNvSpPr txBox="1"/>
          <p:nvPr userDrawn="1"/>
        </p:nvSpPr>
        <p:spPr>
          <a:xfrm>
            <a:off x="319506" y="321468"/>
            <a:ext cx="7160425" cy="3462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lang="en-US" sz="800" dirty="0">
                <a:solidFill>
                  <a:schemeClr val="bg1"/>
                </a:solidFill>
                <a:latin typeface="+mn-lt"/>
              </a:rPr>
              <a:t>Chair of High-Power Converter Systems</a:t>
            </a:r>
            <a:endParaRPr lang="de-DE" sz="800" kern="1200" dirty="0">
              <a:solidFill>
                <a:schemeClr val="bg1"/>
              </a:solidFill>
              <a:latin typeface="+mn-lt"/>
              <a:ea typeface="+mn-ea"/>
              <a:cs typeface="Arial" charset="0"/>
            </a:endParaRPr>
          </a:p>
          <a:p>
            <a:pPr>
              <a:lnSpc>
                <a:spcPts val="900"/>
              </a:lnSpc>
            </a:pPr>
            <a:r>
              <a:rPr lang="en-US" sz="800" kern="1200" dirty="0">
                <a:solidFill>
                  <a:schemeClr val="bg1"/>
                </a:solidFill>
                <a:latin typeface="+mn-lt"/>
                <a:ea typeface="+mn-ea"/>
                <a:cs typeface="Arial" charset="0"/>
              </a:rPr>
              <a:t>TUM School of Engineering and Design</a:t>
            </a:r>
            <a:endParaRPr lang="de-DE" sz="800" kern="1200" dirty="0">
              <a:solidFill>
                <a:schemeClr val="bg1"/>
              </a:solidFill>
              <a:latin typeface="+mn-lt"/>
              <a:ea typeface="+mn-ea"/>
              <a:cs typeface="Arial" charset="0"/>
            </a:endParaRPr>
          </a:p>
          <a:p>
            <a:pPr>
              <a:lnSpc>
                <a:spcPts val="900"/>
              </a:lnSpc>
            </a:pPr>
            <a:r>
              <a:rPr lang="de-DE" sz="800" baseline="0" dirty="0">
                <a:solidFill>
                  <a:schemeClr val="bg1"/>
                </a:solidFill>
                <a:latin typeface="+mn-lt"/>
              </a:rPr>
              <a:t>Technical University of Munich</a:t>
            </a:r>
            <a:endParaRPr lang="de-DE" sz="8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90414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 4" descr="TUM_Glockenturm.tif">
            <a:extLst>
              <a:ext uri="{FF2B5EF4-FFF2-40B4-BE49-F238E27FC236}">
                <a16:creationId xmlns:a16="http://schemas.microsoft.com/office/drawing/2014/main" id="{186CB456-4823-F0CE-7635-2DF9E971C7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75215" y="1476375"/>
            <a:ext cx="3819542" cy="3333750"/>
          </a:xfrm>
          <a:prstGeom prst="rect">
            <a:avLst/>
          </a:prstGeom>
        </p:spPr>
      </p:pic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60424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05AABF3B-2112-4303-BACC-C389E81E73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05AABF3B-2112-4303-BACC-C389E81E73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740E7229-04EE-4764-BC7E-F87916F4FA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948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740E7229-04EE-4764-BC7E-F87916F4FA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948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266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266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785785"/>
            <a:ext cx="8508999" cy="290051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222525"/>
            <a:ext cx="8508999" cy="505304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20912513-725A-7B3D-7236-D9DF537BD4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948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785785"/>
            <a:ext cx="8508999" cy="290051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222525"/>
            <a:ext cx="8508999" cy="505304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20912513-725A-7B3D-7236-D9DF537BD4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948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785785"/>
            <a:ext cx="8508999" cy="290051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222525"/>
            <a:ext cx="8508999" cy="505304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660904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785785"/>
            <a:ext cx="8508999" cy="290051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222525"/>
            <a:ext cx="8508999" cy="505304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660904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506687"/>
            <a:ext cx="8508999" cy="3179614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1161" y="936839"/>
            <a:ext cx="8508999" cy="497688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2731150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506687"/>
            <a:ext cx="8508999" cy="3179614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1161" y="936839"/>
            <a:ext cx="8508999" cy="497688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2731150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222525"/>
            <a:ext cx="8508999" cy="346377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293133E1-5289-7056-E483-775294333E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1479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222525"/>
            <a:ext cx="8508999" cy="346377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293133E1-5289-7056-E483-775294333E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1479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222525"/>
            <a:ext cx="8508999" cy="346377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4403057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222525"/>
            <a:ext cx="8508999" cy="346377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4403057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311162" y="1222524"/>
            <a:ext cx="4180910" cy="3475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13" name="Inhaltsplatzhalter 2"/>
          <p:cNvSpPr>
            <a:spLocks noGrp="1"/>
          </p:cNvSpPr>
          <p:nvPr>
            <p:ph idx="15" hasCustomPrompt="1"/>
          </p:nvPr>
        </p:nvSpPr>
        <p:spPr>
          <a:xfrm>
            <a:off x="4647179" y="1222524"/>
            <a:ext cx="4180910" cy="3475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C820FC66-B1DF-47A9-8103-CDCC888363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E9EB89DB-0FCB-44DF-1F96-9A2EDDD7D2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29014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311162" y="1222524"/>
            <a:ext cx="4180910" cy="3475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13" name="Inhaltsplatzhalter 2"/>
          <p:cNvSpPr>
            <a:spLocks noGrp="1"/>
          </p:cNvSpPr>
          <p:nvPr>
            <p:ph idx="15" hasCustomPrompt="1"/>
          </p:nvPr>
        </p:nvSpPr>
        <p:spPr>
          <a:xfrm>
            <a:off x="4647179" y="1222524"/>
            <a:ext cx="4180910" cy="3475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C820FC66-B1DF-47A9-8103-CDCC888363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E9EB89DB-0FCB-44DF-1F96-9A2EDDD7D2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29014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311162" y="1222524"/>
            <a:ext cx="4180910" cy="3475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13" name="Inhaltsplatzhalter 2"/>
          <p:cNvSpPr>
            <a:spLocks noGrp="1"/>
          </p:cNvSpPr>
          <p:nvPr>
            <p:ph idx="15" hasCustomPrompt="1"/>
          </p:nvPr>
        </p:nvSpPr>
        <p:spPr>
          <a:xfrm>
            <a:off x="4647179" y="1222524"/>
            <a:ext cx="4180910" cy="3475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C820FC66-B1DF-47A9-8103-CDCC888363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0068467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311162" y="1222524"/>
            <a:ext cx="4180910" cy="3475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13" name="Inhaltsplatzhalter 2"/>
          <p:cNvSpPr>
            <a:spLocks noGrp="1"/>
          </p:cNvSpPr>
          <p:nvPr>
            <p:ph idx="15" hasCustomPrompt="1"/>
          </p:nvPr>
        </p:nvSpPr>
        <p:spPr>
          <a:xfrm>
            <a:off x="4647179" y="1222524"/>
            <a:ext cx="4180910" cy="3475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C820FC66-B1DF-47A9-8103-CDCC888363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0068467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de-DE" noProof="0" dirty="0"/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1771076"/>
            <a:ext cx="4188333" cy="2924750"/>
          </a:xfrm>
          <a:prstGeom prst="rect">
            <a:avLst/>
          </a:prstGeom>
        </p:spPr>
        <p:txBody>
          <a:bodyPr lIns="0" rIns="0"/>
          <a:lstStyle>
            <a:lvl1pPr>
              <a:defRPr lang="de-DE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400"/>
            </a:lvl2pPr>
            <a:lvl3pPr>
              <a:defRPr sz="14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38677" y="1771077"/>
            <a:ext cx="4180392" cy="292475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82BEFDB1-C0BE-4875-BD7E-86FDD31F7C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9AEF4677-339F-8CA2-B0ED-473D9EA817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de-DE" noProof="0" dirty="0"/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1771076"/>
            <a:ext cx="4188333" cy="2924750"/>
          </a:xfrm>
          <a:prstGeom prst="rect">
            <a:avLst/>
          </a:prstGeom>
        </p:spPr>
        <p:txBody>
          <a:bodyPr lIns="0" rIns="0"/>
          <a:lstStyle>
            <a:lvl1pPr>
              <a:defRPr lang="de-DE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400"/>
            </a:lvl2pPr>
            <a:lvl3pPr>
              <a:defRPr sz="14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38677" y="1771077"/>
            <a:ext cx="4180392" cy="292475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82BEFDB1-C0BE-4875-BD7E-86FDD31F7C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9AEF4677-339F-8CA2-B0ED-473D9EA817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de-DE" noProof="0" dirty="0"/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1771076"/>
            <a:ext cx="4188333" cy="2924750"/>
          </a:xfrm>
          <a:prstGeom prst="rect">
            <a:avLst/>
          </a:prstGeom>
        </p:spPr>
        <p:txBody>
          <a:bodyPr lIns="0" rIns="0"/>
          <a:lstStyle>
            <a:lvl1pPr>
              <a:defRPr lang="de-DE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400"/>
            </a:lvl2pPr>
            <a:lvl3pPr>
              <a:defRPr sz="14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38677" y="1771077"/>
            <a:ext cx="4180392" cy="292475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82BEFDB1-C0BE-4875-BD7E-86FDD31F7C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0456574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de-DE" noProof="0" dirty="0"/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1771076"/>
            <a:ext cx="4188333" cy="2924750"/>
          </a:xfrm>
          <a:prstGeom prst="rect">
            <a:avLst/>
          </a:prstGeom>
        </p:spPr>
        <p:txBody>
          <a:bodyPr lIns="0" rIns="0"/>
          <a:lstStyle>
            <a:lvl1pPr>
              <a:defRPr lang="de-DE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400"/>
            </a:lvl2pPr>
            <a:lvl3pPr>
              <a:defRPr sz="14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38677" y="1771077"/>
            <a:ext cx="4180392" cy="292475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82BEFDB1-C0BE-4875-BD7E-86FDD31F7C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0456574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2152650"/>
            <a:ext cx="9144000" cy="299085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de-DE" noProof="0" dirty="0"/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1771076"/>
            <a:ext cx="4197858" cy="2934274"/>
          </a:xfrm>
          <a:prstGeom prst="rect">
            <a:avLst/>
          </a:prstGeom>
        </p:spPr>
        <p:txBody>
          <a:bodyPr lIns="0" rIns="0"/>
          <a:lstStyle>
            <a:lvl1pPr>
              <a:defRPr lang="de-DE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400"/>
            </a:lvl2pPr>
            <a:lvl3pPr>
              <a:defRPr sz="14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48200" y="1771076"/>
            <a:ext cx="4180392" cy="2915225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9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D4303ED8-136B-40E2-A690-FE4668647E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B396E02D-F2E0-1B1F-A258-256C442E53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2152650"/>
            <a:ext cx="9144000" cy="299085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de-DE" noProof="0" dirty="0"/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1771076"/>
            <a:ext cx="4197858" cy="2934274"/>
          </a:xfrm>
          <a:prstGeom prst="rect">
            <a:avLst/>
          </a:prstGeom>
        </p:spPr>
        <p:txBody>
          <a:bodyPr lIns="0" rIns="0"/>
          <a:lstStyle>
            <a:lvl1pPr>
              <a:defRPr lang="de-DE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400"/>
            </a:lvl2pPr>
            <a:lvl3pPr>
              <a:defRPr sz="14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48200" y="1771076"/>
            <a:ext cx="4180392" cy="2915225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9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D4303ED8-136B-40E2-A690-FE4668647E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B396E02D-F2E0-1B1F-A258-256C442E53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1771076"/>
            <a:ext cx="9144000" cy="337242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de-DE" noProof="0" dirty="0"/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1771076"/>
            <a:ext cx="4197858" cy="2934274"/>
          </a:xfrm>
          <a:prstGeom prst="rect">
            <a:avLst/>
          </a:prstGeom>
        </p:spPr>
        <p:txBody>
          <a:bodyPr lIns="0" rIns="0"/>
          <a:lstStyle>
            <a:lvl1pPr>
              <a:defRPr lang="de-DE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400"/>
            </a:lvl2pPr>
            <a:lvl3pPr>
              <a:defRPr sz="14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48200" y="1771076"/>
            <a:ext cx="4180392" cy="2915225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9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D4303ED8-136B-40E2-A690-FE4668647E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702900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1771076"/>
            <a:ext cx="9144000" cy="337242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de-DE" noProof="0" dirty="0"/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1771076"/>
            <a:ext cx="4197858" cy="2934274"/>
          </a:xfrm>
          <a:prstGeom prst="rect">
            <a:avLst/>
          </a:prstGeom>
        </p:spPr>
        <p:txBody>
          <a:bodyPr lIns="0" rIns="0"/>
          <a:lstStyle>
            <a:lvl1pPr>
              <a:defRPr lang="de-DE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400"/>
            </a:lvl2pPr>
            <a:lvl3pPr>
              <a:defRPr sz="14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48200" y="1771076"/>
            <a:ext cx="4180392" cy="2915225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9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D4303ED8-136B-40E2-A690-FE4668647E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702900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de-DE" noProof="0" dirty="0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1771076"/>
            <a:ext cx="9144000" cy="3367344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endParaRPr lang="de-DE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8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B1164939-4755-42C9-9079-2B5AE284E2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5FE9A9B3-89BF-F3DC-FA80-DEDD36A472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de-DE" noProof="0" dirty="0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1771076"/>
            <a:ext cx="9144000" cy="3367344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endParaRPr lang="de-DE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8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B1164939-4755-42C9-9079-2B5AE284E2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5FE9A9B3-89BF-F3DC-FA80-DEDD36A472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de-DE" noProof="0" dirty="0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1771076"/>
            <a:ext cx="9144000" cy="3367344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endParaRPr lang="de-DE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8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B1164939-4755-42C9-9079-2B5AE284E2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611215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de-DE" noProof="0" dirty="0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1771076"/>
            <a:ext cx="9144000" cy="3367344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endParaRPr lang="de-DE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8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B1164939-4755-42C9-9079-2B5AE284E2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611215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222524"/>
            <a:ext cx="9144000" cy="3920975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6F6AFFF9-3343-4B1B-8898-C1F255D031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FB6134F2-2761-390F-47D1-C1565FBC87C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79873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222524"/>
            <a:ext cx="9144000" cy="3920975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6F6AFFF9-3343-4B1B-8898-C1F255D031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FB6134F2-2761-390F-47D1-C1565FBC87C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798737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222524"/>
            <a:ext cx="9144000" cy="3920975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6F6AFFF9-3343-4B1B-8898-C1F255D031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28783731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222524"/>
            <a:ext cx="9144000" cy="3920975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6F6AFFF9-3343-4B1B-8898-C1F255D031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2878373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baseline="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w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3.xml"/><Relationship Id="rId4" Type="http://schemas.openxmlformats.org/officeDocument/2006/relationships/image" Target="../media/image3.jpeg"/><Relationship Id="rId5" Type="http://schemas.openxmlformats.org/officeDocument/2006/relationships/image" Target="../media/image4.emf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theme" Target="../theme/theme4.xml"/><Relationship Id="rId4" Type="http://schemas.openxmlformats.org/officeDocument/2006/relationships/image" Target="../media/image1.wmf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Relationship Id="rId9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5.xml"/><Relationship Id="rId19" Type="http://schemas.openxmlformats.org/officeDocument/2006/relationships/theme" Target="../theme/theme5.xml"/><Relationship Id="rId20" Type="http://schemas.openxmlformats.org/officeDocument/2006/relationships/image" Target="../media/image1.wmf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Relationship Id="rId9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5.xml"/><Relationship Id="rId19" Type="http://schemas.openxmlformats.org/officeDocument/2006/relationships/theme" Target="../theme/theme5.xml"/><Relationship Id="rId20" Type="http://schemas.openxmlformats.org/officeDocument/2006/relationships/image" Target="../media/image1.wmf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theme" Target="../theme/theme6.xml"/><Relationship Id="rId3" Type="http://schemas.openxmlformats.org/officeDocument/2006/relationships/image" Target="../media/image4.emf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theme" Target="../theme/theme7.xml"/><Relationship Id="rId3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7829538" cy="28851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Emirhan Nadir Karaman | Master's Thesis in Informatics | TUM | 01. August 2026</a:t>
            </a:r>
            <a:endParaRPr lang="en-US" dirty="0"/>
          </a:p>
        </p:txBody>
      </p:sp>
      <p:sp>
        <p:nvSpPr>
          <p:cNvPr id="11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5" name="Bild 8" descr="20150416 tum logo blau png final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18800" y="324000"/>
            <a:ext cx="604774" cy="31851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hf hdr="0" dt="0"/>
  <p:txStyles>
    <p:titleStyle>
      <a:lvl1pPr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6966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feld 22"/>
          <p:cNvSpPr txBox="1"/>
          <p:nvPr/>
        </p:nvSpPr>
        <p:spPr>
          <a:xfrm>
            <a:off x="7713330" y="4922462"/>
            <a:ext cx="1115376" cy="210507"/>
          </a:xfrm>
          <a:prstGeom prst="rect">
            <a:avLst/>
          </a:prstGeom>
        </p:spPr>
        <p:txBody>
          <a:bodyPr wrap="square" lIns="0" tIns="0" rIns="0" bIns="0" rtlCol="0" anchor="b" anchorCtr="0">
            <a:spAutoFit/>
          </a:bodyPr>
          <a:lstStyle/>
          <a:p>
            <a:pPr algn="r">
              <a:lnSpc>
                <a:spcPct val="114000"/>
              </a:lnSpc>
            </a:pPr>
            <a:fld id="{C51078C5-4710-4254-8001-F1C0900803FD}" type="slidenum">
              <a:rPr lang="de-DE" sz="1200" smtClean="0">
                <a:latin typeface="+mn-lt"/>
                <a:cs typeface="Arial" pitchFamily="34" charset="0"/>
              </a:rPr>
              <a:pPr algn="r">
                <a:lnSpc>
                  <a:spcPct val="114000"/>
                </a:lnSpc>
              </a:pPr>
              <a:t>‹#›</a:t>
            </a:fld>
            <a:endParaRPr lang="de-DE" sz="1200" dirty="0">
              <a:latin typeface="+mn-lt"/>
              <a:cs typeface="Arial" pitchFamily="34" charset="0"/>
            </a:endParaRPr>
          </a:p>
        </p:txBody>
      </p:sp>
      <p:pic>
        <p:nvPicPr>
          <p:cNvPr id="5" name="Bild 4" descr="Fahnen_HG.jpg"/>
          <p:cNvPicPr>
            <a:picLocks noChangeAspect="1"/>
          </p:cNvPicPr>
          <p:nvPr/>
        </p:nvPicPr>
        <p:blipFill>
          <a:blip r:embed="rId4" cstate="screen"/>
          <a:srcRect l="398" t="14167" b="1083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8800" y="324000"/>
            <a:ext cx="599513" cy="320288"/>
          </a:xfrm>
          <a:prstGeom prst="rect">
            <a:avLst/>
          </a:prstGeom>
        </p:spPr>
      </p:pic>
      <p:sp>
        <p:nvSpPr>
          <p:cNvPr id="8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Emirhan Nadir Karaman | Master's Thesis in Informatics | TUM | 01. August 2026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724" r:id="rId2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Emirhan Nadir Karaman | Master's Thesis in Informatics | TUM | 01. August 2026</a:t>
            </a:r>
            <a:endParaRPr lang="en-US" dirty="0"/>
          </a:p>
        </p:txBody>
      </p:sp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8411" y="324000"/>
            <a:ext cx="604774" cy="318516"/>
          </a:xfrm>
          <a:prstGeom prst="rect">
            <a:avLst/>
          </a:prstGeom>
        </p:spPr>
      </p:pic>
      <p:sp>
        <p:nvSpPr>
          <p:cNvPr id="11" name="Textfeld 10"/>
          <p:cNvSpPr txBox="1"/>
          <p:nvPr userDrawn="1"/>
        </p:nvSpPr>
        <p:spPr>
          <a:xfrm>
            <a:off x="319506" y="321468"/>
            <a:ext cx="7160425" cy="3462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lang="en-US" sz="800" dirty="0">
                <a:solidFill>
                  <a:schemeClr val="tx2"/>
                </a:solidFill>
                <a:latin typeface="+mn-lt"/>
              </a:rPr>
              <a:t>Chair of Connected Mobility</a:t>
            </a:r>
            <a:endParaRPr lang="de-DE" sz="800" kern="1200" dirty="0">
              <a:solidFill>
                <a:schemeClr val="tx2"/>
              </a:solidFill>
              <a:latin typeface="+mn-lt"/>
              <a:ea typeface="+mn-ea"/>
              <a:cs typeface="Arial" charset="0"/>
            </a:endParaRPr>
          </a:p>
          <a:p>
            <a:pPr>
              <a:lnSpc>
                <a:spcPts val="900"/>
              </a:lnSpc>
            </a:pPr>
            <a:r>
              <a:rPr lang="en-US" sz="800" kern="1200" dirty="0">
                <a:solidFill>
                  <a:schemeClr val="tx2"/>
                </a:solidFill>
                <a:latin typeface="+mn-lt"/>
                <a:ea typeface="+mn-ea"/>
                <a:cs typeface="Arial" charset="0"/>
              </a:rPr>
              <a:t>Department of Informatics</a:t>
            </a:r>
            <a:endParaRPr lang="de-DE" sz="800" kern="1200" dirty="0">
              <a:solidFill>
                <a:schemeClr val="tx2"/>
              </a:solidFill>
              <a:latin typeface="+mn-lt"/>
              <a:ea typeface="+mn-ea"/>
              <a:cs typeface="Arial" charset="0"/>
            </a:endParaRPr>
          </a:p>
          <a:p>
            <a:pPr>
              <a:lnSpc>
                <a:spcPts val="900"/>
              </a:lnSpc>
            </a:pPr>
            <a:r>
              <a:rPr lang="de-DE" sz="800" baseline="0" dirty="0">
                <a:solidFill>
                  <a:schemeClr val="tx2"/>
                </a:solidFill>
                <a:latin typeface="+mn-lt"/>
              </a:rPr>
              <a:t>Technical University of Munich</a:t>
            </a:r>
            <a:endParaRPr lang="de-DE" sz="800" dirty="0">
              <a:solidFill>
                <a:schemeClr val="tx2"/>
              </a:solidFill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 2" descr="20150416 tum logo blau png final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18411" y="324000"/>
            <a:ext cx="604774" cy="318516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Emirhan Nadir Karaman | Master's Thesis in Informatics | TUM | 01. August 2026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54" r:id="rId2"/>
    <p:sldLayoutId id="2147483716" r:id="rId3"/>
    <p:sldLayoutId id="2147483704" r:id="rId4"/>
    <p:sldLayoutId id="2147483714" r:id="rId5"/>
    <p:sldLayoutId id="2147483713" r:id="rId6"/>
    <p:sldLayoutId id="2147483712" r:id="rId7"/>
    <p:sldLayoutId id="2147483715" r:id="rId8"/>
    <p:sldLayoutId id="2147483657" r:id="rId9"/>
    <p:sldLayoutId id="2147483717" r:id="rId10"/>
    <p:sldLayoutId id="2147483711" r:id="rId11"/>
    <p:sldLayoutId id="2147483718" r:id="rId12"/>
    <p:sldLayoutId id="2147483703" r:id="rId13"/>
    <p:sldLayoutId id="2147483719" r:id="rId14"/>
    <p:sldLayoutId id="2147483653" r:id="rId15"/>
    <p:sldLayoutId id="2147483721" r:id="rId16"/>
    <p:sldLayoutId id="2147483656" r:id="rId17"/>
    <p:sldLayoutId id="2147483720" r:id="rId18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5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 2" descr="20150416 tum logo blau png final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18411" y="324000"/>
            <a:ext cx="604774" cy="318516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Emirhan Nadir Karaman | Master's Thesis in Informatics | TUM | 01. August 2026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54" r:id="rId2"/>
    <p:sldLayoutId id="2147483716" r:id="rId3"/>
    <p:sldLayoutId id="2147483704" r:id="rId4"/>
    <p:sldLayoutId id="2147483714" r:id="rId5"/>
    <p:sldLayoutId id="2147483713" r:id="rId6"/>
    <p:sldLayoutId id="2147483712" r:id="rId7"/>
    <p:sldLayoutId id="2147483715" r:id="rId8"/>
    <p:sldLayoutId id="2147483657" r:id="rId9"/>
    <p:sldLayoutId id="2147483717" r:id="rId10"/>
    <p:sldLayoutId id="2147483711" r:id="rId11"/>
    <p:sldLayoutId id="2147483718" r:id="rId12"/>
    <p:sldLayoutId id="2147483703" r:id="rId13"/>
    <p:sldLayoutId id="2147483719" r:id="rId14"/>
    <p:sldLayoutId id="2147483653" r:id="rId15"/>
    <p:sldLayoutId id="2147483721" r:id="rId16"/>
    <p:sldLayoutId id="2147483656" r:id="rId17"/>
    <p:sldLayoutId id="2147483720" r:id="rId18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5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 bwMode="hidden"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/>
          </a:p>
        </p:txBody>
      </p:sp>
      <p:pic>
        <p:nvPicPr>
          <p:cNvPr id="4" name="Bild 3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8218800" y="324000"/>
            <a:ext cx="599513" cy="320288"/>
          </a:xfrm>
          <a:prstGeom prst="rect">
            <a:avLst/>
          </a:prstGeom>
        </p:spPr>
      </p:pic>
      <p:sp>
        <p:nvSpPr>
          <p:cNvPr id="7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Emirhan Nadir Karaman | Master's Thesis in Informatics | TUM | 01. August 2026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 bwMode="hidden"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>
              <a:solidFill>
                <a:schemeClr val="bg1"/>
              </a:solidFill>
            </a:endParaRPr>
          </a:p>
        </p:txBody>
      </p:sp>
      <p:pic>
        <p:nvPicPr>
          <p:cNvPr id="4" name="Bild 3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8218800" y="324000"/>
            <a:ext cx="599513" cy="320288"/>
          </a:xfrm>
          <a:prstGeom prst="rect">
            <a:avLst/>
          </a:prstGeom>
        </p:spPr>
      </p:pic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Emirhan Nadir Karaman | Master's Thesis in Informatics | TUM | 01. August 2026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9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0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3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4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5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6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0"/>
          </p:nvPr>
        </p:nvSpPr>
        <p:spPr>
          <a:xfrm>
            <a:off x="319090" y="1934817"/>
            <a:ext cx="6381749" cy="2236683"/>
          </a:xfrm>
        </p:spPr>
        <p:txBody>
          <a:bodyPr/>
          <a:lstStyle/>
          <a:p>
            <a:r>
              <a:rPr lang="de-DE" sz="1600" dirty="0">
                <a:solidFill>
                  <a:schemeClr val="tx1"/>
                </a:solidFill>
              </a:rPr>
              <a:t>Master‘s Thesis in </a:t>
            </a:r>
            <a:r>
              <a:rPr lang="de-DE" sz="1600" dirty="0" err="1">
                <a:solidFill>
                  <a:schemeClr val="tx1"/>
                </a:solidFill>
              </a:rPr>
              <a:t>Informatics</a:t>
            </a:r>
            <a:endParaRPr lang="de-DE" sz="1600" dirty="0">
              <a:solidFill>
                <a:schemeClr val="tx1"/>
              </a:solidFill>
            </a:endParaRPr>
          </a:p>
          <a:p>
            <a:r>
              <a:rPr lang="de-DE" sz="1600" dirty="0">
                <a:solidFill>
                  <a:schemeClr val="tx1"/>
                </a:solidFill>
              </a:rPr>
              <a:t>Emirhan Nadir Karaman</a:t>
            </a:r>
          </a:p>
          <a:p>
            <a:endParaRPr lang="de-DE" sz="600" dirty="0">
              <a:solidFill>
                <a:schemeClr val="tx1"/>
              </a:solidFill>
            </a:endParaRPr>
          </a:p>
          <a:p>
            <a:r>
              <a:rPr lang="de-DE" dirty="0">
                <a:solidFill>
                  <a:schemeClr val="tx1"/>
                </a:solidFill>
              </a:rPr>
              <a:t>Technische Universität München</a:t>
            </a:r>
          </a:p>
          <a:p>
            <a:r>
              <a:rPr lang="de-DE" dirty="0">
                <a:solidFill>
                  <a:schemeClr val="tx1"/>
                </a:solidFill>
              </a:rPr>
              <a:t>School of </a:t>
            </a:r>
            <a:r>
              <a:rPr lang="de-DE" dirty="0" err="1">
                <a:solidFill>
                  <a:schemeClr val="tx1"/>
                </a:solidFill>
              </a:rPr>
              <a:t>Computation</a:t>
            </a:r>
            <a:r>
              <a:rPr lang="de-DE" dirty="0">
                <a:solidFill>
                  <a:schemeClr val="tx1"/>
                </a:solidFill>
              </a:rPr>
              <a:t>, Information and Technology</a:t>
            </a:r>
          </a:p>
          <a:p>
            <a:r>
              <a:rPr lang="de-DE" dirty="0">
                <a:solidFill>
                  <a:schemeClr val="tx1"/>
                </a:solidFill>
              </a:rPr>
              <a:t>Chair of </a:t>
            </a:r>
            <a:r>
              <a:rPr lang="de-DE" dirty="0" err="1">
                <a:solidFill>
                  <a:schemeClr val="tx1"/>
                </a:solidFill>
              </a:rPr>
              <a:t>Connected</a:t>
            </a:r>
            <a:r>
              <a:rPr lang="de-DE" dirty="0">
                <a:solidFill>
                  <a:schemeClr val="tx1"/>
                </a:solidFill>
              </a:rPr>
              <a:t> Mobility</a:t>
            </a:r>
          </a:p>
          <a:p>
            <a:r>
              <a:rPr lang="de-DE" dirty="0">
                <a:solidFill>
                  <a:schemeClr val="tx1"/>
                </a:solidFill>
              </a:rPr>
              <a:t>Supervisor: Frederic Mrozinski, </a:t>
            </a:r>
            <a:r>
              <a:rPr lang="de-DE" dirty="0" err="1">
                <a:solidFill>
                  <a:schemeClr val="tx1"/>
                </a:solidFill>
              </a:rPr>
              <a:t>M.Sc</a:t>
            </a:r>
            <a:r>
              <a:rPr lang="de-DE" dirty="0">
                <a:solidFill>
                  <a:schemeClr val="tx1"/>
                </a:solidFill>
              </a:rPr>
              <a:t>.</a:t>
            </a:r>
          </a:p>
          <a:p>
            <a:r>
              <a:rPr lang="de-DE" dirty="0">
                <a:solidFill>
                  <a:schemeClr val="tx1"/>
                </a:solidFill>
              </a:rPr>
              <a:t>Examiner: </a:t>
            </a:r>
            <a:r>
              <a:rPr lang="de-DE" dirty="0" err="1">
                <a:solidFill>
                  <a:schemeClr val="tx1"/>
                </a:solidFill>
              </a:rPr>
              <a:t>apl</a:t>
            </a:r>
            <a:r>
              <a:rPr lang="de-DE" dirty="0">
                <a:solidFill>
                  <a:schemeClr val="tx1"/>
                </a:solidFill>
              </a:rPr>
              <a:t>. Prof. Dr. Georg Groh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r>
              <a:rPr lang="en-US" dirty="0">
                <a:solidFill>
                  <a:schemeClr val="tx1"/>
                </a:solidFill>
              </a:rPr>
              <a:t>Munich, 11. August 2026</a:t>
            </a:r>
          </a:p>
        </p:txBody>
      </p:sp>
      <p:pic>
        <p:nvPicPr>
          <p:cNvPr id="5" name="Bild 4" descr="TUM_Glockenturm.t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326" y="2288521"/>
            <a:ext cx="2919367" cy="2548064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B90A71CA-71E6-3728-DD59-CDF789B3E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300" dirty="0">
                <a:solidFill>
                  <a:srgbClr val="000000"/>
                </a:solidFill>
              </a:rPr>
              <a:t>A Pipeline for </a:t>
            </a:r>
            <a:r>
              <a:rPr sz="2300" dirty="0" err="1">
                <a:solidFill>
                  <a:srgbClr val="000000"/>
                </a:solidFill>
              </a:rPr>
              <a:t>Extracting</a:t>
            </a:r>
            <a:r>
              <a:rPr sz="2300" dirty="0">
                <a:solidFill>
                  <a:srgbClr val="000000"/>
                </a:solidFill>
              </a:rPr>
              <a:t> Simple Rules </a:t>
            </a:r>
            <a:r>
              <a:rPr sz="2300" dirty="0" err="1">
                <a:solidFill>
                  <a:srgbClr val="000000"/>
                </a:solidFill>
              </a:rPr>
              <a:t>from</a:t>
            </a:r>
            <a:r>
              <a:rPr sz="2300" dirty="0">
                <a:solidFill>
                  <a:srgbClr val="000000"/>
                </a:solidFill>
              </a:rPr>
              <a:t> Medical </a:t>
            </a:r>
            <a:r>
              <a:rPr sz="2300" dirty="0" err="1">
                <a:solidFill>
                  <a:srgbClr val="000000"/>
                </a:solidFill>
              </a:rPr>
              <a:t>Literature</a:t>
            </a:r>
            <a:endParaRPr sz="2300" dirty="0">
              <a:solidFill>
                <a:srgbClr val="000000"/>
              </a:solidFill>
            </a:endParaRPr>
          </a:p>
          <a:p>
            <a:r>
              <a:rPr sz="2300" dirty="0">
                <a:solidFill>
                  <a:srgbClr val="000000"/>
                </a:solidFill>
              </a:rPr>
              <a:t>for </a:t>
            </a:r>
            <a:r>
              <a:rPr sz="2300" dirty="0" err="1">
                <a:solidFill>
                  <a:srgbClr val="000000"/>
                </a:solidFill>
              </a:rPr>
              <a:t>Automatic</a:t>
            </a:r>
            <a:r>
              <a:rPr sz="2300" dirty="0">
                <a:solidFill>
                  <a:srgbClr val="000000"/>
                </a:solidFill>
              </a:rPr>
              <a:t> Disease </a:t>
            </a:r>
            <a:r>
              <a:rPr sz="2300" dirty="0" err="1">
                <a:solidFill>
                  <a:srgbClr val="000000"/>
                </a:solidFill>
              </a:rPr>
              <a:t>Detection</a:t>
            </a:r>
            <a:r>
              <a:rPr sz="2300" dirty="0">
                <a:solidFill>
                  <a:srgbClr val="000000"/>
                </a:solidFill>
              </a:rPr>
              <a:t> in </a:t>
            </a:r>
            <a:r>
              <a:rPr sz="2300" dirty="0" err="1">
                <a:solidFill>
                  <a:srgbClr val="000000"/>
                </a:solidFill>
              </a:rPr>
              <a:t>Histopathology</a:t>
            </a:r>
            <a:endParaRPr sz="23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82330"/>
          </a:xfrm>
        </p:spPr>
        <p:txBody>
          <a:bodyPr wrap="square" anchor="t"/>
          <a:lstStyle/>
          <a:p>
            <a:pPr algn="l"/>
            <a:r>
              <a:rPr sz="2200" b="0" dirty="0" err="1">
                <a:solidFill>
                  <a:srgbClr val="000000"/>
                </a:solidFill>
              </a:rPr>
              <a:t>Diagnostic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knowledge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is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trapped</a:t>
            </a:r>
            <a:r>
              <a:rPr sz="2200" b="0" dirty="0">
                <a:solidFill>
                  <a:srgbClr val="000000"/>
                </a:solidFill>
              </a:rPr>
              <a:t> in </a:t>
            </a:r>
            <a:r>
              <a:rPr sz="2200" b="0" dirty="0" err="1">
                <a:solidFill>
                  <a:srgbClr val="000000"/>
                </a:solidFill>
              </a:rPr>
              <a:t>prose</a:t>
            </a:r>
            <a:r>
              <a:rPr lang="de-DE" sz="2200" dirty="0">
                <a:solidFill>
                  <a:srgbClr val="000000"/>
                </a:solidFill>
              </a:rPr>
              <a:t>, </a:t>
            </a:r>
            <a:r>
              <a:rPr sz="2200" b="0" dirty="0">
                <a:solidFill>
                  <a:srgbClr val="000000"/>
                </a:solidFill>
              </a:rPr>
              <a:t>and an </a:t>
            </a:r>
            <a:r>
              <a:rPr sz="2200" b="0" dirty="0" err="1">
                <a:solidFill>
                  <a:srgbClr val="000000"/>
                </a:solidFill>
              </a:rPr>
              <a:t>LLM's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word</a:t>
            </a:r>
            <a:r>
              <a:rPr sz="2200" b="0" dirty="0">
                <a:solidFill>
                  <a:srgbClr val="000000"/>
                </a:solidFill>
              </a:rPr>
              <a:t> for it </a:t>
            </a:r>
            <a:r>
              <a:rPr sz="2200" b="0" dirty="0" err="1">
                <a:solidFill>
                  <a:srgbClr val="000000"/>
                </a:solidFill>
              </a:rPr>
              <a:t>is</a:t>
            </a:r>
            <a:r>
              <a:rPr sz="2200" b="0" dirty="0">
                <a:solidFill>
                  <a:srgbClr val="000000"/>
                </a:solidFill>
              </a:rPr>
              <a:t> not </a:t>
            </a:r>
            <a:r>
              <a:rPr sz="2200" b="0" dirty="0" err="1">
                <a:solidFill>
                  <a:srgbClr val="000000"/>
                </a:solidFill>
              </a:rPr>
              <a:t>enough</a:t>
            </a:r>
            <a:endParaRPr sz="2200" b="0" dirty="0">
              <a:solidFill>
                <a:srgbClr val="00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 dirty="0">
                <a:solidFill>
                  <a:srgbClr val="0065BD"/>
                </a:solidFill>
              </a:rPr>
              <a:t>Motivation and research gap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" y="1535758"/>
            <a:ext cx="8513064" cy="1560427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0" dirty="0">
                <a:solidFill>
                  <a:srgbClr val="000000"/>
                </a:solidFill>
              </a:rPr>
              <a:t>•  Facts live in text: biomarker expression, morphology, prognostic direction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0" dirty="0">
                <a:solidFill>
                  <a:srgbClr val="000000"/>
                </a:solidFill>
              </a:rPr>
              <a:t>•  LLMs can read at scale</a:t>
            </a:r>
            <a:r>
              <a:rPr lang="en-US" sz="1600" b="0" dirty="0">
                <a:solidFill>
                  <a:srgbClr val="000000"/>
                </a:solidFill>
              </a:rPr>
              <a:t>;</a:t>
            </a:r>
            <a:r>
              <a:rPr sz="1600" b="0" dirty="0">
                <a:solidFill>
                  <a:srgbClr val="000000"/>
                </a:solidFill>
              </a:rPr>
              <a:t> but </a:t>
            </a:r>
            <a:r>
              <a:rPr lang="en-US" sz="1600" b="0" dirty="0">
                <a:solidFill>
                  <a:srgbClr val="000000"/>
                </a:solidFill>
              </a:rPr>
              <a:t>they </a:t>
            </a:r>
            <a:r>
              <a:rPr sz="1600" b="0" dirty="0">
                <a:solidFill>
                  <a:srgbClr val="000000"/>
                </a:solidFill>
              </a:rPr>
              <a:t>hallucinate, omit qualifiers, and paraphrase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0" dirty="0">
                <a:solidFill>
                  <a:srgbClr val="000000"/>
                </a:solidFill>
              </a:rPr>
              <a:t>•  A claim you cannot trace back to a </a:t>
            </a:r>
            <a:r>
              <a:rPr lang="en-US" sz="1600" b="0" dirty="0">
                <a:solidFill>
                  <a:srgbClr val="000000"/>
                </a:solidFill>
              </a:rPr>
              <a:t>source</a:t>
            </a:r>
            <a:r>
              <a:rPr sz="1600" b="0" dirty="0">
                <a:solidFill>
                  <a:srgbClr val="000000"/>
                </a:solidFill>
              </a:rPr>
              <a:t> is not usable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0" dirty="0">
                <a:solidFill>
                  <a:srgbClr val="000000"/>
                </a:solidFill>
              </a:rPr>
              <a:t>•  Components are mature in isolation; the audited end-to-end system is not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" y="3703320"/>
            <a:ext cx="8513064" cy="329321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 dirty="0">
                <a:solidFill>
                  <a:srgbClr val="005293"/>
                </a:solidFill>
              </a:rPr>
              <a:t>Auditability is a hard requirement</a:t>
            </a:r>
            <a:r>
              <a:rPr lang="en-US" sz="1900" b="1" dirty="0">
                <a:solidFill>
                  <a:srgbClr val="005293"/>
                </a:solidFill>
              </a:rPr>
              <a:t>,</a:t>
            </a:r>
            <a:r>
              <a:rPr sz="1900" b="1" dirty="0">
                <a:solidFill>
                  <a:srgbClr val="005293"/>
                </a:solidFill>
              </a:rPr>
              <a:t> not a feature added afterwards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200" b="0">
                <a:solidFill>
                  <a:srgbClr val="000000"/>
                </a:solidFill>
              </a:rPr>
              <a:t>Five research questions, each answered by a measurement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" y="1060704"/>
            <a:ext cx="8513064" cy="3012107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1300"/>
              </a:spcAft>
            </a:pPr>
            <a:r>
              <a:rPr sz="1500" b="1" dirty="0">
                <a:solidFill>
                  <a:srgbClr val="005293"/>
                </a:solidFill>
              </a:rPr>
              <a:t>RQ1</a:t>
            </a:r>
            <a:r>
              <a:rPr lang="en-US" sz="1500" b="1" dirty="0">
                <a:solidFill>
                  <a:srgbClr val="005293"/>
                </a:solidFill>
              </a:rPr>
              <a:t>: </a:t>
            </a:r>
            <a:r>
              <a:rPr sz="1500" b="1" dirty="0">
                <a:solidFill>
                  <a:srgbClr val="005293"/>
                </a:solidFill>
              </a:rPr>
              <a:t>Document extraction. </a:t>
            </a:r>
            <a:r>
              <a:rPr sz="1500" dirty="0">
                <a:solidFill>
                  <a:srgbClr val="000000"/>
                </a:solidFill>
              </a:rPr>
              <a:t>How faithfully are text, tables, figures and captions recovered</a:t>
            </a:r>
            <a:r>
              <a:rPr lang="en-US" sz="1500" dirty="0">
                <a:solidFill>
                  <a:srgbClr val="000000"/>
                </a:solidFill>
              </a:rPr>
              <a:t>, </a:t>
            </a:r>
            <a:r>
              <a:rPr sz="1500" dirty="0">
                <a:solidFill>
                  <a:srgbClr val="000000"/>
                </a:solidFill>
              </a:rPr>
              <a:t>and how much does the pipeline add over an off-the-shelf baseline?</a:t>
            </a:r>
          </a:p>
          <a:p>
            <a:pPr>
              <a:spcAft>
                <a:spcPts val="1300"/>
              </a:spcAft>
            </a:pPr>
            <a:r>
              <a:rPr sz="1500" b="1" dirty="0">
                <a:solidFill>
                  <a:srgbClr val="005293"/>
                </a:solidFill>
              </a:rPr>
              <a:t>RQ2</a:t>
            </a:r>
            <a:r>
              <a:rPr lang="en-US" sz="1500" b="1" dirty="0">
                <a:solidFill>
                  <a:srgbClr val="005293"/>
                </a:solidFill>
              </a:rPr>
              <a:t>: </a:t>
            </a:r>
            <a:r>
              <a:rPr sz="1500" b="1" dirty="0">
                <a:solidFill>
                  <a:srgbClr val="005293"/>
                </a:solidFill>
              </a:rPr>
              <a:t>Knowledge extraction &amp; provenance. </a:t>
            </a:r>
            <a:r>
              <a:rPr sz="1500" dirty="0">
                <a:solidFill>
                  <a:srgbClr val="000000"/>
                </a:solidFill>
              </a:rPr>
              <a:t>What is the quality of the extracted findings and rules, and is provenance preserved end-to-end?</a:t>
            </a:r>
          </a:p>
          <a:p>
            <a:pPr>
              <a:spcAft>
                <a:spcPts val="1300"/>
              </a:spcAft>
            </a:pPr>
            <a:r>
              <a:rPr sz="1500" b="1" dirty="0">
                <a:solidFill>
                  <a:srgbClr val="005293"/>
                </a:solidFill>
              </a:rPr>
              <a:t>RQ3</a:t>
            </a:r>
            <a:r>
              <a:rPr lang="en-US" sz="1500" b="1" dirty="0">
                <a:solidFill>
                  <a:srgbClr val="005293"/>
                </a:solidFill>
              </a:rPr>
              <a:t>: </a:t>
            </a:r>
            <a:r>
              <a:rPr sz="1500" b="1" dirty="0">
                <a:solidFill>
                  <a:srgbClr val="005293"/>
                </a:solidFill>
              </a:rPr>
              <a:t>Cost–quality trade-off. </a:t>
            </a:r>
            <a:r>
              <a:rPr sz="1500" dirty="0">
                <a:solidFill>
                  <a:srgbClr val="000000"/>
                </a:solidFill>
              </a:rPr>
              <a:t>Is the agreement-based cascade worth its cost against a single strong model?</a:t>
            </a:r>
          </a:p>
          <a:p>
            <a:pPr>
              <a:spcAft>
                <a:spcPts val="1300"/>
              </a:spcAft>
            </a:pPr>
            <a:r>
              <a:rPr sz="1500" b="1" dirty="0">
                <a:solidFill>
                  <a:srgbClr val="005293"/>
                </a:solidFill>
              </a:rPr>
              <a:t>RQ4</a:t>
            </a:r>
            <a:r>
              <a:rPr lang="en-US" sz="1500" b="1" dirty="0">
                <a:solidFill>
                  <a:srgbClr val="005293"/>
                </a:solidFill>
              </a:rPr>
              <a:t>: </a:t>
            </a:r>
            <a:r>
              <a:rPr sz="1500" b="1" dirty="0">
                <a:solidFill>
                  <a:srgbClr val="005293"/>
                </a:solidFill>
              </a:rPr>
              <a:t>Grounding &amp; relation classification. </a:t>
            </a:r>
            <a:r>
              <a:rPr sz="1500" dirty="0">
                <a:solidFill>
                  <a:srgbClr val="000000"/>
                </a:solidFill>
              </a:rPr>
              <a:t>How does one shared biomedical NLI model perform in both roles?</a:t>
            </a:r>
          </a:p>
          <a:p>
            <a:pPr>
              <a:spcAft>
                <a:spcPts val="1300"/>
              </a:spcAft>
            </a:pPr>
            <a:r>
              <a:rPr sz="1500" b="1" dirty="0">
                <a:solidFill>
                  <a:srgbClr val="005293"/>
                </a:solidFill>
              </a:rPr>
              <a:t>RQ5</a:t>
            </a:r>
            <a:r>
              <a:rPr lang="en-US" sz="1500" b="1" dirty="0">
                <a:solidFill>
                  <a:srgbClr val="005293"/>
                </a:solidFill>
              </a:rPr>
              <a:t>: </a:t>
            </a:r>
            <a:r>
              <a:rPr sz="1500" b="1" dirty="0">
                <a:solidFill>
                  <a:srgbClr val="005293"/>
                </a:solidFill>
              </a:rPr>
              <a:t>Held-out generalization. </a:t>
            </a:r>
            <a:r>
              <a:rPr sz="1500" dirty="0">
                <a:solidFill>
                  <a:srgbClr val="000000"/>
                </a:solidFill>
              </a:rPr>
              <a:t>Does a configuration calibrated on one set of papers transfer, or does it overfit?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" y="4315968"/>
            <a:ext cx="8513064" cy="221599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0" dirty="0">
                <a:solidFill>
                  <a:srgbClr val="E37222"/>
                </a:solidFill>
              </a:rPr>
              <a:t>RQ2–RQ5 are measured against LLM-generated silver labels</a:t>
            </a:r>
            <a:r>
              <a:rPr lang="en-US" sz="1200" b="0" dirty="0">
                <a:solidFill>
                  <a:srgbClr val="E37222"/>
                </a:solidFill>
              </a:rPr>
              <a:t>: </a:t>
            </a:r>
            <a:r>
              <a:rPr sz="1200" b="0" dirty="0">
                <a:solidFill>
                  <a:srgbClr val="E37222"/>
                </a:solidFill>
              </a:rPr>
              <a:t>agreement with the label</a:t>
            </a:r>
            <a:r>
              <a:rPr lang="en-US" sz="1200" b="0" dirty="0">
                <a:solidFill>
                  <a:srgbClr val="E37222"/>
                </a:solidFill>
              </a:rPr>
              <a:t>er</a:t>
            </a:r>
            <a:r>
              <a:rPr sz="1200" b="0" dirty="0">
                <a:solidFill>
                  <a:srgbClr val="E37222"/>
                </a:solidFill>
              </a:rPr>
              <a:t>, not with ground truth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200" b="0">
                <a:solidFill>
                  <a:srgbClr val="000000"/>
                </a:solidFill>
              </a:rPr>
              <a:t>Two pipelines, joined by a database that carries provenance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>
                <a:solidFill>
                  <a:srgbClr val="0065BD"/>
                </a:solidFill>
              </a:rPr>
              <a:t>End-to-end architecture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" y="1335024"/>
            <a:ext cx="8513064" cy="27432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595959"/>
                </a:solidFill>
              </a:rPr>
              <a:t>PMC Open Access PDFs  →  977 ingested papers  →  typed, traceable rule candidates</a:t>
            </a:r>
          </a:p>
        </p:txBody>
      </p:sp>
      <p:pic>
        <p:nvPicPr>
          <p:cNvPr id="14" name="Picture 13" descr="fig_system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996" y="1664208"/>
            <a:ext cx="7404007" cy="2468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10896" y="4302184"/>
            <a:ext cx="8513064" cy="310896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0" dirty="0">
                <a:solidFill>
                  <a:srgbClr val="005293"/>
                </a:solidFill>
              </a:rPr>
              <a:t>Provenance chain:  final rule → canonical rule → normal finding → MAP finding → text element → document (page, span, coordinates)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200" b="0">
                <a:solidFill>
                  <a:srgbClr val="000000"/>
                </a:solidFill>
              </a:rPr>
              <a:t>Docling plus three targeted fixes, each aimed at a named failure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 dirty="0" err="1">
                <a:solidFill>
                  <a:srgbClr val="0065BD"/>
                </a:solidFill>
              </a:rPr>
              <a:t>Docling</a:t>
            </a:r>
            <a:r>
              <a:rPr lang="en-US" sz="1350" dirty="0">
                <a:solidFill>
                  <a:srgbClr val="0065BD"/>
                </a:solidFill>
              </a:rPr>
              <a:t> backbone:</a:t>
            </a:r>
            <a:r>
              <a:rPr sz="1350" dirty="0">
                <a:solidFill>
                  <a:srgbClr val="0065BD"/>
                </a:solidFill>
              </a:rPr>
              <a:t> sole source of body text, section structure and figure regions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5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" y="1516444"/>
            <a:ext cx="8513064" cy="2260619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 b="1" dirty="0">
                <a:solidFill>
                  <a:srgbClr val="000000"/>
                </a:solidFill>
              </a:rPr>
              <a:t>•  Hybrid table detection</a:t>
            </a:r>
            <a:r>
              <a:rPr lang="en-US" sz="1600" b="1" dirty="0">
                <a:solidFill>
                  <a:srgbClr val="000000"/>
                </a:solidFill>
              </a:rPr>
              <a:t>: </a:t>
            </a:r>
            <a:r>
              <a:rPr sz="1600" b="1" dirty="0" err="1">
                <a:solidFill>
                  <a:srgbClr val="000000"/>
                </a:solidFill>
              </a:rPr>
              <a:t>Docling</a:t>
            </a:r>
            <a:r>
              <a:rPr sz="1600" b="1" dirty="0">
                <a:solidFill>
                  <a:srgbClr val="000000"/>
                </a:solidFill>
              </a:rPr>
              <a:t> + TATR, overlapping boxes merged by union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1350" dirty="0">
                <a:solidFill>
                  <a:srgbClr val="595959"/>
                </a:solidFill>
              </a:rPr>
              <a:t>targets tables </a:t>
            </a:r>
            <a:r>
              <a:rPr lang="en-US" sz="1350" dirty="0" err="1">
                <a:solidFill>
                  <a:srgbClr val="595959"/>
                </a:solidFill>
              </a:rPr>
              <a:t>Docling</a:t>
            </a:r>
            <a:r>
              <a:rPr lang="en-US" sz="1350" dirty="0">
                <a:solidFill>
                  <a:srgbClr val="595959"/>
                </a:solidFill>
              </a:rPr>
              <a:t> never proposes, e.g. split across a page boundary</a:t>
            </a:r>
            <a:endParaRPr lang="en-US" sz="1350" b="0" dirty="0">
              <a:solidFill>
                <a:srgbClr val="595959"/>
              </a:solidFill>
            </a:endParaRP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 b="1" dirty="0">
                <a:solidFill>
                  <a:srgbClr val="000000"/>
                </a:solidFill>
              </a:rPr>
              <a:t>•  Footnote expansion</a:t>
            </a:r>
            <a:r>
              <a:rPr lang="en-US" sz="1600" b="1" dirty="0">
                <a:solidFill>
                  <a:srgbClr val="000000"/>
                </a:solidFill>
              </a:rPr>
              <a:t>: </a:t>
            </a:r>
            <a:r>
              <a:rPr sz="1600" b="1" dirty="0">
                <a:solidFill>
                  <a:srgbClr val="000000"/>
                </a:solidFill>
              </a:rPr>
              <a:t>table crop extended downward ×1.2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sz="1350" b="0" dirty="0">
                <a:solidFill>
                  <a:srgbClr val="595959"/>
                </a:solidFill>
              </a:rPr>
              <a:t>targets footnotes cut off below a tight crop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 b="1" dirty="0">
                <a:solidFill>
                  <a:srgbClr val="000000"/>
                </a:solidFill>
              </a:rPr>
              <a:t>•  Figure post-processing</a:t>
            </a:r>
            <a:r>
              <a:rPr lang="en-US" sz="1600" b="1" dirty="0">
                <a:solidFill>
                  <a:srgbClr val="000000"/>
                </a:solidFill>
              </a:rPr>
              <a:t>: </a:t>
            </a:r>
            <a:r>
              <a:rPr sz="1600" b="1" dirty="0">
                <a:solidFill>
                  <a:srgbClr val="000000"/>
                </a:solidFill>
              </a:rPr>
              <a:t>icon filter (&lt;50 pt) and a geometric caption matcher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sz="1350" b="0" dirty="0">
                <a:solidFill>
                  <a:srgbClr val="595959"/>
                </a:solidFill>
              </a:rPr>
              <a:t>targets logos emitted as figures, and captions attached to the wrong figure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 b="1" dirty="0">
                <a:solidFill>
                  <a:srgbClr val="000000"/>
                </a:solidFill>
              </a:rPr>
              <a:t>•  Two-pass ghost-text removal</a:t>
            </a:r>
            <a:r>
              <a:rPr lang="en-US" sz="1600" b="1" dirty="0">
                <a:solidFill>
                  <a:srgbClr val="000000"/>
                </a:solidFill>
              </a:rPr>
              <a:t>: </a:t>
            </a:r>
            <a:r>
              <a:rPr sz="1600" b="1" dirty="0">
                <a:solidFill>
                  <a:srgbClr val="000000"/>
                </a:solidFill>
              </a:rPr>
              <a:t>invisible text redacted, layout re-extracted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" y="4279392"/>
            <a:ext cx="8513064" cy="229294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0" dirty="0">
                <a:solidFill>
                  <a:srgbClr val="8C8C8C"/>
                </a:solidFill>
              </a:rPr>
              <a:t>Input is the PDF only</a:t>
            </a:r>
            <a:r>
              <a:rPr lang="en-US" sz="1250" b="0" dirty="0">
                <a:solidFill>
                  <a:srgbClr val="8C8C8C"/>
                </a:solidFill>
              </a:rPr>
              <a:t>: </a:t>
            </a:r>
            <a:r>
              <a:rPr sz="1250" b="0" dirty="0">
                <a:solidFill>
                  <a:srgbClr val="8C8C8C"/>
                </a:solidFill>
              </a:rPr>
              <a:t>never JATS-XML, by design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000" b="0">
                <a:solidFill>
                  <a:srgbClr val="000000"/>
                </a:solidFill>
              </a:rPr>
              <a:t>Two-pass extraction removes an invisible “FOR PEER REVIEW” header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>
                <a:solidFill>
                  <a:srgbClr val="0065BD"/>
                </a:solidFill>
              </a:rPr>
              <a:t>PMC11755463 p2 · rule R1_blank_pixels · 45 of 67 nodes on this page rejected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6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13" name="Picture 12" descr="10b_ghost_text_header_p02_z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4389" y="1371600"/>
            <a:ext cx="5566077" cy="1417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10896" y="2999232"/>
            <a:ext cx="8513064" cy="1334724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1" dirty="0">
                <a:solidFill>
                  <a:srgbClr val="000000"/>
                </a:solidFill>
              </a:rPr>
              <a:t>The purple boxes are text </a:t>
            </a:r>
            <a:r>
              <a:rPr sz="1400" b="1" dirty="0" err="1">
                <a:solidFill>
                  <a:srgbClr val="000000"/>
                </a:solidFill>
              </a:rPr>
              <a:t>Docling</a:t>
            </a:r>
            <a:r>
              <a:rPr sz="1400" b="1" dirty="0">
                <a:solidFill>
                  <a:srgbClr val="000000"/>
                </a:solidFill>
              </a:rPr>
              <a:t> extracted. None of it is visible in the rendered page.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300" b="0" dirty="0">
                <a:solidFill>
                  <a:srgbClr val="000000"/>
                </a:solidFill>
              </a:rPr>
              <a:t>The publisher left the pre-publication header “Dermatopathology 2025, 12, x FOR PEER REVIEW” in an invisible layer, on top of the real one.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 dirty="0">
                <a:solidFill>
                  <a:srgbClr val="595959"/>
                </a:solidFill>
              </a:rPr>
              <a:t>Detection is pixel-based: render the element's bounding box, test whether anything was actually drawn. 7,595 of 9,836 rejections corpus-wide come from this rule.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200" b="0" dirty="0">
                <a:solidFill>
                  <a:srgbClr val="000000"/>
                </a:solidFill>
              </a:rPr>
              <a:t>Illustrative </a:t>
            </a:r>
            <a:r>
              <a:rPr sz="2200" b="0" dirty="0" err="1">
                <a:solidFill>
                  <a:srgbClr val="000000"/>
                </a:solidFill>
              </a:rPr>
              <a:t>extraction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example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from</a:t>
            </a:r>
            <a:r>
              <a:rPr sz="2200" b="0" dirty="0">
                <a:solidFill>
                  <a:srgbClr val="000000"/>
                </a:solidFill>
              </a:rPr>
              <a:t> the </a:t>
            </a:r>
            <a:r>
              <a:rPr sz="2200" b="0" dirty="0" err="1">
                <a:solidFill>
                  <a:srgbClr val="000000"/>
                </a:solidFill>
              </a:rPr>
              <a:t>evaluation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corpus</a:t>
            </a:r>
            <a:endParaRPr sz="2200" b="0" dirty="0">
              <a:solidFill>
                <a:srgbClr val="000000"/>
              </a:solidFill>
            </a:endParaRP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7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8" name="Picture 7" descr="fig_docling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006" y="987552"/>
            <a:ext cx="7996843" cy="3383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0896" y="4462272"/>
            <a:ext cx="8513064" cy="213905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50" b="0" dirty="0">
                <a:solidFill>
                  <a:srgbClr val="8C8C8C"/>
                </a:solidFill>
              </a:rPr>
              <a:t>Illustration only</a:t>
            </a:r>
            <a:r>
              <a:rPr lang="en-US" sz="1150" b="0" dirty="0">
                <a:solidFill>
                  <a:srgbClr val="8C8C8C"/>
                </a:solidFill>
              </a:rPr>
              <a:t>, </a:t>
            </a:r>
            <a:r>
              <a:rPr sz="1150" b="0" dirty="0">
                <a:solidFill>
                  <a:srgbClr val="8C8C8C"/>
                </a:solidFill>
              </a:rPr>
              <a:t>not additional evaluation evidence. The quantitative result is on the next slide.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371961"/>
          </a:xfrm>
        </p:spPr>
        <p:txBody>
          <a:bodyPr wrap="square" anchor="t"/>
          <a:lstStyle/>
          <a:p>
            <a:pPr algn="l"/>
            <a:r>
              <a:rPr sz="2200" b="0" dirty="0">
                <a:solidFill>
                  <a:srgbClr val="000000"/>
                </a:solidFill>
              </a:rPr>
              <a:t>Seven </a:t>
            </a:r>
            <a:r>
              <a:rPr sz="2200" b="0" dirty="0" err="1">
                <a:solidFill>
                  <a:srgbClr val="000000"/>
                </a:solidFill>
              </a:rPr>
              <a:t>stages</a:t>
            </a:r>
            <a:r>
              <a:rPr lang="de-DE" sz="2200" b="0" dirty="0">
                <a:solidFill>
                  <a:srgbClr val="000000"/>
                </a:solidFill>
              </a:rPr>
              <a:t>, </a:t>
            </a:r>
            <a:r>
              <a:rPr sz="2200" b="0" dirty="0" err="1">
                <a:solidFill>
                  <a:srgbClr val="000000"/>
                </a:solidFill>
              </a:rPr>
              <a:t>only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lang="de-DE" sz="2200" b="0" dirty="0">
                <a:solidFill>
                  <a:srgbClr val="000000"/>
                </a:solidFill>
              </a:rPr>
              <a:t>the MAP </a:t>
            </a:r>
            <a:r>
              <a:rPr lang="de-DE" sz="2200" b="0" dirty="0" err="1">
                <a:solidFill>
                  <a:srgbClr val="000000"/>
                </a:solidFill>
              </a:rPr>
              <a:t>stage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is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stochastic</a:t>
            </a:r>
            <a:endParaRPr sz="2200" b="0" dirty="0">
              <a:solidFill>
                <a:srgbClr val="0000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>
                <a:solidFill>
                  <a:srgbClr val="0065BD"/>
                </a:solidFill>
              </a:rPr>
              <a:t>MAP → GROUNDING → NORMALIZE → GROUP → CANONICALIZE → RELATE → RESOLVE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8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" y="1335024"/>
            <a:ext cx="8513064" cy="252377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 dirty="0">
                <a:solidFill>
                  <a:srgbClr val="000000"/>
                </a:solidFill>
              </a:rPr>
              <a:t>Only MAP calls a language model. Every later stage merges, selects or scores</a:t>
            </a:r>
            <a:r>
              <a:rPr lang="tr-TR" sz="1400" b="1" dirty="0">
                <a:solidFill>
                  <a:srgbClr val="000000"/>
                </a:solidFill>
              </a:rPr>
              <a:t>;</a:t>
            </a:r>
            <a:r>
              <a:rPr sz="1400" b="1" dirty="0">
                <a:solidFill>
                  <a:srgbClr val="000000"/>
                </a:solidFill>
              </a:rPr>
              <a:t> it never invents.</a:t>
            </a:r>
          </a:p>
        </p:txBody>
      </p:sp>
      <p:pic>
        <p:nvPicPr>
          <p:cNvPr id="14" name="Picture 13" descr="fig_knowledge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303" y="1719072"/>
            <a:ext cx="7679392" cy="2057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10896" y="3877056"/>
            <a:ext cx="8513064" cy="870495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dirty="0">
                <a:solidFill>
                  <a:srgbClr val="595959"/>
                </a:solidFill>
              </a:rPr>
              <a:t>Typed MAP finding:  claim · subject/outcome entity · relation type · direction · category · scope · verbatim evidence · confidence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dirty="0">
                <a:solidFill>
                  <a:srgbClr val="005293"/>
                </a:solidFill>
              </a:rPr>
              <a:t>The verbatim support is overwritten with the source text looked up from the database</a:t>
            </a:r>
            <a:r>
              <a:rPr lang="en-US" sz="1250" dirty="0">
                <a:solidFill>
                  <a:srgbClr val="005293"/>
                </a:solidFill>
              </a:rPr>
              <a:t>. A</a:t>
            </a:r>
            <a:r>
              <a:rPr sz="1250" b="0" dirty="0">
                <a:solidFill>
                  <a:srgbClr val="005293"/>
                </a:solidFill>
              </a:rPr>
              <a:t> quoted span cannot be hallucinated</a:t>
            </a:r>
            <a:r>
              <a:rPr lang="en-US" sz="1250" dirty="0">
                <a:solidFill>
                  <a:srgbClr val="005293"/>
                </a:solidFill>
              </a:rPr>
              <a:t>.</a:t>
            </a:r>
            <a:endParaRPr sz="1250" b="0" dirty="0">
              <a:solidFill>
                <a:srgbClr val="005293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200" b="0" dirty="0">
                <a:solidFill>
                  <a:srgbClr val="000000"/>
                </a:solidFill>
              </a:rPr>
              <a:t>Cheap </a:t>
            </a:r>
            <a:r>
              <a:rPr sz="2200" b="0" dirty="0" err="1">
                <a:solidFill>
                  <a:srgbClr val="000000"/>
                </a:solidFill>
              </a:rPr>
              <a:t>voters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decide</a:t>
            </a:r>
            <a:r>
              <a:rPr sz="2200" b="0" dirty="0">
                <a:solidFill>
                  <a:srgbClr val="000000"/>
                </a:solidFill>
              </a:rPr>
              <a:t>; the strong </a:t>
            </a:r>
            <a:r>
              <a:rPr sz="2200" b="0" dirty="0" err="1">
                <a:solidFill>
                  <a:srgbClr val="000000"/>
                </a:solidFill>
              </a:rPr>
              <a:t>model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is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called</a:t>
            </a:r>
            <a:r>
              <a:rPr sz="2200" b="0" dirty="0">
                <a:solidFill>
                  <a:srgbClr val="000000"/>
                </a:solidFill>
              </a:rPr>
              <a:t> on </a:t>
            </a:r>
            <a:r>
              <a:rPr sz="2200" b="0" dirty="0" err="1">
                <a:solidFill>
                  <a:srgbClr val="000000"/>
                </a:solidFill>
              </a:rPr>
              <a:t>disagreement</a:t>
            </a:r>
            <a:endParaRPr sz="2200" b="0" dirty="0">
              <a:solidFill>
                <a:srgbClr val="0000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 dirty="0">
                <a:solidFill>
                  <a:srgbClr val="0065BD"/>
                </a:solidFill>
              </a:rPr>
              <a:t>Agreement-based cascading at the MAP stage</a:t>
            </a:r>
            <a:r>
              <a:rPr lang="en-US" sz="1350" dirty="0">
                <a:solidFill>
                  <a:srgbClr val="0065BD"/>
                </a:solidFill>
              </a:rPr>
              <a:t>, </a:t>
            </a:r>
            <a:r>
              <a:rPr sz="1350" dirty="0">
                <a:solidFill>
                  <a:srgbClr val="0065BD"/>
                </a:solidFill>
              </a:rPr>
              <a:t>integrated and calibrated after Kolawole et al. (2025)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9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13" name="Picture 12" descr="fig_abc_casca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3038"/>
            <a:ext cx="5760720" cy="229460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46520" y="1481328"/>
            <a:ext cx="2377440" cy="218111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 dirty="0">
                <a:solidFill>
                  <a:srgbClr val="005293"/>
                </a:solidFill>
              </a:rPr>
              <a:t>L1 </a:t>
            </a:r>
            <a:r>
              <a:rPr lang="en-US" sz="1400" b="1" dirty="0">
                <a:solidFill>
                  <a:srgbClr val="005293"/>
                </a:solidFill>
              </a:rPr>
              <a:t>– </a:t>
            </a:r>
            <a:r>
              <a:rPr sz="1400" b="1" dirty="0">
                <a:solidFill>
                  <a:srgbClr val="005293"/>
                </a:solidFill>
              </a:rPr>
              <a:t>3 cheap voters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150" b="0" dirty="0">
                <a:solidFill>
                  <a:srgbClr val="595959"/>
                </a:solidFill>
              </a:rPr>
              <a:t>Gemini Flash-Lite · GPT-4o mini · GPT-4.1 nano</a:t>
            </a:r>
            <a:r>
              <a:rPr lang="tr-TR" sz="1150" dirty="0">
                <a:solidFill>
                  <a:srgbClr val="595959"/>
                </a:solidFill>
              </a:rPr>
              <a:t>: </a:t>
            </a:r>
            <a:r>
              <a:rPr sz="1150" b="0" dirty="0">
                <a:solidFill>
                  <a:srgbClr val="595959"/>
                </a:solidFill>
              </a:rPr>
              <a:t>parallel, every chunk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 dirty="0">
                <a:solidFill>
                  <a:srgbClr val="005293"/>
                </a:solidFill>
              </a:rPr>
              <a:t>L2 </a:t>
            </a:r>
            <a:r>
              <a:rPr lang="en-US" sz="1400" b="1" dirty="0">
                <a:solidFill>
                  <a:srgbClr val="005293"/>
                </a:solidFill>
              </a:rPr>
              <a:t>–</a:t>
            </a:r>
            <a:r>
              <a:rPr sz="1400" b="1" dirty="0">
                <a:solidFill>
                  <a:srgbClr val="005293"/>
                </a:solidFill>
              </a:rPr>
              <a:t> 2 mid voters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150" b="0" dirty="0">
                <a:solidFill>
                  <a:srgbClr val="595959"/>
                </a:solidFill>
              </a:rPr>
              <a:t>Gemini Flash · GPT-4.1 mini</a:t>
            </a:r>
            <a:r>
              <a:rPr lang="en-US" sz="1150" b="0" dirty="0">
                <a:solidFill>
                  <a:srgbClr val="595959"/>
                </a:solidFill>
              </a:rPr>
              <a:t>: </a:t>
            </a:r>
            <a:r>
              <a:rPr sz="1150" b="0" dirty="0">
                <a:solidFill>
                  <a:srgbClr val="595959"/>
                </a:solidFill>
              </a:rPr>
              <a:t>only on L1 disagreement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 dirty="0">
                <a:solidFill>
                  <a:srgbClr val="005293"/>
                </a:solidFill>
              </a:rPr>
              <a:t>L3 </a:t>
            </a:r>
            <a:r>
              <a:rPr lang="en-US" sz="1400" b="1" dirty="0">
                <a:solidFill>
                  <a:srgbClr val="005293"/>
                </a:solidFill>
              </a:rPr>
              <a:t>– </a:t>
            </a:r>
            <a:r>
              <a:rPr sz="1400" b="1" dirty="0">
                <a:solidFill>
                  <a:srgbClr val="005293"/>
                </a:solidFill>
              </a:rPr>
              <a:t>Claude Sonnet 4.6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dirty="0">
                <a:solidFill>
                  <a:srgbClr val="595959"/>
                </a:solidFill>
              </a:rPr>
              <a:t>unconditional accept</a:t>
            </a:r>
            <a:r>
              <a:rPr lang="en-US" sz="1150" b="0" dirty="0">
                <a:solidFill>
                  <a:srgbClr val="595959"/>
                </a:solidFill>
              </a:rPr>
              <a:t>, </a:t>
            </a:r>
            <a:r>
              <a:rPr sz="1150" b="0" dirty="0">
                <a:solidFill>
                  <a:srgbClr val="595959"/>
                </a:solidFill>
              </a:rPr>
              <a:t>no scorer applied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" y="4206240"/>
            <a:ext cx="8513064" cy="50372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1" dirty="0">
                <a:solidFill>
                  <a:srgbClr val="005293"/>
                </a:solidFill>
              </a:rPr>
              <a:t>accept if  s ≥ </a:t>
            </a:r>
            <a:r>
              <a:rPr sz="1500" b="1" dirty="0" err="1">
                <a:solidFill>
                  <a:srgbClr val="005293"/>
                </a:solidFill>
              </a:rPr>
              <a:t>θ</a:t>
            </a:r>
            <a:r>
              <a:rPr sz="1500" b="1" dirty="0">
                <a:solidFill>
                  <a:srgbClr val="005293"/>
                </a:solidFill>
              </a:rPr>
              <a:t>      ·      reject if  s ≤ </a:t>
            </a:r>
            <a:r>
              <a:rPr sz="1500" b="1" dirty="0" err="1">
                <a:solidFill>
                  <a:srgbClr val="005293"/>
                </a:solidFill>
              </a:rPr>
              <a:t>θ_reject</a:t>
            </a:r>
            <a:r>
              <a:rPr sz="1500" b="1" dirty="0">
                <a:solidFill>
                  <a:srgbClr val="005293"/>
                </a:solidFill>
              </a:rPr>
              <a:t>      ·      otherwise escalate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 dirty="0">
                <a:solidFill>
                  <a:srgbClr val="595959"/>
                </a:solidFill>
              </a:rPr>
              <a:t>All voters at temperature 0</a:t>
            </a:r>
            <a:r>
              <a:rPr lang="en-US" sz="1200" b="0" dirty="0">
                <a:solidFill>
                  <a:srgbClr val="595959"/>
                </a:solidFill>
              </a:rPr>
              <a:t>: </a:t>
            </a:r>
            <a:r>
              <a:rPr sz="1200" b="0" dirty="0">
                <a:solidFill>
                  <a:srgbClr val="595959"/>
                </a:solidFill>
              </a:rPr>
              <a:t>diversity comes from providers, not from sampling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377796"/>
          </a:xfrm>
        </p:spPr>
        <p:txBody>
          <a:bodyPr wrap="square" anchor="t"/>
          <a:lstStyle/>
          <a:p>
            <a:pPr algn="l"/>
            <a:r>
              <a:rPr sz="2200" b="0" dirty="0">
                <a:solidFill>
                  <a:srgbClr val="000000"/>
                </a:solidFill>
              </a:rPr>
              <a:t>How the </a:t>
            </a:r>
            <a:r>
              <a:rPr sz="2200" b="0" dirty="0" err="1">
                <a:solidFill>
                  <a:srgbClr val="000000"/>
                </a:solidFill>
              </a:rPr>
              <a:t>agreement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scorer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picks</a:t>
            </a:r>
            <a:r>
              <a:rPr sz="2200" b="0" dirty="0">
                <a:solidFill>
                  <a:srgbClr val="000000"/>
                </a:solidFill>
              </a:rPr>
              <a:t> a </a:t>
            </a:r>
            <a:r>
              <a:rPr sz="2200" b="0" dirty="0" err="1">
                <a:solidFill>
                  <a:srgbClr val="000000"/>
                </a:solidFill>
              </a:rPr>
              <a:t>winner</a:t>
            </a:r>
            <a:endParaRPr sz="2200" b="0" dirty="0">
              <a:solidFill>
                <a:srgbClr val="00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 dirty="0">
                <a:solidFill>
                  <a:srgbClr val="0065BD"/>
                </a:solidFill>
              </a:rPr>
              <a:t>Max-consensus over an N×N similarity matrix</a:t>
            </a:r>
            <a:r>
              <a:rPr lang="en-US" sz="1350" dirty="0">
                <a:solidFill>
                  <a:srgbClr val="0065BD"/>
                </a:solidFill>
              </a:rPr>
              <a:t>, </a:t>
            </a:r>
            <a:r>
              <a:rPr sz="1350" dirty="0">
                <a:solidFill>
                  <a:srgbClr val="0065BD"/>
                </a:solidFill>
              </a:rPr>
              <a:t>no ground truth involved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10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" y="1436932"/>
            <a:ext cx="8513064" cy="3145476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50" b="0" dirty="0">
                <a:solidFill>
                  <a:srgbClr val="000000"/>
                </a:solidFill>
              </a:rPr>
              <a:t>•  Each voter returns a set of typed findings for the chunk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50" b="0" dirty="0">
                <a:solidFill>
                  <a:srgbClr val="000000"/>
                </a:solidFill>
              </a:rPr>
              <a:t>•  Align every pair of voters one-to-one, then score the alignment</a:t>
            </a:r>
            <a:r>
              <a:rPr lang="en-US" sz="1450" b="0" dirty="0">
                <a:solidFill>
                  <a:srgbClr val="000000"/>
                </a:solidFill>
              </a:rPr>
              <a:t>: </a:t>
            </a:r>
            <a:r>
              <a:rPr sz="1450" b="0" dirty="0">
                <a:solidFill>
                  <a:srgbClr val="000000"/>
                </a:solidFill>
              </a:rPr>
              <a:t>the `hybrid` scorer blends four signals:</a:t>
            </a:r>
          </a:p>
          <a:p>
            <a:pPr lvl="1">
              <a:spcBef>
                <a:spcPts val="0"/>
              </a:spcBef>
              <a:spcAft>
                <a:spcPts val="500"/>
              </a:spcAft>
            </a:pPr>
            <a:r>
              <a:rPr sz="1300" b="0" dirty="0">
                <a:solidFill>
                  <a:srgbClr val="000000"/>
                </a:solidFill>
              </a:rPr>
              <a:t>0.50  biomedical entity overlap        0.30  claim-embedding similarity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300" b="0" dirty="0">
                <a:solidFill>
                  <a:srgbClr val="000000"/>
                </a:solidFill>
              </a:rPr>
              <a:t>0.15  category agreement                0.05  cited-evidence overlap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50" b="0" dirty="0">
                <a:solidFill>
                  <a:srgbClr val="000000"/>
                </a:solidFill>
              </a:rPr>
              <a:t>•  Each voter's score = its mean similarity to the others; the chunk's agreement score = the maximum of those means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450" b="0" dirty="0">
                <a:solidFill>
                  <a:srgbClr val="000000"/>
                </a:solidFill>
              </a:rPr>
              <a:t>•  The winner is the most consensus-aligned voter. Ties break on grounding quality</a:t>
            </a:r>
            <a:r>
              <a:rPr lang="en-US" sz="1450" b="0" dirty="0">
                <a:solidFill>
                  <a:srgbClr val="000000"/>
                </a:solidFill>
              </a:rPr>
              <a:t>: </a:t>
            </a:r>
            <a:r>
              <a:rPr sz="1450" b="0" dirty="0">
                <a:solidFill>
                  <a:srgbClr val="000000"/>
                </a:solidFill>
              </a:rPr>
              <a:t>fraction of findings with a non-empty evidence chain, then sources per finding.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b="1" dirty="0">
                <a:solidFill>
                  <a:srgbClr val="E37222"/>
                </a:solidFill>
              </a:rPr>
              <a:t>The score measures agreement, not correctness. Voters can </a:t>
            </a:r>
            <a:r>
              <a:rPr lang="en-US" sz="1350" b="1" dirty="0">
                <a:solidFill>
                  <a:srgbClr val="E37222"/>
                </a:solidFill>
              </a:rPr>
              <a:t>agree, and all be wrong, which is exactly why GROUNDING runs afterward.</a:t>
            </a:r>
            <a:endParaRPr sz="1350" b="1" dirty="0">
              <a:solidFill>
                <a:srgbClr val="E3722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371961"/>
          </a:xfrm>
        </p:spPr>
        <p:txBody>
          <a:bodyPr wrap="square" anchor="t"/>
          <a:lstStyle/>
          <a:p>
            <a:pPr algn="l"/>
            <a:r>
              <a:rPr sz="2200" b="0" dirty="0" err="1">
                <a:solidFill>
                  <a:srgbClr val="000000"/>
                </a:solidFill>
              </a:rPr>
              <a:t>Four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frozen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datasets</a:t>
            </a:r>
            <a:r>
              <a:rPr sz="2200" b="0" dirty="0">
                <a:solidFill>
                  <a:srgbClr val="000000"/>
                </a:solidFill>
              </a:rPr>
              <a:t>: </a:t>
            </a:r>
            <a:r>
              <a:rPr sz="2200" b="0" dirty="0" err="1">
                <a:solidFill>
                  <a:srgbClr val="000000"/>
                </a:solidFill>
              </a:rPr>
              <a:t>one</a:t>
            </a:r>
            <a:r>
              <a:rPr sz="2200" b="0" dirty="0">
                <a:solidFill>
                  <a:srgbClr val="000000"/>
                </a:solidFill>
              </a:rPr>
              <a:t> human-</a:t>
            </a:r>
            <a:r>
              <a:rPr sz="2200" b="0" dirty="0" err="1">
                <a:solidFill>
                  <a:srgbClr val="000000"/>
                </a:solidFill>
              </a:rPr>
              <a:t>label</a:t>
            </a:r>
            <a:r>
              <a:rPr lang="de-DE" sz="2200" b="0" dirty="0" err="1">
                <a:solidFill>
                  <a:srgbClr val="000000"/>
                </a:solidFill>
              </a:rPr>
              <a:t>ed</a:t>
            </a:r>
            <a:r>
              <a:rPr sz="2200" b="0" dirty="0">
                <a:solidFill>
                  <a:srgbClr val="000000"/>
                </a:solidFill>
              </a:rPr>
              <a:t>, </a:t>
            </a:r>
            <a:r>
              <a:rPr sz="2200" b="0" dirty="0" err="1">
                <a:solidFill>
                  <a:srgbClr val="000000"/>
                </a:solidFill>
              </a:rPr>
              <a:t>three</a:t>
            </a:r>
            <a:r>
              <a:rPr sz="2200" b="0" dirty="0">
                <a:solidFill>
                  <a:srgbClr val="000000"/>
                </a:solidFill>
              </a:rPr>
              <a:t> LLM-</a:t>
            </a:r>
            <a:r>
              <a:rPr sz="2200" b="0" dirty="0" err="1">
                <a:solidFill>
                  <a:srgbClr val="000000"/>
                </a:solidFill>
              </a:rPr>
              <a:t>label</a:t>
            </a:r>
            <a:r>
              <a:rPr lang="de-DE" sz="2200" b="0" dirty="0" err="1">
                <a:solidFill>
                  <a:srgbClr val="000000"/>
                </a:solidFill>
              </a:rPr>
              <a:t>ed</a:t>
            </a:r>
            <a:endParaRPr sz="2200" b="0" dirty="0">
              <a:solidFill>
                <a:srgbClr val="000000"/>
              </a:solidFill>
            </a:endParaRP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11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9161942"/>
              </p:ext>
            </p:extLst>
          </p:nvPr>
        </p:nvGraphicFramePr>
        <p:xfrm>
          <a:off x="310896" y="1060704"/>
          <a:ext cx="8592328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54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49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chemeClr val="bg1"/>
                          </a:solidFill>
                        </a:rPr>
                        <a:t>Dataset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chemeClr val="bg1"/>
                          </a:solidFill>
                        </a:rPr>
                        <a:t>Size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chemeClr val="bg1"/>
                          </a:solidFill>
                        </a:rPr>
                        <a:t>Construction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chemeClr val="bg1"/>
                          </a:solidFill>
                        </a:rPr>
                        <a:t>Labels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chemeClr val="bg1"/>
                          </a:solidFill>
                        </a:rPr>
                        <a:t>RQ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Ingested corpus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977 papers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dirty="0">
                          <a:solidFill>
                            <a:srgbClr val="000000"/>
                          </a:solidFill>
                        </a:rPr>
                        <a:t>PMC OA keyword filter, single-PDF, ≤30 pages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dirty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dirty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Doc-extraction rubric set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27 PDFs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manually selected, frozen, disjoint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human (1 annotator)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RQ1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related15 calibration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15 papers · 454 cases · 2,223 silver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exhaustive ILP over inter-paper relatedness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37222"/>
                          </a:solidFill>
                        </a:rPr>
                        <a:t>silver (Opus 4.7)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RQ2, RQ3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heldout15 evaluation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15 papers · 285 cases · 1,657 silver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random sample, disjoint from calibration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37222"/>
                          </a:solidFill>
                        </a:rPr>
                        <a:t>silver (Opus 4.7)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RQ5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Relation claim pairs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300 pairs (100 per class)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generated label-first, independent of corpus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37222"/>
                          </a:solidFill>
                        </a:rPr>
                        <a:t>synthetic silver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dirty="0">
                          <a:solidFill>
                            <a:srgbClr val="000000"/>
                          </a:solidFill>
                        </a:rPr>
                        <a:t>RQ4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10896" y="3931920"/>
            <a:ext cx="8513064" cy="41148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dirty="0">
                <a:solidFill>
                  <a:srgbClr val="005293"/>
                </a:solidFill>
              </a:rPr>
              <a:t>Only RQ1 rests on human labels. RQ2–RQ5 measure agreement with Claude Opus 4.7.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200" b="0">
                <a:solidFill>
                  <a:srgbClr val="000000"/>
                </a:solidFill>
              </a:rPr>
              <a:t>RQ1: Footnote capture and figure post-processing roughly double strict-F1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8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>
                <a:solidFill>
                  <a:srgbClr val="0065BD"/>
                </a:solidFill>
              </a:rPr>
              <a:t>27-PDF rubric set · human labels · strict-F1 requires every applicable dimension to be perfect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12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9" name="Picture 8" descr="fig_rq1_strict_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1512474"/>
            <a:ext cx="4114800" cy="262604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63440" y="1389888"/>
            <a:ext cx="4160520" cy="301752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450" b="0" dirty="0">
                <a:solidFill>
                  <a:srgbClr val="000000"/>
                </a:solidFill>
              </a:rPr>
              <a:t>•  Tables 0.366 → 0.838</a:t>
            </a:r>
            <a:r>
              <a:rPr lang="en-US" sz="1450" b="0" dirty="0">
                <a:solidFill>
                  <a:srgbClr val="000000"/>
                </a:solidFill>
              </a:rPr>
              <a:t>. </a:t>
            </a:r>
            <a:r>
              <a:rPr lang="en-US" sz="1450" dirty="0">
                <a:solidFill>
                  <a:srgbClr val="000000"/>
                </a:solidFill>
              </a:rPr>
              <a:t>T</a:t>
            </a:r>
            <a:r>
              <a:rPr sz="1450" b="0" dirty="0">
                <a:solidFill>
                  <a:srgbClr val="000000"/>
                </a:solidFill>
              </a:rPr>
              <a:t>he lever is footnote precision, 43.8% → 91.4%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450" b="0" dirty="0">
                <a:solidFill>
                  <a:srgbClr val="000000"/>
                </a:solidFill>
              </a:rPr>
              <a:t>•  Detector alone 0.400 → 0.420 · + footnote expansion 0.800 · + hybrid and geometry fixes 0.838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450" b="0" dirty="0">
                <a:solidFill>
                  <a:srgbClr val="000000"/>
                </a:solidFill>
              </a:rPr>
              <a:t>•  Figures 0.447 → 0.840</a:t>
            </a:r>
            <a:r>
              <a:rPr lang="en-US" sz="1450" b="0" dirty="0">
                <a:solidFill>
                  <a:srgbClr val="000000"/>
                </a:solidFill>
              </a:rPr>
              <a:t>. </a:t>
            </a:r>
            <a:r>
              <a:rPr lang="en-US" sz="1450" dirty="0">
                <a:solidFill>
                  <a:srgbClr val="000000"/>
                </a:solidFill>
              </a:rPr>
              <a:t>I</a:t>
            </a:r>
            <a:r>
              <a:rPr sz="1450" b="0" dirty="0">
                <a:solidFill>
                  <a:srgbClr val="000000"/>
                </a:solidFill>
              </a:rPr>
              <a:t>con filter (63 crops) and caption matching (16 fixes)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sz="1450" b="0" dirty="0">
                <a:solidFill>
                  <a:srgbClr val="000000"/>
                </a:solidFill>
              </a:rPr>
              <a:t>•  Decorative-icon false positives 73 → 14;  emitted crops 139 → 76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0" dirty="0">
                <a:solidFill>
                  <a:srgbClr val="595959"/>
                </a:solidFill>
              </a:rPr>
              <a:t>Cost of footnote expansion: table mask-F1 94.3% → 91.9%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000" b="0">
                <a:solidFill>
                  <a:srgbClr val="000000"/>
                </a:solidFill>
              </a:rPr>
              <a:t>Footnote expansion is the single biggest lever in the document layer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>
                <a:solidFill>
                  <a:srgbClr val="0065BD"/>
                </a:solidFill>
              </a:rPr>
              <a:t>PMC11649516_HIS-86-236 p5 · rubric label 'missing footnotes' → 'correct'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13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13" name="Picture 12" descr="01_footnotes_p05_z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076" y="1400536"/>
            <a:ext cx="3137982" cy="343208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266943" y="1718593"/>
            <a:ext cx="2770632" cy="283464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000" b="1" dirty="0">
                <a:solidFill>
                  <a:srgbClr val="005293"/>
                </a:solidFill>
              </a:rPr>
              <a:t>43.8% → 91.4%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150" b="0" dirty="0">
                <a:solidFill>
                  <a:srgbClr val="595959"/>
                </a:solidFill>
              </a:rPr>
              <a:t>footnote precision, 27-PDF rubric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250" b="0" dirty="0">
                <a:solidFill>
                  <a:srgbClr val="000000"/>
                </a:solidFill>
              </a:rPr>
              <a:t>•  Crop grows 1320 → 1468 </a:t>
            </a:r>
            <a:r>
              <a:rPr sz="1250" b="0" dirty="0" err="1">
                <a:solidFill>
                  <a:srgbClr val="000000"/>
                </a:solidFill>
              </a:rPr>
              <a:t>px</a:t>
            </a:r>
            <a:r>
              <a:rPr sz="1250" b="0" dirty="0">
                <a:solidFill>
                  <a:srgbClr val="000000"/>
                </a:solidFill>
              </a:rPr>
              <a:t> (+11%)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250" b="0" dirty="0">
                <a:solidFill>
                  <a:srgbClr val="000000"/>
                </a:solidFill>
              </a:rPr>
              <a:t>•  14 regions fixed on the rubric set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250" b="0" dirty="0">
                <a:solidFill>
                  <a:srgbClr val="000000"/>
                </a:solidFill>
              </a:rPr>
              <a:t>•  Alone it takes strict-F1 to 0.800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50" b="0" dirty="0">
                <a:solidFill>
                  <a:srgbClr val="E37222"/>
                </a:solidFill>
              </a:rPr>
              <a:t>Cost: mask-F1 94.3% → 91.9%, because a larger crop sometimes covers text that should have stayed.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82330"/>
          </a:xfrm>
        </p:spPr>
        <p:txBody>
          <a:bodyPr wrap="square" anchor="t"/>
          <a:lstStyle/>
          <a:p>
            <a:pPr algn="l"/>
            <a:r>
              <a:rPr sz="2200" b="0" dirty="0">
                <a:solidFill>
                  <a:srgbClr val="000000"/>
                </a:solidFill>
              </a:rPr>
              <a:t>RQ2: 1,747 </a:t>
            </a:r>
            <a:r>
              <a:rPr sz="2200" b="0" dirty="0" err="1">
                <a:solidFill>
                  <a:srgbClr val="000000"/>
                </a:solidFill>
              </a:rPr>
              <a:t>rules</a:t>
            </a:r>
            <a:r>
              <a:rPr lang="de-DE" sz="2200" dirty="0">
                <a:solidFill>
                  <a:srgbClr val="000000"/>
                </a:solidFill>
              </a:rPr>
              <a:t>, </a:t>
            </a:r>
            <a:r>
              <a:rPr sz="2200" b="0" dirty="0">
                <a:solidFill>
                  <a:srgbClr val="000000"/>
                </a:solidFill>
              </a:rPr>
              <a:t>and </a:t>
            </a:r>
            <a:r>
              <a:rPr sz="2200" b="0" dirty="0" err="1">
                <a:solidFill>
                  <a:srgbClr val="000000"/>
                </a:solidFill>
              </a:rPr>
              <a:t>every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one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traces</a:t>
            </a:r>
            <a:r>
              <a:rPr sz="2200" b="0" dirty="0">
                <a:solidFill>
                  <a:srgbClr val="000000"/>
                </a:solidFill>
              </a:rPr>
              <a:t> back to a source </a:t>
            </a:r>
            <a:r>
              <a:rPr sz="2200" b="0" dirty="0" err="1">
                <a:solidFill>
                  <a:srgbClr val="000000"/>
                </a:solidFill>
              </a:rPr>
              <a:t>paragraph</a:t>
            </a:r>
            <a:endParaRPr sz="2200" b="0" dirty="0">
              <a:solidFill>
                <a:srgbClr val="0000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8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>
                <a:solidFill>
                  <a:srgbClr val="0065BD"/>
                </a:solidFill>
              </a:rPr>
              <a:t>related15 · frozen five-voter cascade · θ = 0.9, θ_reject = 0.2, grounding 0.5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14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9" name="Picture 8" descr="fig_rq2_fun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1437467"/>
            <a:ext cx="4114800" cy="29542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54111" y="1437860"/>
            <a:ext cx="4160520" cy="985911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3400" b="1" dirty="0">
                <a:solidFill>
                  <a:srgbClr val="005293"/>
                </a:solidFill>
              </a:rPr>
              <a:t>100%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 dirty="0">
                <a:solidFill>
                  <a:srgbClr val="000000"/>
                </a:solidFill>
              </a:rPr>
              <a:t>of final rules resolve to ≥</a:t>
            </a:r>
            <a:r>
              <a:rPr lang="en-US" sz="1300" b="0" dirty="0">
                <a:solidFill>
                  <a:srgbClr val="000000"/>
                </a:solidFill>
              </a:rPr>
              <a:t> </a:t>
            </a:r>
            <a:r>
              <a:rPr sz="1300" b="0" dirty="0">
                <a:solidFill>
                  <a:srgbClr val="000000"/>
                </a:solidFill>
              </a:rPr>
              <a:t>1 source paragraph in their own paper  (1,747 / 1,747)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4110" y="2425412"/>
            <a:ext cx="4268525" cy="168353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0" dirty="0">
                <a:solidFill>
                  <a:srgbClr val="000000"/>
                </a:solidFill>
              </a:rPr>
              <a:t>•  Figures and tables carry page + bounding box: 100%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0" dirty="0">
                <a:solidFill>
                  <a:srgbClr val="000000"/>
                </a:solidFill>
              </a:rPr>
              <a:t>•  All tables carry a caption; figures with captions 86.3%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350" b="0" dirty="0">
                <a:solidFill>
                  <a:srgbClr val="000000"/>
                </a:solidFill>
              </a:rPr>
              <a:t>•  Measured corpus-wide: 977 documents · 35,896 text elements · 4,479 figures · 1,960 tables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50" b="0" dirty="0">
                <a:solidFill>
                  <a:srgbClr val="595959"/>
                </a:solidFill>
              </a:rPr>
              <a:t>Cross-reference linking resolves for 53.6% of figures and 58.9% of tables</a:t>
            </a:r>
            <a:r>
              <a:rPr lang="tr-TR" sz="1150" b="0" dirty="0">
                <a:solidFill>
                  <a:srgbClr val="595959"/>
                </a:solidFill>
              </a:rPr>
              <a:t>, but is </a:t>
            </a:r>
            <a:r>
              <a:rPr sz="1150" b="0" dirty="0">
                <a:solidFill>
                  <a:srgbClr val="595959"/>
                </a:solidFill>
              </a:rPr>
              <a:t>not used downstream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000" b="0">
                <a:solidFill>
                  <a:srgbClr val="000000"/>
                </a:solidFill>
              </a:rPr>
              <a:t>What one extracted rule actually looks like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15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8989224"/>
              </p:ext>
            </p:extLst>
          </p:nvPr>
        </p:nvGraphicFramePr>
        <p:xfrm>
          <a:off x="310896" y="1060704"/>
          <a:ext cx="8513064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4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dirty="0">
                          <a:solidFill>
                            <a:schemeClr val="bg1"/>
                          </a:solidFill>
                        </a:rPr>
                        <a:t>Field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dirty="0">
                          <a:solidFill>
                            <a:schemeClr val="bg1"/>
                          </a:solidFill>
                        </a:rPr>
                        <a:t>Value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subject_entity / outcome_entity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PHH3   →   Continuance of life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relation_type / direction / category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prognostic  /  negative  /  prognosis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predicate_text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PHH3 → independent predictor of survival in a Cox regression model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mean_grounding_score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5293"/>
                          </a:solidFill>
                        </a:rPr>
                        <a:t>0.9997      (NLI entailment against the cited paragraph)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final_score / score_mode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0.6198  /  relations_present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finding_count / support_count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dirty="0">
                          <a:solidFill>
                            <a:srgbClr val="000000"/>
                          </a:solidFill>
                        </a:rPr>
                        <a:t>2  /  1        </a:t>
                      </a:r>
                      <a:r>
                        <a:rPr sz="1100" b="0" dirty="0" err="1">
                          <a:solidFill>
                            <a:srgbClr val="000000"/>
                          </a:solidFill>
                        </a:rPr>
                        <a:t>study_coverage</a:t>
                      </a:r>
                      <a:r>
                        <a:rPr sz="1100" b="0" dirty="0">
                          <a:solidFill>
                            <a:srgbClr val="000000"/>
                          </a:solidFill>
                        </a:rPr>
                        <a:t>: </a:t>
                      </a:r>
                      <a:r>
                        <a:rPr sz="1100" b="0" dirty="0" err="1">
                          <a:solidFill>
                            <a:srgbClr val="000000"/>
                          </a:solidFill>
                        </a:rPr>
                        <a:t>single_study</a:t>
                      </a:r>
                      <a:endParaRPr sz="1100" b="0" dirty="0">
                        <a:solidFill>
                          <a:srgbClr val="000000"/>
                        </a:solidFill>
                      </a:endParaRP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member_normal_ids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NF_PMC10100421_…_ff259926,  NF_PMC10100421_…_4a2e8baa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supporting_pmcids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PMC10100421_HIS-82-393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is_conflicted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dirty="0">
                          <a:solidFill>
                            <a:srgbClr val="E37222"/>
                          </a:solidFill>
                        </a:rPr>
                        <a:t>True  — the group holds more than one polarity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10896" y="4059936"/>
            <a:ext cx="8513064" cy="45720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005293"/>
                </a:solidFill>
              </a:rPr>
              <a:t>Every ID is a live back-pointer: final rule → canonical rule → normal findings → MAP findings → text elements → page and coordinates.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200" b="0">
                <a:solidFill>
                  <a:srgbClr val="000000"/>
                </a:solidFill>
              </a:rPr>
              <a:t>RQ3a: Top cascade quality requires near-universal escalation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>
                <a:solidFill>
                  <a:srgbClr val="0065BD"/>
                </a:solidFill>
              </a:rPr>
              <a:t>Calibration on related15 · 474 chunks · strict-F1 vs Opus silver, optimal (Hungarian) matcher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16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13" name="Picture 12" descr="fig_rq3a_theta_esca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1316736"/>
            <a:ext cx="5037328" cy="30632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72200" y="1554480"/>
            <a:ext cx="2651760" cy="256032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595959"/>
                </a:solidFill>
              </a:rPr>
              <a:t>Pinned operating point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500" b="1">
                <a:solidFill>
                  <a:srgbClr val="000000"/>
                </a:solidFill>
              </a:rPr>
              <a:t>θ = 0.9,  θ_reject = 0.2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05293"/>
                </a:solidFill>
              </a:rPr>
              <a:t>strict-F1  0.7160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sz="1600" b="1">
                <a:solidFill>
                  <a:srgbClr val="E37222"/>
                </a:solidFill>
              </a:rPr>
              <a:t>at 95.6% escalation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000000"/>
                </a:solidFill>
              </a:rPr>
              <a:t>θ 0.7 → 0.8:   +≈0.05 strict-F1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250" b="0">
                <a:solidFill>
                  <a:srgbClr val="000000"/>
                </a:solidFill>
              </a:rPr>
              <a:t>θ 0.8 → 0.9:   +0.0085 strict-F1,
+8.5% cost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595959"/>
                </a:solidFill>
              </a:rPr>
              <a:t>At θ = 0.9 the cheap voters resolve about 1 chunk in 20 on their own.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76559"/>
          </a:xfrm>
        </p:spPr>
        <p:txBody>
          <a:bodyPr wrap="square" anchor="t"/>
          <a:lstStyle/>
          <a:p>
            <a:pPr algn="l"/>
            <a:r>
              <a:rPr sz="2000" b="0" dirty="0">
                <a:solidFill>
                  <a:srgbClr val="000000"/>
                </a:solidFill>
              </a:rPr>
              <a:t>How the </a:t>
            </a:r>
            <a:r>
              <a:rPr sz="2000" b="0" dirty="0" err="1">
                <a:solidFill>
                  <a:srgbClr val="000000"/>
                </a:solidFill>
              </a:rPr>
              <a:t>shipped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configuration</a:t>
            </a:r>
            <a:r>
              <a:rPr sz="2000" b="0" dirty="0">
                <a:solidFill>
                  <a:srgbClr val="000000"/>
                </a:solidFill>
              </a:rPr>
              <a:t> was </a:t>
            </a:r>
            <a:r>
              <a:rPr sz="2000" b="0" dirty="0" err="1">
                <a:solidFill>
                  <a:srgbClr val="000000"/>
                </a:solidFill>
              </a:rPr>
              <a:t>chosen</a:t>
            </a:r>
            <a:r>
              <a:rPr lang="de-DE" sz="2000" dirty="0">
                <a:solidFill>
                  <a:srgbClr val="000000"/>
                </a:solidFill>
              </a:rPr>
              <a:t>: </a:t>
            </a:r>
            <a:r>
              <a:rPr sz="2000" b="0" dirty="0" err="1">
                <a:solidFill>
                  <a:srgbClr val="000000"/>
                </a:solidFill>
              </a:rPr>
              <a:t>six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experiments</a:t>
            </a:r>
            <a:r>
              <a:rPr sz="2000" b="0" dirty="0">
                <a:solidFill>
                  <a:srgbClr val="000000"/>
                </a:solidFill>
              </a:rPr>
              <a:t>, in </a:t>
            </a:r>
            <a:r>
              <a:rPr sz="2000" b="0" dirty="0" err="1">
                <a:solidFill>
                  <a:srgbClr val="000000"/>
                </a:solidFill>
              </a:rPr>
              <a:t>order</a:t>
            </a:r>
            <a:endParaRPr sz="2000" b="0" dirty="0">
              <a:solidFill>
                <a:srgbClr val="000000"/>
              </a:solidFill>
            </a:endParaRP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17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4958303"/>
              </p:ext>
            </p:extLst>
          </p:nvPr>
        </p:nvGraphicFramePr>
        <p:xfrm>
          <a:off x="310896" y="1120079"/>
          <a:ext cx="8513064" cy="23317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68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310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chemeClr val="bg1"/>
                          </a:solidFill>
                        </a:rPr>
                        <a:t>Question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dirty="0">
                          <a:solidFill>
                            <a:schemeClr val="bg1"/>
                          </a:solidFill>
                        </a:rPr>
                        <a:t>Outcome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E05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Which embedder, scorer and alignment?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hybrid scorer beats plain embedding on every embedder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E06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How should the hybrid signals be weighted?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Gemini + hybrid + greedy, entity-heavy blend → 0.7133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E06b/c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Can any voter be dropped?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drop Claude Haiku: F1-neutral, −18% cost per chunk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E07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Where should θ and θ_reject sit?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θ = 0.9, θ_reject = 0.2 → 0.7147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E08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Do the accept/escalate gates matter?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dirty="0">
                          <a:solidFill>
                            <a:srgbClr val="000000"/>
                          </a:solidFill>
                        </a:rPr>
                        <a:t>escalate 0.7160 vs keep 0.7147 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(</a:t>
                      </a:r>
                      <a:r>
                        <a:rPr sz="1100" b="0" dirty="0">
                          <a:solidFill>
                            <a:srgbClr val="000000"/>
                          </a:solidFill>
                        </a:rPr>
                        <a:t>within noise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)</a:t>
                      </a:r>
                      <a:endParaRPr sz="1100" b="0" dirty="0">
                        <a:solidFill>
                          <a:srgbClr val="000000"/>
                        </a:solidFill>
                      </a:endParaRP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E08b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Final curve at the shipped setting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dirty="0">
                          <a:solidFill>
                            <a:srgbClr val="005293"/>
                          </a:solidFill>
                        </a:rPr>
                        <a:t>0.7160 at 95.6% escalation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10896" y="3643823"/>
            <a:ext cx="8513064" cy="752514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0" dirty="0">
                <a:solidFill>
                  <a:srgbClr val="000000"/>
                </a:solidFill>
              </a:rPr>
              <a:t>Order matters: each experiment fixes one knob and passes the rest forward, so the search is linear rather than combinatorial.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 dirty="0">
                <a:solidFill>
                  <a:srgbClr val="005293"/>
                </a:solidFill>
              </a:rPr>
              <a:t>Every one of these replays from cached voter outputs</a:t>
            </a:r>
            <a:r>
              <a:rPr lang="en-US" sz="1300" b="1" dirty="0">
                <a:solidFill>
                  <a:srgbClr val="005293"/>
                </a:solidFill>
              </a:rPr>
              <a:t>:</a:t>
            </a:r>
            <a:r>
              <a:rPr sz="1300" b="1" dirty="0">
                <a:solidFill>
                  <a:srgbClr val="005293"/>
                </a:solidFill>
              </a:rPr>
              <a:t> no new API calls, no cost, byte-identical results.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200" b="0">
                <a:solidFill>
                  <a:srgbClr val="000000"/>
                </a:solidFill>
              </a:rPr>
              <a:t>RQ3b: The cascade ties the best single model, which costs 24% less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8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>
                <a:solidFill>
                  <a:srgbClr val="0065BD"/>
                </a:solidFill>
              </a:rPr>
              <a:t>Paper-level clustered paired bootstrap, B = 10,000 · cost in price-weighted units per chunk (the thesis states no currency)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18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9" name="Picture 8" descr="fig_cost_quality_pla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1736397"/>
            <a:ext cx="4114800" cy="27567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63440" y="1490868"/>
            <a:ext cx="4160520" cy="123444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900"/>
              </a:spcAft>
            </a:pPr>
            <a:r>
              <a:rPr sz="1400" b="0" dirty="0">
                <a:solidFill>
                  <a:srgbClr val="005293"/>
                </a:solidFill>
              </a:rPr>
              <a:t>Cascade         </a:t>
            </a:r>
            <a:r>
              <a:rPr sz="1700" b="1" dirty="0">
                <a:solidFill>
                  <a:srgbClr val="005293"/>
                </a:solidFill>
              </a:rPr>
              <a:t>0.7160</a:t>
            </a:r>
            <a:r>
              <a:rPr sz="1300" b="0" dirty="0">
                <a:solidFill>
                  <a:srgbClr val="005293"/>
                </a:solidFill>
              </a:rPr>
              <a:t>    at 23.66</a:t>
            </a:r>
          </a:p>
          <a:p>
            <a:pPr>
              <a:spcAft>
                <a:spcPts val="900"/>
              </a:spcAft>
            </a:pPr>
            <a:r>
              <a:rPr sz="1400" b="0" dirty="0">
                <a:solidFill>
                  <a:srgbClr val="000000"/>
                </a:solidFill>
              </a:rPr>
              <a:t>Single Sonnet   </a:t>
            </a:r>
            <a:r>
              <a:rPr sz="1700" b="1" dirty="0">
                <a:solidFill>
                  <a:srgbClr val="000000"/>
                </a:solidFill>
              </a:rPr>
              <a:t>0.7129</a:t>
            </a:r>
            <a:r>
              <a:rPr sz="1300" b="0" dirty="0">
                <a:solidFill>
                  <a:srgbClr val="000000"/>
                </a:solidFill>
              </a:rPr>
              <a:t>    at 18.00</a:t>
            </a:r>
          </a:p>
          <a:p>
            <a:pPr>
              <a:spcBef>
                <a:spcPts val="600"/>
              </a:spcBef>
            </a:pPr>
            <a:r>
              <a:rPr sz="1350" b="1" dirty="0" err="1">
                <a:solidFill>
                  <a:srgbClr val="E37222"/>
                </a:solidFill>
              </a:rPr>
              <a:t>Δ</a:t>
            </a:r>
            <a:r>
              <a:rPr sz="1350" b="1" dirty="0">
                <a:solidFill>
                  <a:srgbClr val="E37222"/>
                </a:solidFill>
              </a:rPr>
              <a:t> = +0.0031      95% CI [−0.0002, +0.0068]</a:t>
            </a:r>
          </a:p>
          <a:p>
            <a:r>
              <a:rPr sz="1500" b="1" dirty="0">
                <a:solidFill>
                  <a:srgbClr val="E37222"/>
                </a:solidFill>
              </a:rPr>
              <a:t>not statistically significant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880756"/>
            <a:ext cx="4160520" cy="1734834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350" b="0" dirty="0">
                <a:solidFill>
                  <a:srgbClr val="000000"/>
                </a:solidFill>
              </a:rPr>
              <a:t>•  vs. every cheaper model: +0.060 to +0.26, all significant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400" b="1" dirty="0">
                <a:solidFill>
                  <a:srgbClr val="005293"/>
                </a:solidFill>
              </a:rPr>
              <a:t>Not cost-justified against the single strong model. Decisively better than every cheap one.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50" b="0" dirty="0">
                <a:solidFill>
                  <a:srgbClr val="595959"/>
                </a:solidFill>
              </a:rPr>
              <a:t>Counter-consideration: Sonnet shares a model family with the Opus silver </a:t>
            </a:r>
            <a:r>
              <a:rPr lang="en-US" sz="1150" dirty="0">
                <a:solidFill>
                  <a:srgbClr val="595959"/>
                </a:solidFill>
              </a:rPr>
              <a:t>labeler,</a:t>
            </a:r>
            <a:r>
              <a:rPr sz="1150" b="0" dirty="0">
                <a:solidFill>
                  <a:srgbClr val="595959"/>
                </a:solidFill>
              </a:rPr>
              <a:t> so the measured gap is arguably conservative.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82330"/>
          </a:xfrm>
        </p:spPr>
        <p:txBody>
          <a:bodyPr wrap="square" anchor="t"/>
          <a:lstStyle/>
          <a:p>
            <a:pPr algn="l"/>
            <a:r>
              <a:rPr sz="2200" b="0" dirty="0">
                <a:solidFill>
                  <a:srgbClr val="000000"/>
                </a:solidFill>
              </a:rPr>
              <a:t>RQ4: </a:t>
            </a:r>
            <a:r>
              <a:rPr sz="2200" b="0" dirty="0" err="1">
                <a:solidFill>
                  <a:srgbClr val="000000"/>
                </a:solidFill>
              </a:rPr>
              <a:t>One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frozen</a:t>
            </a:r>
            <a:r>
              <a:rPr sz="2200" b="0" dirty="0">
                <a:solidFill>
                  <a:srgbClr val="000000"/>
                </a:solidFill>
              </a:rPr>
              <a:t> NLI </a:t>
            </a:r>
            <a:r>
              <a:rPr sz="2200" b="0" dirty="0" err="1">
                <a:solidFill>
                  <a:srgbClr val="000000"/>
                </a:solidFill>
              </a:rPr>
              <a:t>model</a:t>
            </a:r>
            <a:r>
              <a:rPr sz="2200" b="0" dirty="0">
                <a:solidFill>
                  <a:srgbClr val="000000"/>
                </a:solidFill>
              </a:rPr>
              <a:t>, </a:t>
            </a:r>
            <a:r>
              <a:rPr sz="2200" b="0" dirty="0" err="1">
                <a:solidFill>
                  <a:srgbClr val="000000"/>
                </a:solidFill>
              </a:rPr>
              <a:t>two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roles</a:t>
            </a:r>
            <a:r>
              <a:rPr lang="de-DE" sz="2200" dirty="0">
                <a:solidFill>
                  <a:srgbClr val="000000"/>
                </a:solidFill>
              </a:rPr>
              <a:t>: </a:t>
            </a:r>
            <a:r>
              <a:rPr sz="2200" b="0" dirty="0" err="1">
                <a:solidFill>
                  <a:srgbClr val="000000"/>
                </a:solidFill>
              </a:rPr>
              <a:t>grounding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costs</a:t>
            </a:r>
            <a:r>
              <a:rPr sz="2200" b="0" dirty="0">
                <a:solidFill>
                  <a:srgbClr val="000000"/>
                </a:solidFill>
              </a:rPr>
              <a:t> 6 F1 </a:t>
            </a:r>
            <a:r>
              <a:rPr sz="2200" b="0" dirty="0" err="1">
                <a:solidFill>
                  <a:srgbClr val="000000"/>
                </a:solidFill>
              </a:rPr>
              <a:t>points</a:t>
            </a:r>
            <a:endParaRPr sz="2200" b="0" dirty="0">
              <a:solidFill>
                <a:srgbClr val="0000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8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 dirty="0" err="1">
                <a:solidFill>
                  <a:srgbClr val="0065BD"/>
                </a:solidFill>
              </a:rPr>
              <a:t>pritamdeka</a:t>
            </a:r>
            <a:r>
              <a:rPr sz="1350" dirty="0">
                <a:solidFill>
                  <a:srgbClr val="0065BD"/>
                </a:solidFill>
              </a:rPr>
              <a:t>/</a:t>
            </a:r>
            <a:r>
              <a:rPr sz="1350" dirty="0" err="1">
                <a:solidFill>
                  <a:srgbClr val="0065BD"/>
                </a:solidFill>
              </a:rPr>
              <a:t>PubMedBERT</a:t>
            </a:r>
            <a:r>
              <a:rPr sz="1350" dirty="0">
                <a:solidFill>
                  <a:srgbClr val="0065BD"/>
                </a:solidFill>
              </a:rPr>
              <a:t>-MNLI-</a:t>
            </a:r>
            <a:r>
              <a:rPr sz="1350" dirty="0" err="1">
                <a:solidFill>
                  <a:srgbClr val="0065BD"/>
                </a:solidFill>
              </a:rPr>
              <a:t>MedNLI</a:t>
            </a:r>
            <a:r>
              <a:rPr sz="1350" dirty="0">
                <a:solidFill>
                  <a:srgbClr val="0065BD"/>
                </a:solidFill>
              </a:rPr>
              <a:t> — frozen, no fine-tuning, shared by GROUNDING and RELATE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19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9" name="Picture 8" descr="fig_grounding_h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1353312"/>
            <a:ext cx="3445151" cy="2148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10896" y="3584448"/>
            <a:ext cx="4617720" cy="1103892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00" b="1" dirty="0">
                <a:solidFill>
                  <a:srgbClr val="005293"/>
                </a:solidFill>
              </a:rPr>
              <a:t>Grounding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00" b="0" dirty="0">
                <a:solidFill>
                  <a:srgbClr val="000000"/>
                </a:solidFill>
              </a:rPr>
              <a:t>Bimodal: 77.5% score ≥ 0.9, ≈</a:t>
            </a:r>
            <a:r>
              <a:rPr lang="en-US" sz="1200" b="0" dirty="0">
                <a:solidFill>
                  <a:srgbClr val="000000"/>
                </a:solidFill>
              </a:rPr>
              <a:t> </a:t>
            </a:r>
            <a:r>
              <a:rPr sz="1200" b="0" dirty="0">
                <a:solidFill>
                  <a:srgbClr val="000000"/>
                </a:solidFill>
              </a:rPr>
              <a:t>14% &lt; 0.3. Threshold 0.5 retains 83.8%; strict-F1 0.716 → 0.652; precision flat (0.872 → 0.875).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50" b="0" dirty="0">
                <a:solidFill>
                  <a:srgbClr val="595959"/>
                </a:solidFill>
              </a:rPr>
              <a:t>Of the 371 findings removed, ≈</a:t>
            </a:r>
            <a:r>
              <a:rPr lang="en-US" sz="1150" b="0" dirty="0">
                <a:solidFill>
                  <a:srgbClr val="595959"/>
                </a:solidFill>
              </a:rPr>
              <a:t> </a:t>
            </a:r>
            <a:r>
              <a:rPr sz="1150" b="0" dirty="0">
                <a:solidFill>
                  <a:srgbClr val="595959"/>
                </a:solidFill>
              </a:rPr>
              <a:t>86% agreed with the Opus silver</a:t>
            </a:r>
            <a:r>
              <a:rPr lang="en-US" sz="1150" b="0" dirty="0">
                <a:solidFill>
                  <a:srgbClr val="595959"/>
                </a:solidFill>
              </a:rPr>
              <a:t>:</a:t>
            </a:r>
            <a:r>
              <a:rPr sz="1150" b="0" dirty="0">
                <a:solidFill>
                  <a:srgbClr val="595959"/>
                </a:solidFill>
              </a:rPr>
              <a:t> traded knowingly for source faithfulness.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38928" y="1444752"/>
            <a:ext cx="3685032" cy="2888996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 dirty="0">
                <a:solidFill>
                  <a:srgbClr val="005293"/>
                </a:solidFill>
              </a:rPr>
              <a:t>Relation classification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150" b="0" dirty="0">
                <a:solidFill>
                  <a:srgbClr val="595959"/>
                </a:solidFill>
              </a:rPr>
              <a:t>synthetic 300 pairs, 100 per class, thresholds frozen at 0.50 / 0.50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2100" b="1" dirty="0">
                <a:solidFill>
                  <a:srgbClr val="005293"/>
                </a:solidFill>
              </a:rPr>
              <a:t>accuracy 0.923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200" b="0" dirty="0">
                <a:solidFill>
                  <a:srgbClr val="000000"/>
                </a:solidFill>
              </a:rPr>
              <a:t>macro-F1 0.924   (production </a:t>
            </a:r>
            <a:r>
              <a:rPr sz="1200" b="0" dirty="0" err="1">
                <a:solidFill>
                  <a:srgbClr val="000000"/>
                </a:solidFill>
              </a:rPr>
              <a:t>scope_aware</a:t>
            </a:r>
            <a:r>
              <a:rPr sz="1200" b="0" dirty="0">
                <a:solidFill>
                  <a:srgbClr val="000000"/>
                </a:solidFill>
              </a:rPr>
              <a:t> mode)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0" dirty="0">
                <a:solidFill>
                  <a:srgbClr val="000000"/>
                </a:solidFill>
              </a:rPr>
              <a:t>•  SUPPORT  precision 1.000, F1 0.953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0" dirty="0">
                <a:solidFill>
                  <a:srgbClr val="000000"/>
                </a:solidFill>
              </a:rPr>
              <a:t>•  CONTRADICT  F1 0.922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300" b="0" dirty="0">
                <a:solidFill>
                  <a:srgbClr val="000000"/>
                </a:solidFill>
              </a:rPr>
              <a:t>•  UNRELATED  F1 0.897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50" b="1" dirty="0">
                <a:solidFill>
                  <a:srgbClr val="E37222"/>
                </a:solidFill>
              </a:rPr>
              <a:t>Class-balanced synthetic set</a:t>
            </a:r>
            <a:r>
              <a:rPr lang="en-US" sz="1150" b="1" dirty="0">
                <a:solidFill>
                  <a:srgbClr val="E37222"/>
                </a:solidFill>
              </a:rPr>
              <a:t>: </a:t>
            </a:r>
            <a:r>
              <a:rPr sz="1150" b="1" dirty="0">
                <a:solidFill>
                  <a:srgbClr val="E37222"/>
                </a:solidFill>
              </a:rPr>
              <a:t>an optimistic ceiling, not a corpus-representative estimate.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200" b="0">
                <a:solidFill>
                  <a:srgbClr val="000000"/>
                </a:solidFill>
              </a:rPr>
              <a:t>RQ5: Held-out performance sits within noise of calibration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8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lang="en-US" sz="1350" dirty="0">
                <a:solidFill>
                  <a:srgbClr val="0065BD"/>
                </a:solidFill>
              </a:rPr>
              <a:t>H</a:t>
            </a:r>
            <a:r>
              <a:rPr sz="1350" dirty="0">
                <a:solidFill>
                  <a:srgbClr val="0065BD"/>
                </a:solidFill>
              </a:rPr>
              <a:t>eldout15</a:t>
            </a:r>
            <a:r>
              <a:rPr lang="en-US" sz="1350" dirty="0">
                <a:solidFill>
                  <a:srgbClr val="0065BD"/>
                </a:solidFill>
              </a:rPr>
              <a:t>: </a:t>
            </a:r>
            <a:r>
              <a:rPr sz="1350" dirty="0">
                <a:solidFill>
                  <a:srgbClr val="0065BD"/>
                </a:solidFill>
              </a:rPr>
              <a:t>15 papers, disjoint, random sample · configuration frozen before evaluation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20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9" name="Picture 8" descr="fig_heldout_the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1531016"/>
            <a:ext cx="4114800" cy="2616391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8724157"/>
              </p:ext>
            </p:extLst>
          </p:nvPr>
        </p:nvGraphicFramePr>
        <p:xfrm>
          <a:off x="4663440" y="1371600"/>
          <a:ext cx="3977640" cy="2152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697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chemeClr val="bg1"/>
                          </a:solidFill>
                        </a:rPr>
                        <a:t>related15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chemeClr val="bg1"/>
                          </a:solidFill>
                        </a:rPr>
                        <a:t>heldout15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Strict-F1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0.7160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05293"/>
                          </a:solidFill>
                        </a:rPr>
                        <a:t>0.7128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Loose-F1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0.886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0.884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Precision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0.872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0.880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Recall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0.900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0.888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Escalation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95.6%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E37222"/>
                          </a:solidFill>
                        </a:rPr>
                        <a:t>99.0%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Rule provenance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100%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000000"/>
                          </a:solidFill>
                        </a:rPr>
                        <a:t>100%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663440" y="3675887"/>
            <a:ext cx="4160520" cy="885884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 dirty="0">
                <a:solidFill>
                  <a:srgbClr val="005293"/>
                </a:solidFill>
              </a:rPr>
              <a:t>Gap = 0.0032</a:t>
            </a:r>
            <a:r>
              <a:rPr lang="en-US" sz="1400" b="1" dirty="0">
                <a:solidFill>
                  <a:srgbClr val="005293"/>
                </a:solidFill>
              </a:rPr>
              <a:t>: </a:t>
            </a:r>
            <a:r>
              <a:rPr sz="1400" b="1" dirty="0">
                <a:solidFill>
                  <a:srgbClr val="005293"/>
                </a:solidFill>
              </a:rPr>
              <a:t>within the bootstrap noise band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50" b="0" dirty="0">
                <a:solidFill>
                  <a:srgbClr val="595959"/>
                </a:solidFill>
              </a:rPr>
              <a:t>Escalation rises to 99.0%: on unfamiliar papers the cheap voters agree even less often. </a:t>
            </a:r>
            <a:r>
              <a:rPr sz="1150" b="0" dirty="0" err="1">
                <a:solidFill>
                  <a:srgbClr val="595959"/>
                </a:solidFill>
              </a:rPr>
              <a:t>θ</a:t>
            </a:r>
            <a:r>
              <a:rPr sz="1150" b="0" dirty="0">
                <a:solidFill>
                  <a:srgbClr val="595959"/>
                </a:solidFill>
              </a:rPr>
              <a:t> was fixed after calibration</a:t>
            </a:r>
            <a:r>
              <a:rPr lang="en-US" sz="1150" b="0" dirty="0">
                <a:solidFill>
                  <a:srgbClr val="595959"/>
                </a:solidFill>
              </a:rPr>
              <a:t>, so </a:t>
            </a:r>
            <a:r>
              <a:rPr sz="1150" b="0" dirty="0">
                <a:solidFill>
                  <a:srgbClr val="595959"/>
                </a:solidFill>
              </a:rPr>
              <a:t>the sweep is descriptive only.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200" b="0">
                <a:solidFill>
                  <a:srgbClr val="000000"/>
                </a:solidFill>
              </a:rPr>
              <a:t>Every number after RQ1 measures agreement with an LLM, not a pathologist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>
                <a:solidFill>
                  <a:srgbClr val="0065BD"/>
                </a:solidFill>
              </a:rPr>
              <a:t>Limitations and threats to validity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21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" y="1403543"/>
            <a:ext cx="8513064" cy="2588914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1" dirty="0">
                <a:solidFill>
                  <a:srgbClr val="000000"/>
                </a:solidFill>
              </a:rPr>
              <a:t>•  Silver labels bound everything.</a:t>
            </a:r>
          </a:p>
          <a:p>
            <a:pPr lvl="1">
              <a:spcBef>
                <a:spcPts val="0"/>
              </a:spcBef>
              <a:spcAft>
                <a:spcPts val="1100"/>
              </a:spcAft>
            </a:pPr>
            <a:r>
              <a:rPr sz="1300" b="0" dirty="0">
                <a:solidFill>
                  <a:srgbClr val="595959"/>
                </a:solidFill>
              </a:rPr>
              <a:t>RQ2–RQ5 measure agreement with Claude Opus 4.7. No experiment in this design can lift that ceiling.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1" dirty="0">
                <a:solidFill>
                  <a:srgbClr val="000000"/>
                </a:solidFill>
              </a:rPr>
              <a:t>•  Model-family overlap threatens RQ3 specifically.</a:t>
            </a:r>
          </a:p>
          <a:p>
            <a:pPr lvl="1">
              <a:spcBef>
                <a:spcPts val="0"/>
              </a:spcBef>
              <a:spcAft>
                <a:spcPts val="1100"/>
              </a:spcAft>
            </a:pPr>
            <a:r>
              <a:rPr sz="1300" b="0" dirty="0">
                <a:solidFill>
                  <a:srgbClr val="595959"/>
                </a:solidFill>
              </a:rPr>
              <a:t>Sonnet and the Opus </a:t>
            </a:r>
            <a:r>
              <a:rPr lang="en-US" sz="1300" dirty="0">
                <a:solidFill>
                  <a:srgbClr val="595959"/>
                </a:solidFill>
              </a:rPr>
              <a:t>labeler</a:t>
            </a:r>
            <a:r>
              <a:rPr sz="1300" b="0" dirty="0">
                <a:solidFill>
                  <a:srgbClr val="595959"/>
                </a:solidFill>
              </a:rPr>
              <a:t> are both Anthropic; the cascade's voters are not. Direction </a:t>
            </a:r>
            <a:r>
              <a:rPr lang="en-US" sz="1300" b="0" dirty="0">
                <a:solidFill>
                  <a:srgbClr val="595959"/>
                </a:solidFill>
              </a:rPr>
              <a:t>is </a:t>
            </a:r>
            <a:r>
              <a:rPr sz="1300" b="0" dirty="0">
                <a:solidFill>
                  <a:srgbClr val="595959"/>
                </a:solidFill>
              </a:rPr>
              <a:t>arguable</a:t>
            </a:r>
            <a:r>
              <a:rPr lang="en-US" sz="1300" dirty="0">
                <a:solidFill>
                  <a:srgbClr val="595959"/>
                </a:solidFill>
              </a:rPr>
              <a:t>, but</a:t>
            </a:r>
            <a:r>
              <a:rPr sz="1300" b="0" dirty="0">
                <a:solidFill>
                  <a:srgbClr val="595959"/>
                </a:solidFill>
              </a:rPr>
              <a:t> magnitude </a:t>
            </a:r>
            <a:r>
              <a:rPr lang="en-US" sz="1300" b="0" dirty="0">
                <a:solidFill>
                  <a:srgbClr val="595959"/>
                </a:solidFill>
              </a:rPr>
              <a:t>is </a:t>
            </a:r>
            <a:r>
              <a:rPr sz="1300" b="0" dirty="0">
                <a:solidFill>
                  <a:srgbClr val="595959"/>
                </a:solidFill>
              </a:rPr>
              <a:t>unmeasured.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1" dirty="0">
                <a:solidFill>
                  <a:srgbClr val="000000"/>
                </a:solidFill>
              </a:rPr>
              <a:t>•  RQ1's human labels are 27 papers, one annotator.</a:t>
            </a:r>
          </a:p>
          <a:p>
            <a:pPr lvl="1">
              <a:spcBef>
                <a:spcPts val="0"/>
              </a:spcBef>
              <a:spcAft>
                <a:spcPts val="1100"/>
              </a:spcAft>
            </a:pPr>
            <a:r>
              <a:rPr sz="1300" b="0" dirty="0">
                <a:solidFill>
                  <a:srgbClr val="595959"/>
                </a:solidFill>
              </a:rPr>
              <a:t>No inter-annotator agreement. Read as trends, not exact values.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1" dirty="0">
                <a:solidFill>
                  <a:srgbClr val="000000"/>
                </a:solidFill>
              </a:rPr>
              <a:t>•  RQ4's relation set is synthetic and class-balanced.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300" b="0" dirty="0">
                <a:solidFill>
                  <a:srgbClr val="595959"/>
                </a:solidFill>
              </a:rPr>
              <a:t>An optimistic ceiling; real corpus relations have no labels at 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" y="4315968"/>
            <a:ext cx="8513064" cy="406265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0" dirty="0">
                <a:solidFill>
                  <a:srgbClr val="E37222"/>
                </a:solidFill>
              </a:rPr>
              <a:t>Scope: English, open-access, histopathology. Outputs are rule candidates for expert review</a:t>
            </a:r>
            <a:r>
              <a:rPr lang="en-US" sz="1200" b="0" dirty="0">
                <a:solidFill>
                  <a:srgbClr val="E37222"/>
                </a:solidFill>
              </a:rPr>
              <a:t>; </a:t>
            </a:r>
            <a:r>
              <a:rPr sz="1200" b="0" dirty="0">
                <a:solidFill>
                  <a:srgbClr val="E37222"/>
                </a:solidFill>
              </a:rPr>
              <a:t>confidence scores are not clinical probabilities.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82330"/>
          </a:xfrm>
        </p:spPr>
        <p:txBody>
          <a:bodyPr wrap="square" anchor="t"/>
          <a:lstStyle/>
          <a:p>
            <a:pPr algn="l"/>
            <a:r>
              <a:rPr sz="2200" b="0" dirty="0" err="1">
                <a:solidFill>
                  <a:srgbClr val="000000"/>
                </a:solidFill>
              </a:rPr>
              <a:t>Four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questions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answered</a:t>
            </a:r>
            <a:r>
              <a:rPr lang="de-DE" sz="2200" b="0" dirty="0">
                <a:solidFill>
                  <a:srgbClr val="000000"/>
                </a:solidFill>
              </a:rPr>
              <a:t>; </a:t>
            </a:r>
            <a:r>
              <a:rPr sz="2200" b="0" dirty="0" err="1">
                <a:solidFill>
                  <a:srgbClr val="000000"/>
                </a:solidFill>
              </a:rPr>
              <a:t>one</a:t>
            </a:r>
            <a:r>
              <a:rPr sz="2200" b="0" dirty="0">
                <a:solidFill>
                  <a:srgbClr val="000000"/>
                </a:solidFill>
              </a:rPr>
              <a:t> negative </a:t>
            </a:r>
            <a:r>
              <a:rPr sz="2200" b="0" dirty="0" err="1">
                <a:solidFill>
                  <a:srgbClr val="000000"/>
                </a:solidFill>
              </a:rPr>
              <a:t>result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reported</a:t>
            </a:r>
            <a:r>
              <a:rPr lang="de-DE" sz="2200" dirty="0">
                <a:solidFill>
                  <a:srgbClr val="000000"/>
                </a:solidFill>
              </a:rPr>
              <a:t>, </a:t>
            </a:r>
            <a:r>
              <a:rPr sz="2200" b="0" dirty="0">
                <a:solidFill>
                  <a:srgbClr val="000000"/>
                </a:solidFill>
              </a:rPr>
              <a:t>not </a:t>
            </a:r>
            <a:r>
              <a:rPr sz="2200" b="0" dirty="0" err="1">
                <a:solidFill>
                  <a:srgbClr val="000000"/>
                </a:solidFill>
              </a:rPr>
              <a:t>buried</a:t>
            </a:r>
            <a:endParaRPr sz="2200" b="0" dirty="0">
              <a:solidFill>
                <a:srgbClr val="000000"/>
              </a:solidFill>
            </a:endParaRP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22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0065768"/>
              </p:ext>
            </p:extLst>
          </p:nvPr>
        </p:nvGraphicFramePr>
        <p:xfrm>
          <a:off x="310896" y="1108675"/>
          <a:ext cx="8513064" cy="22692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914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33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chemeClr val="bg1"/>
                          </a:solidFill>
                        </a:rPr>
                        <a:t>RQ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chemeClr val="bg1"/>
                          </a:solidFill>
                        </a:rPr>
                        <a:t>Answer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chemeClr val="bg1"/>
                          </a:solidFill>
                        </a:rPr>
                        <a:t>Evidence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RQ1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05293"/>
                          </a:solidFill>
                        </a:rPr>
                        <a:t>Targets met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tables 0.366 → 0.838, figures 0.447 → 0.840  (human rubric)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RQ2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05293"/>
                          </a:solidFill>
                        </a:rPr>
                        <a:t>Quality reached; provenance structural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strict-F1 0.7160;  100% rule carry-rate (1,747 / 1,747)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RQ3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E37222"/>
                          </a:solidFill>
                        </a:rPr>
                        <a:t>Not cost-justified vs. the strong single model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37222"/>
                          </a:solidFill>
                        </a:rPr>
                        <a:t>Δ +0.0031, CI [−0.0002, +0.0068];  Sonnet 24% cheaper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RQ4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05293"/>
                          </a:solidFill>
                        </a:rPr>
                        <a:t>Both NLI roles behave as designed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grounding 0.716 → 0.652 by choice;  relations 0.923 (synthetic)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RQ5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05293"/>
                          </a:solidFill>
                        </a:rPr>
                        <a:t>Does not overfit the calibration cluster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000000"/>
                          </a:solidFill>
                        </a:rPr>
                        <a:t>0.7160 → 0.7128,  gap 0.0032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10896" y="3632420"/>
            <a:ext cx="8513064" cy="96012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005293"/>
                </a:solidFill>
              </a:rPr>
              <a:t>The lasting contribution is the framework, not this operating point: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000000"/>
                </a:solidFill>
              </a:rPr>
              <a:t>provenance by construction  ·  cost and quality as calibrated knobs  ·  full offline replay with no API calls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Backup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23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000" b="0">
                <a:solidFill>
                  <a:srgbClr val="000000"/>
                </a:solidFill>
              </a:rPr>
              <a:t>Post-submission audit: the sub-figure merge step never executes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>
                <a:solidFill>
                  <a:srgbClr val="0065BD"/>
                </a:solidFill>
              </a:rPr>
              <a:t>A correction to the thesis's figure-gain attribution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24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" y="1439171"/>
            <a:ext cx="8513064" cy="141732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50" b="0" dirty="0">
                <a:solidFill>
                  <a:srgbClr val="000000"/>
                </a:solidFill>
              </a:rPr>
              <a:t>The thesis credits the figure gain to three mechanisms: icon filtering, sub-figure merging, and caption matching.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600" b="1" dirty="0">
                <a:solidFill>
                  <a:srgbClr val="E37222"/>
                </a:solidFill>
              </a:rPr>
              <a:t>Sub-figure merging cannot have contributed</a:t>
            </a:r>
            <a:r>
              <a:rPr lang="en-US" sz="1600" b="1" dirty="0">
                <a:solidFill>
                  <a:srgbClr val="E37222"/>
                </a:solidFill>
              </a:rPr>
              <a:t>: </a:t>
            </a:r>
            <a:r>
              <a:rPr sz="1600" b="1" dirty="0">
                <a:solidFill>
                  <a:srgbClr val="E37222"/>
                </a:solidFill>
              </a:rPr>
              <a:t>the branch is unreachable.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 dirty="0">
                <a:solidFill>
                  <a:srgbClr val="595959"/>
                </a:solidFill>
              </a:rPr>
              <a:t>Once a figure claims a caption, that caption is removed from the candidate pool. The merge triggers only when a caption is found that is already claimed</a:t>
            </a:r>
            <a:r>
              <a:rPr lang="en-US" sz="1300" b="0" dirty="0">
                <a:solidFill>
                  <a:srgbClr val="595959"/>
                </a:solidFill>
              </a:rPr>
              <a:t>, </a:t>
            </a:r>
            <a:r>
              <a:rPr sz="1300" b="0" dirty="0">
                <a:solidFill>
                  <a:srgbClr val="595959"/>
                </a:solidFill>
              </a:rPr>
              <a:t>which can then never happen.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963934"/>
              </p:ext>
            </p:extLst>
          </p:nvPr>
        </p:nvGraphicFramePr>
        <p:xfrm>
          <a:off x="310896" y="2999232"/>
          <a:ext cx="8513064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0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2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chemeClr val="bg1"/>
                          </a:solidFill>
                        </a:rPr>
                        <a:t>Evidence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dirty="0">
                          <a:solidFill>
                            <a:schemeClr val="bg1"/>
                          </a:solidFill>
                        </a:rPr>
                        <a:t>Result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000000"/>
                          </a:solidFill>
                        </a:rPr>
                        <a:t>Instrumented the real PyMuPDFMediaCropper, 27 rubric PDFs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37222"/>
                          </a:solidFill>
                        </a:rPr>
                        <a:t>76 figures emitted, union_bbox() called 0 times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000000"/>
                          </a:solidFill>
                        </a:rPr>
                        <a:t>Replayed the loop over all 977 papers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37222"/>
                          </a:solidFill>
                        </a:rPr>
                        <a:t>merge branch entered 0 times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000000"/>
                          </a:solidFill>
                        </a:rPr>
                        <a:t>Synthetic ideal case: 2 panels, 10 pt apart, shared caption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dirty="0">
                          <a:solidFill>
                            <a:srgbClr val="E37222"/>
                          </a:solidFill>
                        </a:rPr>
                        <a:t>2 crops emitted, not 1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10896" y="4206240"/>
            <a:ext cx="8513064" cy="41148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005293"/>
                </a:solidFill>
              </a:rPr>
              <a:t>No reported number changes: the code that never ran also never affected any measurement. Figures 0.447 → 0.840 stands, driven by icon filtering and caption matching.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366126"/>
          </a:xfrm>
        </p:spPr>
        <p:txBody>
          <a:bodyPr wrap="square" anchor="t"/>
          <a:lstStyle/>
          <a:p>
            <a:pPr algn="l"/>
            <a:r>
              <a:rPr sz="2000" b="0" dirty="0">
                <a:solidFill>
                  <a:srgbClr val="000000"/>
                </a:solidFill>
              </a:rPr>
              <a:t>B1 · Research </a:t>
            </a:r>
            <a:r>
              <a:rPr sz="2000" b="0" dirty="0" err="1">
                <a:solidFill>
                  <a:srgbClr val="000000"/>
                </a:solidFill>
              </a:rPr>
              <a:t>questions</a:t>
            </a:r>
            <a:r>
              <a:rPr lang="de-DE" sz="2000" dirty="0">
                <a:solidFill>
                  <a:srgbClr val="000000"/>
                </a:solidFill>
              </a:rPr>
              <a:t>, </a:t>
            </a:r>
            <a:r>
              <a:rPr lang="de-DE" sz="2000" b="0" dirty="0">
                <a:solidFill>
                  <a:srgbClr val="000000"/>
                </a:solidFill>
              </a:rPr>
              <a:t>and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their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answers</a:t>
            </a:r>
            <a:endParaRPr sz="2000" b="0" dirty="0">
              <a:solidFill>
                <a:srgbClr val="000000"/>
              </a:solidFill>
            </a:endParaRP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25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TR" sz="1000" dirty="0"/>
              <a:t>11.</a:t>
            </a:r>
            <a:r>
              <a:rPr sz="1000" dirty="0"/>
              <a:t> August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8016934"/>
              </p:ext>
            </p:extLst>
          </p:nvPr>
        </p:nvGraphicFramePr>
        <p:xfrm>
          <a:off x="310896" y="1060704"/>
          <a:ext cx="8513064" cy="2855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686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dirty="0">
                          <a:solidFill>
                            <a:schemeClr val="bg1"/>
                          </a:solidFill>
                        </a:rPr>
                        <a:t>RQ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chemeClr val="bg1"/>
                          </a:solidFill>
                        </a:rPr>
                        <a:t>Question (as stated in the thesis)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dirty="0">
                          <a:solidFill>
                            <a:schemeClr val="bg1"/>
                          </a:solidFill>
                        </a:rPr>
                        <a:t>Answer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</a:rPr>
                        <a:t>RQ1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000000"/>
                          </a:solidFill>
                        </a:rPr>
                        <a:t>How faithfully does the document-extraction pipeline recover the text, tables, figures, captions and related layout information</a:t>
                      </a:r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, 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</a:rPr>
                        <a:t>and how much does it improve on the off-the-shelf document-extractor baseline?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</a:rPr>
                        <a:t>tables 0.366 → 0.838;  figures 0.447 → 0.840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</a:rPr>
                        <a:t>RQ2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</a:rPr>
                        <a:t>What is the quality of the extracted findings and rules against strong-model-generated silver labels, and is provenance preserved end-to-end for every extracted figure, table and rule?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</a:rPr>
                        <a:t>strict-F1 0.7160;  provenance 100%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</a:rPr>
                        <a:t>RQ3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</a:rPr>
                        <a:t>Is the agreement-based cascade worth its cost, relative to sending each text chunk to a single strong model?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</a:rPr>
                        <a:t>No — Δ +0.0031, not significant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</a:rPr>
                        <a:t>RQ4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</a:rPr>
                        <a:t>How does the shared biomedical NLI model perform in its grounding and relation-classification roles?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</a:rPr>
                        <a:t>as designed;  0.652 / 0.923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</a:rPr>
                        <a:t>RQ5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</a:rPr>
                        <a:t>Does the performance of the configuration calibrated on one set of papers generalize to a held-out set, or does it overfit the calibration cluster?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000000"/>
                          </a:solidFill>
                        </a:rPr>
                        <a:t>0.7128 — no meaningful overfit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10896" y="4160520"/>
            <a:ext cx="8513064" cy="375487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US" sz="1100" b="0" dirty="0">
                <a:solidFill>
                  <a:srgbClr val="E37222"/>
                </a:solidFill>
              </a:rPr>
              <a:t>The </a:t>
            </a:r>
            <a:r>
              <a:rPr sz="1100" b="0" dirty="0">
                <a:solidFill>
                  <a:srgbClr val="E37222"/>
                </a:solidFill>
              </a:rPr>
              <a:t>silver metrics depend on silver labels generated by a strong LLM, so the resulting scores measure agreement with the labeler, not ground truth.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000" b="0">
                <a:solidFill>
                  <a:srgbClr val="000000"/>
                </a:solidFill>
              </a:rPr>
              <a:t>B2 · Corpus acquisition and the page-cap trade-off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26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" y="1097280"/>
            <a:ext cx="4114800" cy="292608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 dirty="0">
                <a:solidFill>
                  <a:srgbClr val="005293"/>
                </a:solidFill>
              </a:rPr>
              <a:t>Acquisition funnel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50" b="0" dirty="0">
                <a:solidFill>
                  <a:srgbClr val="000000"/>
                </a:solidFill>
              </a:rPr>
              <a:t>1,132   downloaded PDF files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50" b="0" dirty="0">
                <a:solidFill>
                  <a:srgbClr val="000000"/>
                </a:solidFill>
              </a:rPr>
              <a:t>1,093   targeted PMC identifiers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50" b="0" dirty="0">
                <a:solidFill>
                  <a:srgbClr val="000000"/>
                </a:solidFill>
              </a:rPr>
              <a:t>1,070   single-PDF papers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50" b="0" dirty="0">
                <a:solidFill>
                  <a:srgbClr val="000000"/>
                </a:solidFill>
              </a:rPr>
              <a:t>981   candidates after the ≤30-page filter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450" b="1" dirty="0">
                <a:solidFill>
                  <a:srgbClr val="005293"/>
                </a:solidFill>
              </a:rPr>
              <a:t>977   ingested into the database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50" b="0" dirty="0">
                <a:solidFill>
                  <a:srgbClr val="595959"/>
                </a:solidFill>
              </a:rPr>
              <a:t>4 papers fail </a:t>
            </a:r>
            <a:r>
              <a:rPr sz="1150" b="0" dirty="0" err="1">
                <a:solidFill>
                  <a:srgbClr val="595959"/>
                </a:solidFill>
              </a:rPr>
              <a:t>Docling</a:t>
            </a:r>
            <a:r>
              <a:rPr sz="1150" b="0" dirty="0">
                <a:solidFill>
                  <a:srgbClr val="595959"/>
                </a:solidFill>
              </a:rPr>
              <a:t> conversion (missing page-dimension metadata).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663440" y="1097280"/>
          <a:ext cx="402336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575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0000"/>
                          </a:solidFill>
                        </a:rPr>
                        <a:t>Cap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0000"/>
                          </a:solidFill>
                        </a:rPr>
                        <a:t>Papers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0000"/>
                          </a:solidFill>
                        </a:rPr>
                        <a:t>% papers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0000"/>
                          </a:solidFill>
                        </a:rPr>
                        <a:t>Pages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0000"/>
                          </a:solidFill>
                        </a:rPr>
                        <a:t>% volume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≤15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876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81.9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6,757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41.5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≤20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932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87.1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7,731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47.5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≤25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963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90.0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8,436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51.8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≤30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981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91.7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8,929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54.9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≤40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1,000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93.5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9,602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59.0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≤50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1,014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94.8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10,237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62.9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none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1,070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100.0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16,277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100.0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663440" y="3840480"/>
            <a:ext cx="4160520" cy="50292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595959"/>
                </a:solidFill>
              </a:rPr>
              <a:t>The 30-page cap is the 92nd percentile: it keeps 91.7% of papers and 54.9% of total page volume.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000" b="0">
                <a:solidFill>
                  <a:srgbClr val="000000"/>
                </a:solidFill>
              </a:rPr>
              <a:t>B3 · Why these 15 calibration papers: an integer linear program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27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" y="1060704"/>
            <a:ext cx="8513064" cy="2724849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0" dirty="0">
                <a:solidFill>
                  <a:srgbClr val="000000"/>
                </a:solidFill>
              </a:rPr>
              <a:t>•  Fingerprint buckets: disease · biomarker · method · outcome · gene · tissue · generic · CUI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0" dirty="0">
                <a:solidFill>
                  <a:srgbClr val="000000"/>
                </a:solidFill>
              </a:rPr>
              <a:t>•  Relatedness = weighted Jaccard sum; disease weighted most, generic down-weighted, penalty for zero disease overlap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0" dirty="0">
                <a:solidFill>
                  <a:srgbClr val="000000"/>
                </a:solidFill>
              </a:rPr>
              <a:t>•  Eligibility: 20–350 sentences, ≥1 non-empty disease/biomarker/gene bucket, ≥</a:t>
            </a:r>
            <a:r>
              <a:rPr lang="en-US" sz="1400" b="0" dirty="0">
                <a:solidFill>
                  <a:srgbClr val="000000"/>
                </a:solidFill>
              </a:rPr>
              <a:t> </a:t>
            </a:r>
            <a:r>
              <a:rPr sz="1400" b="0" dirty="0">
                <a:solidFill>
                  <a:srgbClr val="000000"/>
                </a:solidFill>
              </a:rPr>
              <a:t>3 distinct non-empty entities  →  drops 56 papers, 977 → 921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0" dirty="0">
                <a:solidFill>
                  <a:srgbClr val="000000"/>
                </a:solidFill>
              </a:rPr>
              <a:t>•  Exhaustive solve at k = 15 with </a:t>
            </a:r>
            <a:r>
              <a:rPr sz="1400" b="0" dirty="0" err="1">
                <a:solidFill>
                  <a:srgbClr val="000000"/>
                </a:solidFill>
              </a:rPr>
              <a:t>PuLP</a:t>
            </a:r>
            <a:r>
              <a:rPr sz="1400" b="0" dirty="0">
                <a:solidFill>
                  <a:srgbClr val="000000"/>
                </a:solidFill>
              </a:rPr>
              <a:t> / CBC</a:t>
            </a:r>
            <a:r>
              <a:rPr lang="en-US" sz="1400" b="0" dirty="0">
                <a:solidFill>
                  <a:srgbClr val="000000"/>
                </a:solidFill>
              </a:rPr>
              <a:t>, </a:t>
            </a:r>
            <a:r>
              <a:rPr lang="en-US" sz="1400" dirty="0">
                <a:solidFill>
                  <a:srgbClr val="000000"/>
                </a:solidFill>
              </a:rPr>
              <a:t>with </a:t>
            </a:r>
            <a:r>
              <a:rPr sz="1400" b="0" dirty="0">
                <a:solidFill>
                  <a:srgbClr val="000000"/>
                </a:solidFill>
              </a:rPr>
              <a:t>no candidate cap, no time limit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sz="1400" b="0" dirty="0">
                <a:solidFill>
                  <a:srgbClr val="000000"/>
                </a:solidFill>
              </a:rPr>
              <a:t>•  All 105 pairs in the selected cluster have relatedness &gt; 0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0" dirty="0">
                <a:solidFill>
                  <a:srgbClr val="E37222"/>
                </a:solidFill>
              </a:rPr>
              <a:t>The cluster is deliberately related, which makes it a </a:t>
            </a:r>
            <a:r>
              <a:rPr lang="en-US" sz="1250" dirty="0">
                <a:solidFill>
                  <a:srgbClr val="E37222"/>
                </a:solidFill>
              </a:rPr>
              <a:t>favorable</a:t>
            </a:r>
            <a:r>
              <a:rPr sz="1250" b="0" dirty="0">
                <a:solidFill>
                  <a:srgbClr val="E37222"/>
                </a:solidFill>
              </a:rPr>
              <a:t> case for </a:t>
            </a:r>
            <a:r>
              <a:rPr lang="en-US" sz="1250" dirty="0">
                <a:solidFill>
                  <a:srgbClr val="E37222"/>
                </a:solidFill>
              </a:rPr>
              <a:t>assessing voter agreement. The randomly sampled held-out set serves as</a:t>
            </a:r>
            <a:r>
              <a:rPr sz="1250" b="0" dirty="0">
                <a:solidFill>
                  <a:srgbClr val="E37222"/>
                </a:solidFill>
              </a:rPr>
              <a:t> the control.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000" b="0">
                <a:solidFill>
                  <a:srgbClr val="000000"/>
                </a:solidFill>
              </a:rPr>
              <a:t>B4 · The document-extraction rubric: four dimensions, no partial credit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28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" y="1120079"/>
            <a:ext cx="8513064" cy="2714589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50" b="1" dirty="0">
                <a:solidFill>
                  <a:srgbClr val="000000"/>
                </a:solidFill>
              </a:rPr>
              <a:t>Four dimensions, each scored in [0,1]; n/a excluded from the average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50" b="0" dirty="0">
                <a:solidFill>
                  <a:srgbClr val="000000"/>
                </a:solidFill>
              </a:rPr>
              <a:t>•  crop</a:t>
            </a:r>
            <a:r>
              <a:rPr lang="en-US" sz="1350" b="0" dirty="0">
                <a:solidFill>
                  <a:srgbClr val="000000"/>
                </a:solidFill>
              </a:rPr>
              <a:t>: </a:t>
            </a:r>
            <a:r>
              <a:rPr sz="1350" b="0" dirty="0">
                <a:solidFill>
                  <a:srgbClr val="000000"/>
                </a:solidFill>
              </a:rPr>
              <a:t>is the emitted region geometrically right?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50" b="0" dirty="0">
                <a:solidFill>
                  <a:srgbClr val="000000"/>
                </a:solidFill>
              </a:rPr>
              <a:t>•  caption</a:t>
            </a:r>
            <a:r>
              <a:rPr lang="en-US" sz="1350" b="0" dirty="0">
                <a:solidFill>
                  <a:srgbClr val="000000"/>
                </a:solidFill>
              </a:rPr>
              <a:t>: </a:t>
            </a:r>
            <a:r>
              <a:rPr sz="1350" b="0" dirty="0">
                <a:solidFill>
                  <a:srgbClr val="000000"/>
                </a:solidFill>
              </a:rPr>
              <a:t>is the correct caption attached?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50" b="0" dirty="0">
                <a:solidFill>
                  <a:srgbClr val="000000"/>
                </a:solidFill>
              </a:rPr>
              <a:t>•  footnot</a:t>
            </a:r>
            <a:r>
              <a:rPr lang="en-US" sz="1350" b="0" dirty="0">
                <a:solidFill>
                  <a:srgbClr val="000000"/>
                </a:solidFill>
              </a:rPr>
              <a:t>e</a:t>
            </a:r>
            <a:r>
              <a:rPr lang="en-TR" sz="1350" dirty="0">
                <a:solidFill>
                  <a:srgbClr val="000000"/>
                </a:solidFill>
              </a:rPr>
              <a:t>:</a:t>
            </a:r>
            <a:r>
              <a:rPr sz="1350" b="0" dirty="0">
                <a:solidFill>
                  <a:srgbClr val="000000"/>
                </a:solidFill>
              </a:rPr>
              <a:t> are the table's footnotes inside the crop?</a:t>
            </a:r>
            <a:r>
              <a:rPr lang="en-US" sz="1350" b="0" dirty="0">
                <a:solidFill>
                  <a:srgbClr val="000000"/>
                </a:solidFill>
              </a:rPr>
              <a:t> </a:t>
            </a:r>
            <a:r>
              <a:rPr sz="1350" b="0" dirty="0">
                <a:solidFill>
                  <a:srgbClr val="000000"/>
                </a:solidFill>
              </a:rPr>
              <a:t>(tables only)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350" b="0" dirty="0">
                <a:solidFill>
                  <a:srgbClr val="000000"/>
                </a:solidFill>
              </a:rPr>
              <a:t>•  mask</a:t>
            </a:r>
            <a:r>
              <a:rPr lang="en-US" sz="1350" b="0" dirty="0">
                <a:solidFill>
                  <a:srgbClr val="000000"/>
                </a:solidFill>
              </a:rPr>
              <a:t>: </a:t>
            </a:r>
            <a:r>
              <a:rPr sz="1350" b="0" dirty="0">
                <a:solidFill>
                  <a:srgbClr val="000000"/>
                </a:solidFill>
              </a:rPr>
              <a:t>was the region correctly removed from the body text?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lang="en-US" sz="1400" b="1" dirty="0">
                <a:solidFill>
                  <a:srgbClr val="005293"/>
                </a:solidFill>
              </a:rPr>
              <a:t>Strict-F1</a:t>
            </a:r>
            <a:r>
              <a:rPr sz="1400" b="1" dirty="0">
                <a:solidFill>
                  <a:srgbClr val="005293"/>
                </a:solidFill>
              </a:rPr>
              <a:t> counts an artifact as a true positive only if it receives the top rubric label on every applicable dimension. Near-misses get no partial credit.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0" dirty="0">
                <a:solidFill>
                  <a:srgbClr val="595959"/>
                </a:solidFill>
              </a:rPr>
              <a:t>Staged sweep over 4 axes</a:t>
            </a:r>
            <a:r>
              <a:rPr lang="en-US" sz="1250" b="0" dirty="0">
                <a:solidFill>
                  <a:srgbClr val="595959"/>
                </a:solidFill>
              </a:rPr>
              <a:t>: </a:t>
            </a:r>
            <a:r>
              <a:rPr sz="1250" b="0" dirty="0">
                <a:solidFill>
                  <a:srgbClr val="595959"/>
                </a:solidFill>
              </a:rPr>
              <a:t>backend, confidence threshold, footnote multiplier, region handling ∈ {drop, pre-mask, reconstruct, merge} + header clipping = 31 variants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000" b="0">
                <a:solidFill>
                  <a:srgbClr val="000000"/>
                </a:solidFill>
              </a:rPr>
              <a:t>B5 · Full document-extraction sweep, all key variants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29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3701579"/>
              </p:ext>
            </p:extLst>
          </p:nvPr>
        </p:nvGraphicFramePr>
        <p:xfrm>
          <a:off x="310896" y="1060704"/>
          <a:ext cx="8513064" cy="1783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9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47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Configuration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Crop F1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Mask F1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Caption P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Footnote P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chemeClr val="bg1"/>
                          </a:solidFill>
                        </a:rPr>
                        <a:t>Strict-F1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7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Off-the-shelf Docling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90.1%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95.8%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90.6%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43.8%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36.6%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7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Pipeline, Docling-only tables (v01)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91.4%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94.3%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93.8%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43.8%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40.0%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7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Hybrid @0.99, no footnote-expand (v07)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86.4%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97.7%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94.3%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48.6%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42.0%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7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Docling + footnote-expand ×1.2 (v16)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88.6%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91.4%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93.8%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90.6%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80.0%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7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TATR + footnote-expand ×1.2 (v17)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91.9%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91.9%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94.3%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71.4%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64.9%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7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Hybrid + footnote-expand ×1.2 (v18, pinned)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91.9%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91.9%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94.3%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91.4%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005293"/>
                          </a:solidFill>
                        </a:rPr>
                        <a:t>83.8%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2919790"/>
              </p:ext>
            </p:extLst>
          </p:nvPr>
        </p:nvGraphicFramePr>
        <p:xfrm>
          <a:off x="310896" y="3054096"/>
          <a:ext cx="8513064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9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Figures (identical across all sweep variants)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Crop F1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Mask F1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Caption P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Strict-F1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chemeClr val="bg1"/>
                          </a:solidFill>
                        </a:rPr>
                        <a:t>Icon FPs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Off-the-shelf Docling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61.7%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98.5%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60.6%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44.7%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73 of 99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Production pipeline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89.9%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100.0%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90.3%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84.0%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005293"/>
                          </a:solidFill>
                        </a:rPr>
                        <a:t>14 of 21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10896" y="4041648"/>
            <a:ext cx="8513064" cy="50292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595959"/>
                </a:solidFill>
              </a:rPr>
              <a:t>Crop and mask are F1; caption and footnote are precision. v17 and v18 also apply the caption/crop-geometry family fixes. The sweep varies table handling only, so figure metrics are constant across variants.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000" b="0" dirty="0">
                <a:solidFill>
                  <a:srgbClr val="000000"/>
                </a:solidFill>
              </a:rPr>
              <a:t>B6 · How a </a:t>
            </a:r>
            <a:r>
              <a:rPr sz="2000" b="0" dirty="0" err="1">
                <a:solidFill>
                  <a:srgbClr val="000000"/>
                </a:solidFill>
              </a:rPr>
              <a:t>pipeline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finding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is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matched</a:t>
            </a:r>
            <a:r>
              <a:rPr sz="2000" b="0" dirty="0">
                <a:solidFill>
                  <a:srgbClr val="000000"/>
                </a:solidFill>
              </a:rPr>
              <a:t> to a </a:t>
            </a:r>
            <a:r>
              <a:rPr sz="2000" b="0" dirty="0" err="1">
                <a:solidFill>
                  <a:srgbClr val="000000"/>
                </a:solidFill>
              </a:rPr>
              <a:t>silver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label</a:t>
            </a:r>
            <a:endParaRPr sz="2000" b="0" dirty="0">
              <a:solidFill>
                <a:srgbClr val="000000"/>
              </a:solidFill>
            </a:endParaRP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30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" y="1060704"/>
            <a:ext cx="8513064" cy="2414507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0" dirty="0">
                <a:solidFill>
                  <a:srgbClr val="000000"/>
                </a:solidFill>
              </a:rPr>
              <a:t>•  Six concatenated fields are embedded; eligibility requires cosine &gt; 0.55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0" dirty="0">
                <a:solidFill>
                  <a:srgbClr val="000000"/>
                </a:solidFill>
              </a:rPr>
              <a:t>•  One-to-one assignment</a:t>
            </a:r>
            <a:r>
              <a:rPr lang="en-US" sz="1400" b="0" dirty="0">
                <a:solidFill>
                  <a:srgbClr val="000000"/>
                </a:solidFill>
              </a:rPr>
              <a:t>: </a:t>
            </a:r>
            <a:r>
              <a:rPr sz="1400" b="0" dirty="0">
                <a:solidFill>
                  <a:srgbClr val="000000"/>
                </a:solidFill>
              </a:rPr>
              <a:t>optimal (Hungarian) is the reported matcher; greedy is kept as a sensitivity diagnostic and never drives selection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0" dirty="0">
                <a:solidFill>
                  <a:srgbClr val="000000"/>
                </a:solidFill>
              </a:rPr>
              <a:t>•  loose TP = matched at all. loose P = </a:t>
            </a:r>
            <a:r>
              <a:rPr sz="1400" b="0" dirty="0" err="1">
                <a:solidFill>
                  <a:srgbClr val="000000"/>
                </a:solidFill>
              </a:rPr>
              <a:t>n_matched</a:t>
            </a:r>
            <a:r>
              <a:rPr sz="1400" b="0" dirty="0">
                <a:solidFill>
                  <a:srgbClr val="000000"/>
                </a:solidFill>
              </a:rPr>
              <a:t> / </a:t>
            </a:r>
            <a:r>
              <a:rPr sz="1400" b="0" dirty="0" err="1">
                <a:solidFill>
                  <a:srgbClr val="000000"/>
                </a:solidFill>
              </a:rPr>
              <a:t>n_pipeline</a:t>
            </a:r>
            <a:r>
              <a:rPr sz="1400" b="0" dirty="0">
                <a:solidFill>
                  <a:srgbClr val="000000"/>
                </a:solidFill>
              </a:rPr>
              <a:t>,  loose R = </a:t>
            </a:r>
            <a:r>
              <a:rPr sz="1400" b="0" dirty="0" err="1">
                <a:solidFill>
                  <a:srgbClr val="000000"/>
                </a:solidFill>
              </a:rPr>
              <a:t>n_matched</a:t>
            </a:r>
            <a:r>
              <a:rPr sz="1400" b="0" dirty="0">
                <a:solidFill>
                  <a:srgbClr val="000000"/>
                </a:solidFill>
              </a:rPr>
              <a:t> / </a:t>
            </a:r>
            <a:r>
              <a:rPr sz="1400" b="0" dirty="0" err="1">
                <a:solidFill>
                  <a:srgbClr val="000000"/>
                </a:solidFill>
              </a:rPr>
              <a:t>n_silver</a:t>
            </a:r>
            <a:endParaRPr sz="1400" b="0" dirty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sz="1400" b="0" dirty="0">
                <a:solidFill>
                  <a:srgbClr val="000000"/>
                </a:solidFill>
              </a:rPr>
              <a:t>•  strict TP requires relation type, </a:t>
            </a:r>
            <a:r>
              <a:rPr lang="en-US" sz="1400" dirty="0">
                <a:solidFill>
                  <a:srgbClr val="000000"/>
                </a:solidFill>
              </a:rPr>
              <a:t>direction,</a:t>
            </a:r>
            <a:r>
              <a:rPr sz="1400" b="0" dirty="0">
                <a:solidFill>
                  <a:srgbClr val="000000"/>
                </a:solidFill>
              </a:rPr>
              <a:t> and category to ALL agree; disagreement on ≥1 of the three contributes 0.5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 dirty="0">
                <a:solidFill>
                  <a:srgbClr val="005293"/>
                </a:solidFill>
              </a:rPr>
              <a:t>Calibration decomposition:  recall 0.900,  precision 0.872,  loose-F1 0.886  →  tightening to strict gives 0.7160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000" b="0">
                <a:solidFill>
                  <a:srgbClr val="000000"/>
                </a:solidFill>
              </a:rPr>
              <a:t>B7 · The pinned cascade configuration of record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31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5006275"/>
              </p:ext>
            </p:extLst>
          </p:nvPr>
        </p:nvGraphicFramePr>
        <p:xfrm>
          <a:off x="310896" y="906326"/>
          <a:ext cx="8513064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26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97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chemeClr val="bg1"/>
                          </a:solidFill>
                        </a:rPr>
                        <a:t>Knob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Value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chemeClr val="bg1"/>
                          </a:solidFill>
                        </a:rPr>
                        <a:t>Fixed by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Voter set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dirty="0">
                          <a:solidFill>
                            <a:srgbClr val="000000"/>
                          </a:solidFill>
                        </a:rPr>
                        <a:t>5 voters — Claude Haiku 4.5 dropped from Level 2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E06b / E06c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Scorer / alignment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hybrid  /  greedy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E05 / E06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Hybrid blend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0.15 category · 0.30 embedding · 0.50 entity · 0.05 evidence (entity-heavy)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E06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Embedder / τ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Gemini  /  0.15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E06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θ  /  θ_reject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0.9  /  0.2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E07 / E08b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Single-voter policy / polarity hard-fail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escalate  /  true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E08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Grounding threshold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0.5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E03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Headline operating point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005293"/>
                          </a:solidFill>
                        </a:rPr>
                        <a:t>strict-F1 0.7160 at 95.6% escalation (before grounding)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dirty="0">
                          <a:solidFill>
                            <a:srgbClr val="000000"/>
                          </a:solidFill>
                        </a:rPr>
                        <a:t>E08 / E08b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10896" y="3777542"/>
            <a:ext cx="8513064" cy="967957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00" b="0" dirty="0">
                <a:solidFill>
                  <a:srgbClr val="595959"/>
                </a:solidFill>
              </a:rPr>
              <a:t>L1  Gemini Flash-Lite · GPT-4o mini · GPT-4.1 nano      </a:t>
            </a:r>
            <a:endParaRPr lang="en-US" sz="1200" b="0" dirty="0">
              <a:solidFill>
                <a:srgbClr val="595959"/>
              </a:solidFill>
            </a:endParaRP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00" b="0" dirty="0">
                <a:solidFill>
                  <a:srgbClr val="595959"/>
                </a:solidFill>
              </a:rPr>
              <a:t>L2  Gemini Flash · GPT-4.1 mini      </a:t>
            </a:r>
            <a:endParaRPr lang="en-US" sz="1200" b="0" dirty="0">
              <a:solidFill>
                <a:srgbClr val="595959"/>
              </a:solidFill>
            </a:endParaRP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00" b="0" dirty="0">
                <a:solidFill>
                  <a:srgbClr val="595959"/>
                </a:solidFill>
              </a:rPr>
              <a:t>L3  Claude Sonnet 4.6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0" dirty="0">
                <a:solidFill>
                  <a:srgbClr val="595959"/>
                </a:solidFill>
              </a:rPr>
              <a:t>All production voters run at temperature 0.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000" b="0">
                <a:solidFill>
                  <a:srgbClr val="000000"/>
                </a:solidFill>
              </a:rPr>
              <a:t>B8 · θ sweep and the gate ablation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32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9" name="Picture 8" descr="fig_theta_strict_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1178225"/>
            <a:ext cx="4114800" cy="26383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63440" y="1052630"/>
            <a:ext cx="4160520" cy="3368614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 dirty="0">
                <a:solidFill>
                  <a:srgbClr val="005293"/>
                </a:solidFill>
              </a:rPr>
              <a:t>Threshold sensitivity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 dirty="0">
                <a:solidFill>
                  <a:srgbClr val="000000"/>
                </a:solidFill>
              </a:rPr>
              <a:t>•  </a:t>
            </a:r>
            <a:r>
              <a:rPr sz="1300" b="0" dirty="0" err="1">
                <a:solidFill>
                  <a:srgbClr val="000000"/>
                </a:solidFill>
              </a:rPr>
              <a:t>θ</a:t>
            </a:r>
            <a:r>
              <a:rPr sz="1300" b="0" dirty="0">
                <a:solidFill>
                  <a:srgbClr val="000000"/>
                </a:solidFill>
              </a:rPr>
              <a:t> 0.7 → 0.8:  ≈ +0.05 strict-F1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 dirty="0">
                <a:solidFill>
                  <a:srgbClr val="000000"/>
                </a:solidFill>
              </a:rPr>
              <a:t>•  </a:t>
            </a:r>
            <a:r>
              <a:rPr sz="1300" b="0" dirty="0" err="1">
                <a:solidFill>
                  <a:srgbClr val="000000"/>
                </a:solidFill>
              </a:rPr>
              <a:t>θ</a:t>
            </a:r>
            <a:r>
              <a:rPr sz="1300" b="0" dirty="0">
                <a:solidFill>
                  <a:srgbClr val="000000"/>
                </a:solidFill>
              </a:rPr>
              <a:t> 0.8 → 0.9:  +0.0085 strict-F1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300" b="0" dirty="0">
                <a:solidFill>
                  <a:srgbClr val="000000"/>
                </a:solidFill>
              </a:rPr>
              <a:t>•  optimal </a:t>
            </a:r>
            <a:r>
              <a:rPr sz="1300" b="0" dirty="0" err="1">
                <a:solidFill>
                  <a:srgbClr val="000000"/>
                </a:solidFill>
              </a:rPr>
              <a:t>θ_reject</a:t>
            </a:r>
            <a:r>
              <a:rPr sz="1300" b="0" dirty="0">
                <a:solidFill>
                  <a:srgbClr val="000000"/>
                </a:solidFill>
              </a:rPr>
              <a:t> = 0.2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 dirty="0">
                <a:solidFill>
                  <a:srgbClr val="005293"/>
                </a:solidFill>
              </a:rPr>
              <a:t>Gate ablation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 dirty="0">
                <a:solidFill>
                  <a:srgbClr val="000000"/>
                </a:solidFill>
              </a:rPr>
              <a:t>•  single-voter escalate 0.7160 vs keep 0.7147</a:t>
            </a:r>
            <a:r>
              <a:rPr lang="en-US" sz="1300" b="0" dirty="0">
                <a:solidFill>
                  <a:srgbClr val="000000"/>
                </a:solidFill>
              </a:rPr>
              <a:t>: </a:t>
            </a:r>
            <a:r>
              <a:rPr sz="1300" b="0" dirty="0">
                <a:solidFill>
                  <a:srgbClr val="000000"/>
                </a:solidFill>
              </a:rPr>
              <a:t>the gain is within noise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 dirty="0">
                <a:solidFill>
                  <a:srgbClr val="000000"/>
                </a:solidFill>
              </a:rPr>
              <a:t>•  polarity hard-fail fires on 15 of 474 chunks (3.16%)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300" b="0" dirty="0">
                <a:solidFill>
                  <a:srgbClr val="000000"/>
                </a:solidFill>
              </a:rPr>
              <a:t>•  at </a:t>
            </a:r>
            <a:r>
              <a:rPr sz="1300" b="0" dirty="0" err="1">
                <a:solidFill>
                  <a:srgbClr val="000000"/>
                </a:solidFill>
              </a:rPr>
              <a:t>θ</a:t>
            </a:r>
            <a:r>
              <a:rPr sz="1300" b="0" dirty="0">
                <a:solidFill>
                  <a:srgbClr val="000000"/>
                </a:solidFill>
              </a:rPr>
              <a:t> = 0.9 it changes exactly one routing decision</a:t>
            </a:r>
            <a:r>
              <a:rPr lang="en-US" sz="1300" b="0" dirty="0">
                <a:solidFill>
                  <a:srgbClr val="000000"/>
                </a:solidFill>
              </a:rPr>
              <a:t>:</a:t>
            </a:r>
            <a:r>
              <a:rPr sz="1300" b="0" dirty="0">
                <a:solidFill>
                  <a:srgbClr val="000000"/>
                </a:solidFill>
              </a:rPr>
              <a:t> 453 L3 invocations instead of 452</a:t>
            </a:r>
            <a:r>
              <a:rPr lang="en-US" sz="1300" dirty="0">
                <a:solidFill>
                  <a:srgbClr val="000000"/>
                </a:solidFill>
              </a:rPr>
              <a:t>, </a:t>
            </a:r>
            <a:r>
              <a:rPr sz="1300" b="0" dirty="0">
                <a:solidFill>
                  <a:srgbClr val="000000"/>
                </a:solidFill>
              </a:rPr>
              <a:t>moving strict-F1 by 0.0001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US" sz="1150" dirty="0">
                <a:solidFill>
                  <a:srgbClr val="E37222"/>
                </a:solidFill>
              </a:rPr>
              <a:t>T</a:t>
            </a:r>
            <a:r>
              <a:rPr sz="1150" b="0" dirty="0">
                <a:solidFill>
                  <a:srgbClr val="E37222"/>
                </a:solidFill>
              </a:rPr>
              <a:t>he</a:t>
            </a:r>
            <a:r>
              <a:rPr lang="en-US" sz="1150" b="0" dirty="0">
                <a:solidFill>
                  <a:srgbClr val="E37222"/>
                </a:solidFill>
              </a:rPr>
              <a:t>se </a:t>
            </a:r>
            <a:r>
              <a:rPr sz="1150" b="0" dirty="0">
                <a:solidFill>
                  <a:srgbClr val="E37222"/>
                </a:solidFill>
              </a:rPr>
              <a:t>gates exist for safety</a:t>
            </a:r>
            <a:r>
              <a:rPr lang="en-US" sz="1150" dirty="0">
                <a:solidFill>
                  <a:srgbClr val="E37222"/>
                </a:solidFill>
              </a:rPr>
              <a:t>, not for improving strict-F1.</a:t>
            </a:r>
            <a:endParaRPr sz="1150" b="0" dirty="0">
              <a:solidFill>
                <a:srgbClr val="E37222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000" b="0">
                <a:solidFill>
                  <a:srgbClr val="000000"/>
                </a:solidFill>
              </a:rPr>
              <a:t>B9 · Cost model, operating points, and all single-model baselines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33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lang="en-TR" sz="1000" dirty="0"/>
              <a:t>.</a:t>
            </a:r>
            <a:r>
              <a:rPr sz="1000" dirty="0"/>
              <a:t> August 2026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843523"/>
              </p:ext>
            </p:extLst>
          </p:nvPr>
        </p:nvGraphicFramePr>
        <p:xfrm>
          <a:off x="310896" y="966483"/>
          <a:ext cx="4160520" cy="27889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987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System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Strict-F1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chemeClr val="bg1"/>
                          </a:solidFill>
                        </a:rPr>
                        <a:t>Cost / chunk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87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Cascade, five voters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0.7160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23.66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87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Single Claude Sonnet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0.7129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18.00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87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Single Claude Haiku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0.6558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4.80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87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Single GPT-4.1-mini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0.5957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2.00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87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Single Gemini Flash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0.5761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2.80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87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Single Gemini Flash Lite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0.5721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0.50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987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Single GPT-4o-mini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0.5394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0.75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987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Single GPT-4.1-nano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0.4570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dirty="0">
                          <a:solidFill>
                            <a:srgbClr val="000000"/>
                          </a:solidFill>
                        </a:rPr>
                        <a:t>0.50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3554342"/>
              </p:ext>
            </p:extLst>
          </p:nvPr>
        </p:nvGraphicFramePr>
        <p:xfrm>
          <a:off x="4663440" y="966483"/>
          <a:ext cx="4160520" cy="1543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Operating point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 err="1">
                          <a:solidFill>
                            <a:schemeClr val="bg1"/>
                          </a:solidFill>
                        </a:rPr>
                        <a:t>θ</a:t>
                      </a:r>
                      <a:r>
                        <a:rPr sz="1050" b="1" dirty="0">
                          <a:solidFill>
                            <a:schemeClr val="bg1"/>
                          </a:solidFill>
                        </a:rPr>
                        <a:t> / </a:t>
                      </a:r>
                      <a:r>
                        <a:rPr sz="1050" b="1" dirty="0" err="1">
                          <a:solidFill>
                            <a:schemeClr val="bg1"/>
                          </a:solidFill>
                        </a:rPr>
                        <a:t>θ_r</a:t>
                      </a:r>
                      <a:endParaRPr sz="1050" b="1" dirty="0">
                        <a:solidFill>
                          <a:schemeClr val="bg1"/>
                        </a:solidFill>
                      </a:endParaRP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Strict-F1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Cost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chemeClr val="bg1"/>
                          </a:solidFill>
                        </a:rPr>
                        <a:t>Escal.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economy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0.3 / 0.0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0.5433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3.38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0.07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balanced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0.7 / 0.2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0.6575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16.40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0.62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228971319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knee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0.8 / 0.2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0.7067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21.80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0.87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quality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0.9 / 0.2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0.7160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23.66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dirty="0">
                          <a:solidFill>
                            <a:srgbClr val="000000"/>
                          </a:solidFill>
                        </a:rPr>
                        <a:t>0.96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663440" y="2580198"/>
            <a:ext cx="4160520" cy="213750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0" dirty="0">
                <a:solidFill>
                  <a:srgbClr val="000000"/>
                </a:solidFill>
              </a:rPr>
              <a:t>•  economy = </a:t>
            </a:r>
            <a:r>
              <a:rPr sz="1200" b="0" dirty="0" err="1">
                <a:solidFill>
                  <a:srgbClr val="000000"/>
                </a:solidFill>
              </a:rPr>
              <a:t>ε</a:t>
            </a:r>
            <a:r>
              <a:rPr sz="1200" b="0" dirty="0">
                <a:solidFill>
                  <a:srgbClr val="000000"/>
                </a:solidFill>
              </a:rPr>
              <a:t>-constraint (lowest cost meeting a minimum strict-F1)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0" dirty="0">
                <a:solidFill>
                  <a:srgbClr val="000000"/>
                </a:solidFill>
              </a:rPr>
              <a:t>•  balanced = ε-constraint at a higher floor (0.60), the middle the knee cannot reach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0" dirty="0">
                <a:solidFill>
                  <a:srgbClr val="000000"/>
                </a:solidFill>
              </a:rPr>
              <a:t>•  knee = weighted-sum scalarization maximizing strict-F1 − </a:t>
            </a:r>
            <a:r>
              <a:rPr sz="1200" b="0" dirty="0" err="1">
                <a:solidFill>
                  <a:srgbClr val="000000"/>
                </a:solidFill>
              </a:rPr>
              <a:t>λ·cost</a:t>
            </a:r>
            <a:endParaRPr sz="1200" b="0" dirty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200" b="0" dirty="0">
                <a:solidFill>
                  <a:srgbClr val="000000"/>
                </a:solidFill>
              </a:rPr>
              <a:t>•  quality = maximum strict-F1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250" b="1" dirty="0">
                <a:solidFill>
                  <a:srgbClr val="000000"/>
                </a:solidFill>
              </a:rPr>
              <a:t>balanced → knee: +7% strict-F1 for +33% cost · knee → quality: +1% for +8.5%</a:t>
            </a:r>
            <a:endParaRPr lang="en-TR" sz="1250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000" b="0">
                <a:solidFill>
                  <a:srgbClr val="000000"/>
                </a:solidFill>
              </a:rPr>
              <a:t>B10 · Significance testing: paper-level clustered paired bootstrap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34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8717318"/>
              </p:ext>
            </p:extLst>
          </p:nvPr>
        </p:nvGraphicFramePr>
        <p:xfrm>
          <a:off x="310896" y="1060704"/>
          <a:ext cx="8513063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chemeClr val="bg1"/>
                          </a:solidFill>
                        </a:rPr>
                        <a:t>Cascade compared with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chemeClr val="bg1"/>
                          </a:solidFill>
                        </a:rPr>
                        <a:t>Δ strict-F1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chemeClr val="bg1"/>
                          </a:solidFill>
                        </a:rPr>
                        <a:t>95% CI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chemeClr val="bg1"/>
                          </a:solidFill>
                        </a:rPr>
                        <a:t>Significant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Single Claude Sonnet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+0.0031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[−0.0002, +0.0068]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E37222"/>
                          </a:solidFill>
                        </a:rPr>
                        <a:t>No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Single Claude Haiku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+0.060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&gt; 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Yes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Single GPT-4.1-mini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+0.120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&gt; 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Yes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Remaining cheaper models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+0.14 to +0.26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&gt; 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000000"/>
                          </a:solidFill>
                        </a:rPr>
                        <a:t>Yes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10896" y="2880360"/>
            <a:ext cx="8513064" cy="160020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0" dirty="0">
                <a:solidFill>
                  <a:srgbClr val="000000"/>
                </a:solidFill>
              </a:rPr>
              <a:t>•  B = 10,000 resamples, papers as the sampling unit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0" dirty="0">
                <a:solidFill>
                  <a:srgbClr val="000000"/>
                </a:solidFill>
              </a:rPr>
              <a:t>•  Clustered because findings within one paper are not independent</a:t>
            </a:r>
            <a:r>
              <a:rPr lang="en-US" sz="1400" b="0" dirty="0">
                <a:solidFill>
                  <a:srgbClr val="000000"/>
                </a:solidFill>
              </a:rPr>
              <a:t>: </a:t>
            </a:r>
            <a:r>
              <a:rPr sz="1400" b="0" dirty="0">
                <a:solidFill>
                  <a:srgbClr val="000000"/>
                </a:solidFill>
              </a:rPr>
              <a:t>resampling findings would understate the variance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400" b="0" dirty="0">
                <a:solidFill>
                  <a:srgbClr val="000000"/>
                </a:solidFill>
              </a:rPr>
              <a:t>•  Paired because both systems are evaluated on the identical chunk set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 dirty="0">
                <a:solidFill>
                  <a:srgbClr val="005293"/>
                </a:solidFill>
              </a:rPr>
              <a:t>Only the Sonnet comparison is inconclusive. Every cheaper-model comparison is unambiguous.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000" b="0">
                <a:solidFill>
                  <a:srgbClr val="000000"/>
                </a:solidFill>
              </a:rPr>
              <a:t>B11 · Grounding score distribution and threshold trade-off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>
                <a:solidFill>
                  <a:srgbClr val="0065BD"/>
                </a:solidFill>
              </a:rPr>
              <a:t>2,294 frozen-config MAP findings on related15 · NLI run on (claim, cited paragraph)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35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13" name="Picture 12" descr="fig_grounding_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242" y="1371600"/>
            <a:ext cx="6600371" cy="23317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10896" y="3822191"/>
            <a:ext cx="8513064" cy="69095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0" dirty="0">
                <a:solidFill>
                  <a:srgbClr val="000000"/>
                </a:solidFill>
              </a:rPr>
              <a:t>(a) Bimodal: 77.5% of findings score ≥ 0.9, ≈</a:t>
            </a:r>
            <a:r>
              <a:rPr lang="en-US" sz="1250" b="0" dirty="0">
                <a:solidFill>
                  <a:srgbClr val="000000"/>
                </a:solidFill>
              </a:rPr>
              <a:t> </a:t>
            </a:r>
            <a:r>
              <a:rPr sz="1250" b="0" dirty="0">
                <a:solidFill>
                  <a:srgbClr val="000000"/>
                </a:solidFill>
              </a:rPr>
              <a:t>14% score &lt; 0.3. The 0.5 threshold (dashed) retains 83.8%.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0" dirty="0">
                <a:solidFill>
                  <a:srgbClr val="000000"/>
                </a:solidFill>
              </a:rPr>
              <a:t>(b) Recall and strict-F1 fall as the threshold rises; precision stays flat (0.872 → 0.875). The filter trades recall for </a:t>
            </a:r>
            <a:r>
              <a:rPr sz="1250" b="0" dirty="0" err="1">
                <a:solidFill>
                  <a:srgbClr val="000000"/>
                </a:solidFill>
              </a:rPr>
              <a:t>groundedness</a:t>
            </a:r>
            <a:r>
              <a:rPr sz="1250" b="0" dirty="0">
                <a:solidFill>
                  <a:srgbClr val="000000"/>
                </a:solidFill>
              </a:rPr>
              <a:t>, not for precision.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000" b="0">
                <a:solidFill>
                  <a:srgbClr val="000000"/>
                </a:solidFill>
              </a:rPr>
              <a:t>B12 · Relation classification, per class, both input modes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36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197800"/>
              </p:ext>
            </p:extLst>
          </p:nvPr>
        </p:nvGraphicFramePr>
        <p:xfrm>
          <a:off x="310896" y="1060704"/>
          <a:ext cx="8513064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Class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predicate_only P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R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F1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scope_aware P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R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chemeClr val="bg1"/>
                          </a:solidFill>
                        </a:rPr>
                        <a:t>F1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SUPPORT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1.000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0.920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0.958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1.000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0.910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0.953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CONTRADICT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0.904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0.940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0.922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0.896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0.950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0.922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UNRELATED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0.885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0.920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0.902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0.883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0.910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0.897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Macro average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0.930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0.927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0.927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0.926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0.923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0.924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Accuracy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0000"/>
                          </a:solidFill>
                        </a:rPr>
                        <a:t>0.927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endParaRPr/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endParaRPr/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5293"/>
                          </a:solidFill>
                        </a:rPr>
                        <a:t>0.923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endParaRPr/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endParaRPr dirty="0"/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10896" y="3182112"/>
            <a:ext cx="8513064" cy="137160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000000"/>
                </a:solidFill>
              </a:rPr>
              <a:t>•  scope_aware is the production mode. Thresholds frozen at 0.50 / 0.50, not tuned.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000000"/>
                </a:solidFill>
              </a:rPr>
              <a:t>•  A diagnostic joint sweep found the frozen thresholds are within a fraction of a percent of optimal (0.4 / 0.9 → macro-F1 0.9307)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E37222"/>
                </a:solidFill>
              </a:rPr>
              <a:t>•  scope_aware's intended mechanism cannot be tested on this set: both claims in every synthetic pair share the same disease context, so they receive the same prefix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000" b="0">
                <a:solidFill>
                  <a:srgbClr val="000000"/>
                </a:solidFill>
              </a:rPr>
              <a:t>B13 · Held-out knowledge-extraction funnel, side by side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37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6307047"/>
              </p:ext>
            </p:extLst>
          </p:nvPr>
        </p:nvGraphicFramePr>
        <p:xfrm>
          <a:off x="310896" y="1060704"/>
          <a:ext cx="8513064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4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9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9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889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chemeClr val="bg1"/>
                          </a:solidFill>
                        </a:rPr>
                        <a:t>Stage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chemeClr val="bg1"/>
                          </a:solidFill>
                        </a:rPr>
                        <a:t>related15 (calibration)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chemeClr val="bg1"/>
                          </a:solidFill>
                        </a:rPr>
                        <a:t>heldout15 (test)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dirty="0">
                          <a:solidFill>
                            <a:srgbClr val="000000"/>
                          </a:solidFill>
                        </a:rPr>
                        <a:t>MAP findings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2,294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dirty="0">
                          <a:solidFill>
                            <a:srgbClr val="000000"/>
                          </a:solidFill>
                        </a:rPr>
                        <a:t>1,672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Grounded at threshold 0.5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1,923  (83.8%)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1,379  (82.5%)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Normalized after deduplication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1,860  (−3.3%)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1,342  (−2.7%)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Groupable findings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1,820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1,314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Canonical rules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1,747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1,273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Canonical rules per normalized finding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0.939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0.949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Relations, intra + cross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25  (13 + 12)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37222"/>
                          </a:solidFill>
                        </a:rPr>
                        <a:t>4  (4 + 0)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Final rules per paper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116.5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84.9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Rule provenance carry-rate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100%  (1,747 / 1,747)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005293"/>
                          </a:solidFill>
                        </a:rPr>
                        <a:t>100%  (1,273 / 1,273)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10896" y="4023360"/>
            <a:ext cx="8513064" cy="54864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595959"/>
                </a:solidFill>
              </a:rPr>
              <a:t>The funnel keeps its shape. The one number that collapses is relations: the held-out papers were sampled randomly, so they share far less vocabulary and produce no cross-paper relations at all.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000" b="0">
                <a:solidFill>
                  <a:srgbClr val="000000"/>
                </a:solidFill>
              </a:rPr>
              <a:t>B14 · Provenance chain and offline replay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38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" y="1097280"/>
            <a:ext cx="4114800" cy="2860783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 dirty="0">
                <a:solidFill>
                  <a:srgbClr val="005293"/>
                </a:solidFill>
              </a:rPr>
              <a:t>Provenance chain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 dirty="0">
                <a:solidFill>
                  <a:srgbClr val="000000"/>
                </a:solidFill>
              </a:rPr>
              <a:t>final rule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 dirty="0">
                <a:solidFill>
                  <a:srgbClr val="000000"/>
                </a:solidFill>
              </a:rPr>
              <a:t>→  canonical rule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 dirty="0">
                <a:solidFill>
                  <a:srgbClr val="000000"/>
                </a:solidFill>
              </a:rPr>
              <a:t>→  normal finding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 dirty="0">
                <a:solidFill>
                  <a:srgbClr val="000000"/>
                </a:solidFill>
              </a:rPr>
              <a:t>→  MAP finding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 dirty="0">
                <a:solidFill>
                  <a:srgbClr val="000000"/>
                </a:solidFill>
              </a:rPr>
              <a:t>→  text element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300" b="0" dirty="0">
                <a:solidFill>
                  <a:srgbClr val="000000"/>
                </a:solidFill>
              </a:rPr>
              <a:t>→  document  (page, span, coordinates)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200" b="0" dirty="0">
                <a:solidFill>
                  <a:srgbClr val="595959"/>
                </a:solidFill>
              </a:rPr>
              <a:t>Enforced by the data model</a:t>
            </a:r>
            <a:r>
              <a:rPr lang="en-US" sz="1200" b="0" dirty="0">
                <a:solidFill>
                  <a:srgbClr val="595959"/>
                </a:solidFill>
              </a:rPr>
              <a:t>: </a:t>
            </a:r>
            <a:r>
              <a:rPr sz="1200" b="0" dirty="0">
                <a:solidFill>
                  <a:srgbClr val="595959"/>
                </a:solidFill>
              </a:rPr>
              <a:t>a rule cannot exist without its back-pointers.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0" dirty="0">
                <a:solidFill>
                  <a:srgbClr val="E37222"/>
                </a:solidFill>
              </a:rPr>
              <a:t>“Provenance enables auditability, but it is not proof of correctness.”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097280"/>
            <a:ext cx="4160520" cy="3148041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 dirty="0">
                <a:solidFill>
                  <a:srgbClr val="005293"/>
                </a:solidFill>
              </a:rPr>
              <a:t>Offline replay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0" dirty="0">
                <a:solidFill>
                  <a:srgbClr val="000000"/>
                </a:solidFill>
              </a:rPr>
              <a:t>•  All voter outputs cached per tier per chunk, so any escalation path replays offline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0" dirty="0">
                <a:solidFill>
                  <a:srgbClr val="000000"/>
                </a:solidFill>
              </a:rPr>
              <a:t>•  Cache invalidates on changes to the voter pool, model IDs, temperatures or MAP prompts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0" dirty="0">
                <a:solidFill>
                  <a:srgbClr val="000000"/>
                </a:solidFill>
              </a:rPr>
              <a:t>•  One offline batch driver produces every Chapter 4 result</a:t>
            </a:r>
            <a:r>
              <a:rPr lang="en-US" sz="1300" b="0" dirty="0">
                <a:solidFill>
                  <a:srgbClr val="000000"/>
                </a:solidFill>
              </a:rPr>
              <a:t>: </a:t>
            </a:r>
            <a:r>
              <a:rPr sz="1300" b="0" dirty="0">
                <a:solidFill>
                  <a:srgbClr val="000000"/>
                </a:solidFill>
              </a:rPr>
              <a:t>each analysis emits one CSV, one JSON, and a global </a:t>
            </a:r>
            <a:r>
              <a:rPr sz="1300" b="0" dirty="0" err="1">
                <a:solidFill>
                  <a:srgbClr val="000000"/>
                </a:solidFill>
              </a:rPr>
              <a:t>manifest.json</a:t>
            </a:r>
            <a:endParaRPr sz="1300" b="0" dirty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300" b="0" dirty="0">
                <a:solidFill>
                  <a:srgbClr val="000000"/>
                </a:solidFill>
              </a:rPr>
              <a:t>•  Replay fidelity validated by comparing live-cascade and replay findings per paper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 dirty="0">
                <a:solidFill>
                  <a:srgbClr val="005293"/>
                </a:solidFill>
              </a:rPr>
              <a:t>Every number in this talk can be regenerated with no API calls and no cost.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366126"/>
          </a:xfrm>
        </p:spPr>
        <p:txBody>
          <a:bodyPr wrap="square" anchor="t"/>
          <a:lstStyle/>
          <a:p>
            <a:pPr algn="l"/>
            <a:r>
              <a:rPr sz="2000" b="0" dirty="0">
                <a:solidFill>
                  <a:srgbClr val="000000"/>
                </a:solidFill>
              </a:rPr>
              <a:t>B15 · Operating points: </a:t>
            </a:r>
            <a:r>
              <a:rPr lang="de-DE" sz="2000" b="0" dirty="0" err="1">
                <a:solidFill>
                  <a:srgbClr val="000000"/>
                </a:solidFill>
              </a:rPr>
              <a:t>why</a:t>
            </a:r>
            <a:r>
              <a:rPr lang="de-DE" sz="2000" b="0" dirty="0">
                <a:solidFill>
                  <a:srgbClr val="000000"/>
                </a:solidFill>
              </a:rPr>
              <a:t> </a:t>
            </a:r>
            <a:r>
              <a:rPr sz="2000" b="0" dirty="0">
                <a:solidFill>
                  <a:srgbClr val="000000"/>
                </a:solidFill>
              </a:rPr>
              <a:t>the knee misses the middle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 dirty="0">
                <a:solidFill>
                  <a:srgbClr val="0065BD"/>
                </a:solidFill>
              </a:rPr>
              <a:t>Weighted-sum reaches 3 of 7 Pareto points; an ε-constraint floor reaches all 7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39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" y="3259635"/>
            <a:ext cx="8513064" cy="1342419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50" b="0" dirty="0">
                <a:solidFill>
                  <a:srgbClr val="000000"/>
                </a:solidFill>
              </a:rPr>
              <a:t>•  knee = argmax(strict-F1 − λ·cost) with λ = 0.20</a:t>
            </a:r>
            <a:r>
              <a:rPr lang="en-US" sz="1450" b="0" dirty="0">
                <a:solidFill>
                  <a:srgbClr val="000000"/>
                </a:solidFill>
              </a:rPr>
              <a:t>. That</a:t>
            </a:r>
            <a:r>
              <a:rPr sz="1450" b="0" dirty="0">
                <a:solidFill>
                  <a:srgbClr val="000000"/>
                </a:solidFill>
              </a:rPr>
              <a:t> winner holds only for λ ∈ [0.119, 0.210); above it the knee collapses onto economy</a:t>
            </a:r>
            <a:endParaRPr lang="en-US" sz="1450" b="0" dirty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US" sz="1450" dirty="0">
                <a:solidFill>
                  <a:srgbClr val="000000"/>
                </a:solidFill>
              </a:rPr>
              <a:t>•  A weighted sum returns only convex-hull vertices, so the four concave configs are unreachable at any </a:t>
            </a:r>
            <a:r>
              <a:rPr lang="el-GR" sz="1450" dirty="0">
                <a:solidFill>
                  <a:srgbClr val="000000"/>
                </a:solidFill>
              </a:rPr>
              <a:t>λ. ε-</a:t>
            </a:r>
            <a:r>
              <a:rPr lang="en-US" sz="1450" dirty="0">
                <a:solidFill>
                  <a:srgbClr val="000000"/>
                </a:solidFill>
              </a:rPr>
              <a:t>constraint has no such blind spot.</a:t>
            </a:r>
            <a:endParaRPr sz="1450" b="0" dirty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US" sz="1350" b="1" dirty="0">
                <a:solidFill>
                  <a:srgbClr val="E37222"/>
                </a:solidFill>
              </a:rPr>
              <a:t>The shipped configuration is the quality point: argmax strict-F1, no </a:t>
            </a:r>
            <a:r>
              <a:rPr lang="el-GR" sz="1350" b="1" dirty="0">
                <a:solidFill>
                  <a:srgbClr val="E37222"/>
                </a:solidFill>
              </a:rPr>
              <a:t>λ, </a:t>
            </a:r>
            <a:r>
              <a:rPr lang="en-US" sz="1350" b="1" dirty="0">
                <a:solidFill>
                  <a:srgbClr val="E37222"/>
                </a:solidFill>
              </a:rPr>
              <a:t>no floor. None of this moves it.</a:t>
            </a:r>
          </a:p>
        </p:txBody>
      </p:sp>
      <p:graphicFrame>
        <p:nvGraphicFramePr>
          <p:cNvPr id="10" name="B15 band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2498591"/>
              </p:ext>
            </p:extLst>
          </p:nvPr>
        </p:nvGraphicFramePr>
        <p:xfrm>
          <a:off x="310896" y="1366431"/>
          <a:ext cx="841248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chemeClr val="bg1"/>
                          </a:solidFill>
                        </a:rPr>
                        <a:t>ε floor ≤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dirty="0" err="1">
                          <a:solidFill>
                            <a:schemeClr val="bg1"/>
                          </a:solidFill>
                        </a:rPr>
                        <a:t>config</a:t>
                      </a:r>
                      <a:endParaRPr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chemeClr val="bg1"/>
                          </a:solidFill>
                        </a:rPr>
                        <a:t>strict-F1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chemeClr val="bg1"/>
                          </a:solidFill>
                        </a:rPr>
                        <a:t>$ / chunk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chemeClr val="bg1"/>
                          </a:solidFill>
                        </a:rPr>
                        <a:t>reachable by a weighted sum?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0.5433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θ0.3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0.5433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3.38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yes — this is economy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0.5444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θ0.4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0.5444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3.53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no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290351817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0.5531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θ0.5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0.5531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4.82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no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0.5960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θ0.6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0.5960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9.48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000000"/>
                          </a:solidFill>
                        </a:rPr>
                        <a:t>no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0.6575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θ0.7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0.6575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16.40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000000"/>
                          </a:solidFill>
                        </a:rPr>
                        <a:t>no — this is balanced, ε ≥ 0.60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367088757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0.7067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θ0.8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0.7067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21.80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000000"/>
                          </a:solidFill>
                        </a:rPr>
                        <a:t>yes — this is the knee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3480645977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0.7160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θ0.9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0.7160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23.66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000000"/>
                          </a:solidFill>
                        </a:rPr>
                        <a:t>yes — this is quality, the shipped config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285142617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Expansion slides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40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366126"/>
          </a:xfrm>
        </p:spPr>
        <p:txBody>
          <a:bodyPr wrap="square" anchor="t"/>
          <a:lstStyle/>
          <a:p>
            <a:pPr algn="l"/>
            <a:r>
              <a:rPr sz="2000" b="0" dirty="0">
                <a:solidFill>
                  <a:srgbClr val="000000"/>
                </a:solidFill>
              </a:rPr>
              <a:t>E</a:t>
            </a:r>
            <a:r>
              <a:rPr lang="de-DE" sz="2000" b="0" dirty="0">
                <a:solidFill>
                  <a:srgbClr val="000000"/>
                </a:solidFill>
              </a:rPr>
              <a:t>1</a:t>
            </a:r>
            <a:r>
              <a:rPr sz="2000" b="0" dirty="0">
                <a:solidFill>
                  <a:srgbClr val="000000"/>
                </a:solidFill>
              </a:rPr>
              <a:t> · The </a:t>
            </a:r>
            <a:r>
              <a:rPr sz="2000" b="0" dirty="0" err="1">
                <a:solidFill>
                  <a:srgbClr val="000000"/>
                </a:solidFill>
              </a:rPr>
              <a:t>icon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filter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removes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journal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furniture</a:t>
            </a:r>
            <a:r>
              <a:rPr sz="2000" b="0" dirty="0">
                <a:solidFill>
                  <a:srgbClr val="000000"/>
                </a:solidFill>
              </a:rPr>
              <a:t>, not </a:t>
            </a:r>
            <a:r>
              <a:rPr sz="2000" b="0" dirty="0" err="1">
                <a:solidFill>
                  <a:srgbClr val="000000"/>
                </a:solidFill>
              </a:rPr>
              <a:t>science</a:t>
            </a:r>
            <a:endParaRPr sz="2000" b="0" dirty="0">
              <a:solidFill>
                <a:srgbClr val="0000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>
                <a:solidFill>
                  <a:srgbClr val="0065BD"/>
                </a:solidFill>
              </a:rPr>
              <a:t>PMC10297671 p1 · every boxed region was rated 'icon' by the annotator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41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13" name="Picture 12" descr="07_icons_p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1417198"/>
            <a:ext cx="2103120" cy="31546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212080" y="1563502"/>
            <a:ext cx="3611880" cy="2558136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1" dirty="0" err="1">
                <a:solidFill>
                  <a:srgbClr val="005293"/>
                </a:solidFill>
              </a:rPr>
              <a:t>min_figure_pts</a:t>
            </a:r>
            <a:r>
              <a:rPr sz="1500" b="1" dirty="0">
                <a:solidFill>
                  <a:srgbClr val="005293"/>
                </a:solidFill>
              </a:rPr>
              <a:t> = 50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150" b="0" dirty="0">
                <a:solidFill>
                  <a:srgbClr val="595959"/>
                </a:solidFill>
              </a:rPr>
              <a:t>width AND height must both reach 50 pt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0" dirty="0">
                <a:solidFill>
                  <a:srgbClr val="000000"/>
                </a:solidFill>
              </a:rPr>
              <a:t>What </a:t>
            </a:r>
            <a:r>
              <a:rPr sz="1250" b="0" dirty="0" err="1">
                <a:solidFill>
                  <a:srgbClr val="000000"/>
                </a:solidFill>
              </a:rPr>
              <a:t>Docling</a:t>
            </a:r>
            <a:r>
              <a:rPr sz="1250" b="0" dirty="0">
                <a:solidFill>
                  <a:srgbClr val="000000"/>
                </a:solidFill>
              </a:rPr>
              <a:t> emitted as scientific figures: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0" dirty="0">
                <a:solidFill>
                  <a:srgbClr val="000000"/>
                </a:solidFill>
              </a:rPr>
              <a:t>•  two ORCID marks</a:t>
            </a:r>
            <a:r>
              <a:rPr lang="en-US" sz="1200" b="0" dirty="0">
                <a:solidFill>
                  <a:srgbClr val="000000"/>
                </a:solidFill>
              </a:rPr>
              <a:t>: </a:t>
            </a:r>
            <a:r>
              <a:rPr sz="1200" b="0" dirty="0">
                <a:solidFill>
                  <a:srgbClr val="000000"/>
                </a:solidFill>
              </a:rPr>
              <a:t>14×10 pt and 22×11 pt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0" dirty="0">
                <a:solidFill>
                  <a:srgbClr val="000000"/>
                </a:solidFill>
              </a:rPr>
              <a:t>•  a “check for updates” badge</a:t>
            </a:r>
            <a:r>
              <a:rPr lang="en-US" sz="1200" b="0" dirty="0">
                <a:solidFill>
                  <a:srgbClr val="000000"/>
                </a:solidFill>
              </a:rPr>
              <a:t>: </a:t>
            </a:r>
            <a:r>
              <a:rPr sz="1200" b="0" dirty="0">
                <a:solidFill>
                  <a:srgbClr val="000000"/>
                </a:solidFill>
              </a:rPr>
              <a:t>53×18 pt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0" dirty="0">
                <a:solidFill>
                  <a:srgbClr val="000000"/>
                </a:solidFill>
              </a:rPr>
              <a:t>•  the CC-BY </a:t>
            </a:r>
            <a:r>
              <a:rPr sz="1200" b="0" dirty="0" err="1">
                <a:solidFill>
                  <a:srgbClr val="000000"/>
                </a:solidFill>
              </a:rPr>
              <a:t>licence</a:t>
            </a:r>
            <a:r>
              <a:rPr sz="1200" b="0" dirty="0">
                <a:solidFill>
                  <a:srgbClr val="000000"/>
                </a:solidFill>
              </a:rPr>
              <a:t> badge</a:t>
            </a:r>
            <a:r>
              <a:rPr lang="en-US" sz="1200" b="0" dirty="0">
                <a:solidFill>
                  <a:srgbClr val="000000"/>
                </a:solidFill>
              </a:rPr>
              <a:t>: </a:t>
            </a:r>
            <a:r>
              <a:rPr sz="1200" b="0" dirty="0">
                <a:solidFill>
                  <a:srgbClr val="000000"/>
                </a:solidFill>
              </a:rPr>
              <a:t>59×22 pt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200" b="0" dirty="0">
                <a:solidFill>
                  <a:srgbClr val="000000"/>
                </a:solidFill>
              </a:rPr>
              <a:t>•  the journal masthead</a:t>
            </a:r>
            <a:r>
              <a:rPr lang="en-US" sz="1200" b="0" dirty="0">
                <a:solidFill>
                  <a:srgbClr val="000000"/>
                </a:solidFill>
              </a:rPr>
              <a:t>: </a:t>
            </a:r>
            <a:r>
              <a:rPr sz="1200" b="0" dirty="0">
                <a:solidFill>
                  <a:srgbClr val="000000"/>
                </a:solidFill>
              </a:rPr>
              <a:t>178×36 pt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 dirty="0">
                <a:solidFill>
                  <a:srgbClr val="005293"/>
                </a:solidFill>
              </a:rPr>
              <a:t>Corpus-wide: 3,065 of 7,544 picture elements dropped (40.6%)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366190"/>
          </a:xfrm>
        </p:spPr>
        <p:txBody>
          <a:bodyPr wrap="square" anchor="t"/>
          <a:lstStyle/>
          <a:p>
            <a:pPr algn="l"/>
            <a:r>
              <a:rPr sz="2000" b="0" dirty="0">
                <a:solidFill>
                  <a:srgbClr val="000000"/>
                </a:solidFill>
              </a:rPr>
              <a:t>E</a:t>
            </a:r>
            <a:r>
              <a:rPr lang="de-DE" sz="2000" b="0" dirty="0">
                <a:solidFill>
                  <a:srgbClr val="000000"/>
                </a:solidFill>
              </a:rPr>
              <a:t>2</a:t>
            </a:r>
            <a:r>
              <a:rPr sz="2000" b="0" dirty="0">
                <a:solidFill>
                  <a:srgbClr val="000000"/>
                </a:solidFill>
              </a:rPr>
              <a:t> · Same </a:t>
            </a:r>
            <a:r>
              <a:rPr sz="2000" b="0" dirty="0" err="1">
                <a:solidFill>
                  <a:srgbClr val="000000"/>
                </a:solidFill>
              </a:rPr>
              <a:t>pixels</a:t>
            </a:r>
            <a:r>
              <a:rPr sz="2000" b="0" dirty="0">
                <a:solidFill>
                  <a:srgbClr val="000000"/>
                </a:solidFill>
              </a:rPr>
              <a:t>, </a:t>
            </a:r>
            <a:r>
              <a:rPr sz="2000" b="0" dirty="0" err="1">
                <a:solidFill>
                  <a:srgbClr val="000000"/>
                </a:solidFill>
              </a:rPr>
              <a:t>correct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caption</a:t>
            </a:r>
            <a:r>
              <a:rPr lang="de-DE" sz="2000" dirty="0">
                <a:solidFill>
                  <a:srgbClr val="000000"/>
                </a:solidFill>
              </a:rPr>
              <a:t>: </a:t>
            </a:r>
            <a:r>
              <a:rPr sz="2000" b="0" dirty="0">
                <a:solidFill>
                  <a:srgbClr val="000000"/>
                </a:solidFill>
              </a:rPr>
              <a:t>the </a:t>
            </a:r>
            <a:r>
              <a:rPr sz="2000" b="0" dirty="0" err="1">
                <a:solidFill>
                  <a:srgbClr val="000000"/>
                </a:solidFill>
              </a:rPr>
              <a:t>geometric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matcher</a:t>
            </a:r>
            <a:endParaRPr sz="2000" b="0" dirty="0">
              <a:solidFill>
                <a:srgbClr val="0000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 dirty="0">
                <a:solidFill>
                  <a:srgbClr val="0065BD"/>
                </a:solidFill>
              </a:rPr>
              <a:t>PMC12129649_NEUP-45-177 p4 · identical bounding box (</a:t>
            </a:r>
            <a:r>
              <a:rPr sz="1350" dirty="0" err="1">
                <a:solidFill>
                  <a:srgbClr val="0065BD"/>
                </a:solidFill>
              </a:rPr>
              <a:t>IoU</a:t>
            </a:r>
            <a:r>
              <a:rPr sz="1350" dirty="0">
                <a:solidFill>
                  <a:srgbClr val="0065BD"/>
                </a:solidFill>
              </a:rPr>
              <a:t> 1.0), caption string differs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42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13" name="Picture 12" descr="fm_e3_side_caption_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578" y="1319916"/>
            <a:ext cx="6735698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366126"/>
          </a:xfrm>
        </p:spPr>
        <p:txBody>
          <a:bodyPr wrap="square" anchor="t"/>
          <a:lstStyle/>
          <a:p>
            <a:pPr algn="l"/>
            <a:r>
              <a:rPr sz="2000" b="0" dirty="0">
                <a:solidFill>
                  <a:srgbClr val="000000"/>
                </a:solidFill>
              </a:rPr>
              <a:t>E</a:t>
            </a:r>
            <a:r>
              <a:rPr lang="de-DE" sz="2000" b="0" dirty="0">
                <a:solidFill>
                  <a:srgbClr val="000000"/>
                </a:solidFill>
              </a:rPr>
              <a:t>3</a:t>
            </a:r>
            <a:r>
              <a:rPr sz="2000" b="0" dirty="0">
                <a:solidFill>
                  <a:srgbClr val="000000"/>
                </a:solidFill>
              </a:rPr>
              <a:t> · A </a:t>
            </a:r>
            <a:r>
              <a:rPr sz="2000" b="0" dirty="0" err="1">
                <a:solidFill>
                  <a:srgbClr val="000000"/>
                </a:solidFill>
              </a:rPr>
              <a:t>hidden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duplicate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paragraph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would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have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been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extracted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twice</a:t>
            </a:r>
            <a:endParaRPr sz="2000" b="0" dirty="0">
              <a:solidFill>
                <a:srgbClr val="0000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 dirty="0">
                <a:solidFill>
                  <a:srgbClr val="0065BD"/>
                </a:solidFill>
              </a:rPr>
              <a:t>PMC10296831 p4 · rule R3_dense_text · “170 chars in an 8.6 pt box</a:t>
            </a:r>
            <a:r>
              <a:rPr lang="en-US" sz="1350" dirty="0">
                <a:solidFill>
                  <a:srgbClr val="0065BD"/>
                </a:solidFill>
              </a:rPr>
              <a:t> = </a:t>
            </a:r>
            <a:r>
              <a:rPr sz="1350" dirty="0">
                <a:solidFill>
                  <a:srgbClr val="0065BD"/>
                </a:solidFill>
              </a:rPr>
              <a:t>19.8 chars/pt”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43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13" name="Picture 12" descr="10b_hidden_duplicate_b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893" y="1316736"/>
            <a:ext cx="8187069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366190"/>
          </a:xfrm>
        </p:spPr>
        <p:txBody>
          <a:bodyPr wrap="square" anchor="t"/>
          <a:lstStyle/>
          <a:p>
            <a:pPr algn="l"/>
            <a:r>
              <a:rPr sz="2000" b="0" dirty="0">
                <a:solidFill>
                  <a:srgbClr val="000000"/>
                </a:solidFill>
              </a:rPr>
              <a:t>E</a:t>
            </a:r>
            <a:r>
              <a:rPr lang="de-DE" sz="2000" b="0" dirty="0">
                <a:solidFill>
                  <a:srgbClr val="000000"/>
                </a:solidFill>
              </a:rPr>
              <a:t>4</a:t>
            </a:r>
            <a:r>
              <a:rPr sz="2000" b="0" dirty="0">
                <a:solidFill>
                  <a:srgbClr val="000000"/>
                </a:solidFill>
              </a:rPr>
              <a:t> · Paragraph </a:t>
            </a:r>
            <a:r>
              <a:rPr sz="2000" b="0" dirty="0" err="1">
                <a:solidFill>
                  <a:srgbClr val="000000"/>
                </a:solidFill>
              </a:rPr>
              <a:t>stitching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is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purely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syntactic</a:t>
            </a:r>
            <a:r>
              <a:rPr lang="de-DE" sz="2000" dirty="0">
                <a:solidFill>
                  <a:srgbClr val="000000"/>
                </a:solidFill>
              </a:rPr>
              <a:t>, </a:t>
            </a:r>
            <a:r>
              <a:rPr sz="2000" b="0" dirty="0" err="1">
                <a:solidFill>
                  <a:srgbClr val="000000"/>
                </a:solidFill>
              </a:rPr>
              <a:t>which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cuts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both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ways</a:t>
            </a:r>
            <a:endParaRPr sz="2000" b="0" dirty="0">
              <a:solidFill>
                <a:srgbClr val="0000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>
                <a:solidFill>
                  <a:srgbClr val="0065BD"/>
                </a:solidFill>
              </a:rPr>
              <a:t>ContextAwareStitcher · out/text_raw vs out/text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44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lang="en-TR" sz="1000" dirty="0"/>
              <a:t>.</a:t>
            </a:r>
            <a:r>
              <a:rPr sz="1000" dirty="0"/>
              <a:t> August 2026</a:t>
            </a:r>
          </a:p>
        </p:txBody>
      </p:sp>
      <p:pic>
        <p:nvPicPr>
          <p:cNvPr id="13" name="Picture 12" descr="12_text_merge_error_b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204" y="1316736"/>
            <a:ext cx="7134446" cy="2788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10896" y="4187952"/>
            <a:ext cx="8513064" cy="41148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E37222"/>
                </a:solidFill>
              </a:rPr>
              <a:t>This is the thesis's own stated limitation, with a concrete instance: merge errors leave no signal in the rubric, because the rubric only scores crops.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366190"/>
          </a:xfrm>
        </p:spPr>
        <p:txBody>
          <a:bodyPr wrap="square" anchor="t"/>
          <a:lstStyle/>
          <a:p>
            <a:pPr algn="l"/>
            <a:r>
              <a:rPr sz="2000" b="0" dirty="0">
                <a:solidFill>
                  <a:srgbClr val="000000"/>
                </a:solidFill>
              </a:rPr>
              <a:t>E</a:t>
            </a:r>
            <a:r>
              <a:rPr lang="de-DE" sz="2000" b="0" dirty="0">
                <a:solidFill>
                  <a:srgbClr val="000000"/>
                </a:solidFill>
              </a:rPr>
              <a:t>5</a:t>
            </a:r>
            <a:r>
              <a:rPr sz="2000" b="0" dirty="0">
                <a:solidFill>
                  <a:srgbClr val="000000"/>
                </a:solidFill>
              </a:rPr>
              <a:t> · The </a:t>
            </a:r>
            <a:r>
              <a:rPr sz="2000" b="0" dirty="0" err="1">
                <a:solidFill>
                  <a:srgbClr val="000000"/>
                </a:solidFill>
              </a:rPr>
              <a:t>corpus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graph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is</a:t>
            </a:r>
            <a:r>
              <a:rPr sz="2000" b="0" dirty="0">
                <a:solidFill>
                  <a:srgbClr val="000000"/>
                </a:solidFill>
              </a:rPr>
              <a:t> small</a:t>
            </a:r>
            <a:r>
              <a:rPr lang="de-DE" sz="2000" b="0" dirty="0">
                <a:solidFill>
                  <a:srgbClr val="000000"/>
                </a:solidFill>
              </a:rPr>
              <a:t>, </a:t>
            </a:r>
            <a:r>
              <a:rPr sz="2000" b="0" dirty="0">
                <a:solidFill>
                  <a:srgbClr val="000000"/>
                </a:solidFill>
              </a:rPr>
              <a:t>but </a:t>
            </a:r>
            <a:r>
              <a:rPr sz="2000" b="0" dirty="0" err="1">
                <a:solidFill>
                  <a:srgbClr val="000000"/>
                </a:solidFill>
              </a:rPr>
              <a:t>one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contradiction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is</a:t>
            </a:r>
            <a:r>
              <a:rPr sz="2000" b="0" dirty="0">
                <a:solidFill>
                  <a:srgbClr val="000000"/>
                </a:solidFill>
              </a:rPr>
              <a:t> real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45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2754023"/>
              </p:ext>
            </p:extLst>
          </p:nvPr>
        </p:nvGraphicFramePr>
        <p:xfrm>
          <a:off x="310896" y="1060704"/>
          <a:ext cx="324612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chemeClr val="bg1"/>
                          </a:solidFill>
                        </a:rPr>
                        <a:t>Relation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chemeClr val="bg1"/>
                          </a:solidFill>
                        </a:rPr>
                        <a:t>Scope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dirty="0">
                          <a:solidFill>
                            <a:schemeClr val="bg1"/>
                          </a:solidFill>
                        </a:rPr>
                        <a:t>Count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000000"/>
                          </a:solidFill>
                        </a:rPr>
                        <a:t>SUPPORT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000000"/>
                          </a:solidFill>
                        </a:rPr>
                        <a:t>intra-paper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000000"/>
                          </a:solidFill>
                        </a:rPr>
                        <a:t>SUPPORT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000000"/>
                          </a:solidFill>
                        </a:rPr>
                        <a:t>cross-paper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37222"/>
                          </a:solidFill>
                        </a:rPr>
                        <a:t>CONTRADICT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000000"/>
                          </a:solidFill>
                        </a:rPr>
                        <a:t>intra-paper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37222"/>
                          </a:solidFill>
                        </a:rPr>
                        <a:t>CONTRADICT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000000"/>
                          </a:solidFill>
                        </a:rPr>
                        <a:t>cross-paper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dirty="0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794760" y="1042415"/>
            <a:ext cx="5029200" cy="2178545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 dirty="0">
                <a:solidFill>
                  <a:srgbClr val="E37222"/>
                </a:solidFill>
              </a:rPr>
              <a:t>The intra-paper contradiction, in full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50" b="0" dirty="0">
                <a:solidFill>
                  <a:srgbClr val="595959"/>
                </a:solidFill>
              </a:rPr>
              <a:t>PMC2253716 — subject: MUCL1 gene · outcome: tumor grade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50" b="0" dirty="0">
                <a:solidFill>
                  <a:srgbClr val="000000"/>
                </a:solidFill>
              </a:rPr>
              <a:t>•  “SBEM expression does NOT correlate with tumor grade”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250" b="0" dirty="0">
                <a:solidFill>
                  <a:srgbClr val="000000"/>
                </a:solidFill>
              </a:rPr>
              <a:t>•  “Increased SBEM levels strongly associated with higher tumor grade; P = 0.0015”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200" b="1" dirty="0">
                <a:solidFill>
                  <a:srgbClr val="000000"/>
                </a:solidFill>
              </a:rPr>
              <a:t>NLI contradiction score 0.9991 and 0.9997 in both directions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0" dirty="0">
                <a:solidFill>
                  <a:srgbClr val="005293"/>
                </a:solidFill>
              </a:rPr>
              <a:t>Two statements in the same paper, pointing opposite ways. The system does not resolve it</a:t>
            </a:r>
            <a:r>
              <a:rPr lang="en-US" sz="1250" b="0" dirty="0">
                <a:solidFill>
                  <a:srgbClr val="005293"/>
                </a:solidFill>
              </a:rPr>
              <a:t>, </a:t>
            </a:r>
            <a:r>
              <a:rPr sz="1250" b="0" dirty="0">
                <a:solidFill>
                  <a:srgbClr val="005293"/>
                </a:solidFill>
              </a:rPr>
              <a:t>it flags it for a human.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" y="4224528"/>
            <a:ext cx="8513064" cy="38404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595959"/>
                </a:solidFill>
              </a:rPr>
              <a:t>Honest limit: 25 edges from 1,747 rules. The comparability gate is strict by design, and on randomly sampled papers it produces almost nothing (4 edges on heldout15).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366126"/>
          </a:xfrm>
        </p:spPr>
        <p:txBody>
          <a:bodyPr wrap="square" anchor="t"/>
          <a:lstStyle/>
          <a:p>
            <a:pPr algn="l"/>
            <a:r>
              <a:rPr sz="2000" b="0" dirty="0">
                <a:solidFill>
                  <a:srgbClr val="000000"/>
                </a:solidFill>
              </a:rPr>
              <a:t>E</a:t>
            </a:r>
            <a:r>
              <a:rPr lang="de-DE" sz="2000" b="0" dirty="0">
                <a:solidFill>
                  <a:srgbClr val="000000"/>
                </a:solidFill>
              </a:rPr>
              <a:t>6</a:t>
            </a:r>
            <a:r>
              <a:rPr sz="2000" b="0" dirty="0">
                <a:solidFill>
                  <a:srgbClr val="000000"/>
                </a:solidFill>
              </a:rPr>
              <a:t> · Every </a:t>
            </a:r>
            <a:r>
              <a:rPr sz="2000" b="0" dirty="0" err="1">
                <a:solidFill>
                  <a:srgbClr val="000000"/>
                </a:solidFill>
              </a:rPr>
              <a:t>component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is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mature</a:t>
            </a:r>
            <a:r>
              <a:rPr sz="2000" b="0" dirty="0">
                <a:solidFill>
                  <a:srgbClr val="000000"/>
                </a:solidFill>
              </a:rPr>
              <a:t>; the </a:t>
            </a:r>
            <a:r>
              <a:rPr sz="2000" b="0" dirty="0" err="1">
                <a:solidFill>
                  <a:srgbClr val="000000"/>
                </a:solidFill>
              </a:rPr>
              <a:t>audited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integration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is</a:t>
            </a:r>
            <a:r>
              <a:rPr sz="2000" b="0" dirty="0">
                <a:solidFill>
                  <a:srgbClr val="000000"/>
                </a:solidFill>
              </a:rPr>
              <a:t> not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 dirty="0">
                <a:solidFill>
                  <a:srgbClr val="0065BD"/>
                </a:solidFill>
              </a:rPr>
              <a:t>Positioning against related work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46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" y="1415288"/>
            <a:ext cx="8513064" cy="286847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 dirty="0">
                <a:solidFill>
                  <a:srgbClr val="000000"/>
                </a:solidFill>
              </a:rPr>
              <a:t>•  Layout-aware PDF parsing</a:t>
            </a:r>
            <a:r>
              <a:rPr lang="en-US" sz="1400" b="0" dirty="0">
                <a:solidFill>
                  <a:srgbClr val="000000"/>
                </a:solidFill>
              </a:rPr>
              <a:t>: </a:t>
            </a:r>
            <a:r>
              <a:rPr sz="1400" b="0" dirty="0">
                <a:solidFill>
                  <a:srgbClr val="000000"/>
                </a:solidFill>
              </a:rPr>
              <a:t>mature (</a:t>
            </a:r>
            <a:r>
              <a:rPr sz="1400" b="0" dirty="0" err="1">
                <a:solidFill>
                  <a:srgbClr val="000000"/>
                </a:solidFill>
              </a:rPr>
              <a:t>Docling</a:t>
            </a:r>
            <a:r>
              <a:rPr sz="1400" b="0" dirty="0">
                <a:solidFill>
                  <a:srgbClr val="000000"/>
                </a:solidFill>
              </a:rPr>
              <a:t>, TATR, pdffigures2)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 dirty="0">
                <a:solidFill>
                  <a:srgbClr val="000000"/>
                </a:solidFill>
              </a:rPr>
              <a:t>•  Biomedical entity normalization</a:t>
            </a:r>
            <a:r>
              <a:rPr lang="en-US" sz="1400" b="0" dirty="0">
                <a:solidFill>
                  <a:srgbClr val="000000"/>
                </a:solidFill>
              </a:rPr>
              <a:t>: </a:t>
            </a:r>
            <a:r>
              <a:rPr sz="1400" b="0" dirty="0">
                <a:solidFill>
                  <a:srgbClr val="000000"/>
                </a:solidFill>
              </a:rPr>
              <a:t>mature (UMLS, </a:t>
            </a:r>
            <a:r>
              <a:rPr sz="1400" b="0" dirty="0" err="1">
                <a:solidFill>
                  <a:srgbClr val="000000"/>
                </a:solidFill>
              </a:rPr>
              <a:t>scispaCy</a:t>
            </a:r>
            <a:r>
              <a:rPr sz="1400" b="0" dirty="0">
                <a:solidFill>
                  <a:srgbClr val="000000"/>
                </a:solidFill>
              </a:rPr>
              <a:t>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 dirty="0">
                <a:solidFill>
                  <a:srgbClr val="000000"/>
                </a:solidFill>
              </a:rPr>
              <a:t>•  Entailment / grounding</a:t>
            </a:r>
            <a:r>
              <a:rPr lang="en-US" sz="1400" b="0" dirty="0">
                <a:solidFill>
                  <a:srgbClr val="000000"/>
                </a:solidFill>
              </a:rPr>
              <a:t>: </a:t>
            </a:r>
            <a:r>
              <a:rPr sz="1400" b="0" dirty="0">
                <a:solidFill>
                  <a:srgbClr val="000000"/>
                </a:solidFill>
              </a:rPr>
              <a:t>mature (MNLI, </a:t>
            </a:r>
            <a:r>
              <a:rPr sz="1400" b="0" dirty="0" err="1">
                <a:solidFill>
                  <a:srgbClr val="000000"/>
                </a:solidFill>
              </a:rPr>
              <a:t>MedNLI</a:t>
            </a:r>
            <a:r>
              <a:rPr sz="1400" b="0" dirty="0">
                <a:solidFill>
                  <a:srgbClr val="000000"/>
                </a:solidFill>
              </a:rPr>
              <a:t>, biomedical NLI)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400" b="0" dirty="0">
                <a:solidFill>
                  <a:srgbClr val="000000"/>
                </a:solidFill>
              </a:rPr>
              <a:t>•  Cost-aware cascading</a:t>
            </a:r>
            <a:r>
              <a:rPr lang="en-US" sz="1400" b="0" dirty="0">
                <a:solidFill>
                  <a:srgbClr val="000000"/>
                </a:solidFill>
              </a:rPr>
              <a:t>: </a:t>
            </a:r>
            <a:r>
              <a:rPr sz="1400" b="0" dirty="0">
                <a:solidFill>
                  <a:srgbClr val="000000"/>
                </a:solidFill>
              </a:rPr>
              <a:t>mature (agreement-based cascading, Kolawole et al. 2025)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400" b="1" dirty="0">
                <a:solidFill>
                  <a:srgbClr val="005293"/>
                </a:solidFill>
              </a:rPr>
              <a:t>Each has its own benchmark and its own definition of success. What is rare is all of them in one auditable system, evaluated under a joint cost and quality constraint.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0" dirty="0">
                <a:solidFill>
                  <a:srgbClr val="E37222"/>
                </a:solidFill>
              </a:rPr>
              <a:t>OCR-free end-to-end document models (Donut, mPLUG-DocOwl2)</a:t>
            </a:r>
            <a:r>
              <a:rPr lang="en-US" sz="1250" dirty="0">
                <a:solidFill>
                  <a:srgbClr val="E37222"/>
                </a:solidFill>
              </a:rPr>
              <a:t> are deliberately rejected: </a:t>
            </a:r>
            <a:r>
              <a:rPr sz="1250" b="0" dirty="0">
                <a:solidFill>
                  <a:srgbClr val="E37222"/>
                </a:solidFill>
              </a:rPr>
              <a:t>they do not return token-level bounding boxes, so provenance could not be structural.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0" dirty="0">
                <a:solidFill>
                  <a:srgbClr val="E37222"/>
                </a:solidFill>
              </a:rPr>
              <a:t>Also rejected: chain-of-thought self-checking and LLM self-repair, in </a:t>
            </a:r>
            <a:r>
              <a:rPr lang="en-US" sz="1250" dirty="0">
                <a:solidFill>
                  <a:srgbClr val="E37222"/>
                </a:solidFill>
              </a:rPr>
              <a:t>favor</a:t>
            </a:r>
            <a:r>
              <a:rPr sz="1250" b="0" dirty="0">
                <a:solidFill>
                  <a:srgbClr val="E37222"/>
                </a:solidFill>
              </a:rPr>
              <a:t> of cross-provider agreement plus entailment against the source.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366126"/>
          </a:xfrm>
        </p:spPr>
        <p:txBody>
          <a:bodyPr wrap="square" anchor="t"/>
          <a:lstStyle/>
          <a:p>
            <a:pPr algn="l"/>
            <a:r>
              <a:rPr sz="2000" b="0" dirty="0">
                <a:solidFill>
                  <a:srgbClr val="000000"/>
                </a:solidFill>
              </a:rPr>
              <a:t>E</a:t>
            </a:r>
            <a:r>
              <a:rPr lang="de-DE" sz="2000" b="0" dirty="0">
                <a:solidFill>
                  <a:srgbClr val="000000"/>
                </a:solidFill>
              </a:rPr>
              <a:t>7</a:t>
            </a:r>
            <a:r>
              <a:rPr sz="2000" b="0" dirty="0">
                <a:solidFill>
                  <a:srgbClr val="000000"/>
                </a:solidFill>
              </a:rPr>
              <a:t> · Header, </a:t>
            </a:r>
            <a:r>
              <a:rPr sz="2000" b="0" dirty="0" err="1">
                <a:solidFill>
                  <a:srgbClr val="000000"/>
                </a:solidFill>
              </a:rPr>
              <a:t>footer</a:t>
            </a:r>
            <a:r>
              <a:rPr sz="2000" b="0" dirty="0">
                <a:solidFill>
                  <a:srgbClr val="000000"/>
                </a:solidFill>
              </a:rPr>
              <a:t> and </a:t>
            </a:r>
            <a:r>
              <a:rPr sz="2000" b="0" dirty="0" err="1">
                <a:solidFill>
                  <a:srgbClr val="000000"/>
                </a:solidFill>
              </a:rPr>
              <a:t>sidebar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are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redacted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before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text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assembly</a:t>
            </a:r>
            <a:endParaRPr sz="2000" b="0" dirty="0">
              <a:solidFill>
                <a:srgbClr val="0000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>
                <a:solidFill>
                  <a:srgbClr val="0065BD"/>
                </a:solidFill>
              </a:rPr>
              <a:t>PMC11755463 p1 · original vs the pipeline's own *_twopass_masked.pdf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47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13" name="Picture 12" descr="fm_g1_header_footer_sidebar_b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332" y="1425932"/>
            <a:ext cx="711619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366126"/>
          </a:xfrm>
        </p:spPr>
        <p:txBody>
          <a:bodyPr wrap="square" anchor="t"/>
          <a:lstStyle/>
          <a:p>
            <a:pPr algn="l"/>
            <a:r>
              <a:rPr sz="2000" b="0" dirty="0">
                <a:solidFill>
                  <a:srgbClr val="000000"/>
                </a:solidFill>
              </a:rPr>
              <a:t>E</a:t>
            </a:r>
            <a:r>
              <a:rPr lang="de-DE" sz="2000" b="0" dirty="0">
                <a:solidFill>
                  <a:srgbClr val="000000"/>
                </a:solidFill>
              </a:rPr>
              <a:t>8</a:t>
            </a:r>
            <a:r>
              <a:rPr sz="2000" b="0" dirty="0">
                <a:solidFill>
                  <a:srgbClr val="000000"/>
                </a:solidFill>
              </a:rPr>
              <a:t> · </a:t>
            </a:r>
            <a:r>
              <a:rPr sz="2000" b="0" dirty="0" err="1">
                <a:solidFill>
                  <a:srgbClr val="000000"/>
                </a:solidFill>
              </a:rPr>
              <a:t>Three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things</a:t>
            </a:r>
            <a:r>
              <a:rPr sz="2000" b="0" dirty="0">
                <a:solidFill>
                  <a:srgbClr val="000000"/>
                </a:solidFill>
              </a:rPr>
              <a:t> a </a:t>
            </a:r>
            <a:r>
              <a:rPr sz="2000" b="0" dirty="0" err="1">
                <a:solidFill>
                  <a:srgbClr val="000000"/>
                </a:solidFill>
              </a:rPr>
              <a:t>detector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called</a:t>
            </a:r>
            <a:r>
              <a:rPr sz="2000" b="0" dirty="0">
                <a:solidFill>
                  <a:srgbClr val="000000"/>
                </a:solidFill>
              </a:rPr>
              <a:t> a </a:t>
            </a:r>
            <a:r>
              <a:rPr sz="2000" b="0" dirty="0" err="1">
                <a:solidFill>
                  <a:srgbClr val="000000"/>
                </a:solidFill>
              </a:rPr>
              <a:t>table</a:t>
            </a:r>
            <a:r>
              <a:rPr sz="2000" b="0" dirty="0">
                <a:solidFill>
                  <a:srgbClr val="000000"/>
                </a:solidFill>
              </a:rPr>
              <a:t>, and </a:t>
            </a:r>
            <a:r>
              <a:rPr sz="2000" b="0" dirty="0" err="1">
                <a:solidFill>
                  <a:srgbClr val="000000"/>
                </a:solidFill>
              </a:rPr>
              <a:t>none</a:t>
            </a:r>
            <a:r>
              <a:rPr sz="2000" b="0" dirty="0">
                <a:solidFill>
                  <a:srgbClr val="000000"/>
                </a:solidFill>
              </a:rPr>
              <a:t> of </a:t>
            </a:r>
            <a:r>
              <a:rPr sz="2000" b="0" dirty="0" err="1">
                <a:solidFill>
                  <a:srgbClr val="000000"/>
                </a:solidFill>
              </a:rPr>
              <a:t>them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is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one</a:t>
            </a:r>
            <a:endParaRPr sz="2000" b="0" dirty="0">
              <a:solidFill>
                <a:srgbClr val="0000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>
                <a:solidFill>
                  <a:srgbClr val="0065BD"/>
                </a:solidFill>
              </a:rPr>
              <a:t>Detector false positives suppressed by the pipeline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48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13" name="Picture 12" descr="fm_e14_false_positives_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673" y="1400048"/>
            <a:ext cx="6419508" cy="2788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10896" y="4135120"/>
            <a:ext cx="8513064" cy="49859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 dirty="0">
                <a:solidFill>
                  <a:srgbClr val="005293"/>
                </a:solidFill>
              </a:rPr>
              <a:t>Corpus-wide: 666 regions dropped by </a:t>
            </a:r>
            <a:r>
              <a:rPr sz="1300" b="1" dirty="0" err="1">
                <a:solidFill>
                  <a:srgbClr val="005293"/>
                </a:solidFill>
              </a:rPr>
              <a:t>drop_tables_in_top_pts</a:t>
            </a:r>
            <a:r>
              <a:rPr sz="1300" b="1" dirty="0">
                <a:solidFill>
                  <a:srgbClr val="005293"/>
                </a:solidFill>
              </a:rPr>
              <a:t>, 67 by </a:t>
            </a:r>
            <a:r>
              <a:rPr sz="1300" b="1" dirty="0" err="1">
                <a:solidFill>
                  <a:srgbClr val="005293"/>
                </a:solidFill>
              </a:rPr>
              <a:t>drop_tables_inside_figures</a:t>
            </a:r>
            <a:r>
              <a:rPr sz="1300" b="1" dirty="0">
                <a:solidFill>
                  <a:srgbClr val="005293"/>
                </a:solidFill>
              </a:rPr>
              <a:t>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0" dirty="0">
                <a:solidFill>
                  <a:srgbClr val="595959"/>
                </a:solidFill>
              </a:rPr>
              <a:t>A table detector is a shape detector</a:t>
            </a:r>
            <a:r>
              <a:rPr lang="en-US" sz="1200" b="0" dirty="0">
                <a:solidFill>
                  <a:srgbClr val="595959"/>
                </a:solidFill>
              </a:rPr>
              <a:t>: </a:t>
            </a:r>
            <a:r>
              <a:rPr sz="1200" b="0" dirty="0">
                <a:solidFill>
                  <a:srgbClr val="595959"/>
                </a:solidFill>
              </a:rPr>
              <a:t>ruled boxes with aligned text look like tables whatever they contain.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366126"/>
          </a:xfrm>
        </p:spPr>
        <p:txBody>
          <a:bodyPr wrap="square" anchor="t"/>
          <a:lstStyle/>
          <a:p>
            <a:pPr algn="l"/>
            <a:r>
              <a:rPr sz="2000" b="0" dirty="0">
                <a:solidFill>
                  <a:srgbClr val="000000"/>
                </a:solidFill>
              </a:rPr>
              <a:t>E</a:t>
            </a:r>
            <a:r>
              <a:rPr lang="de-DE" sz="2000" b="0" dirty="0">
                <a:solidFill>
                  <a:srgbClr val="000000"/>
                </a:solidFill>
              </a:rPr>
              <a:t>9</a:t>
            </a:r>
            <a:r>
              <a:rPr sz="2000" b="0" dirty="0">
                <a:solidFill>
                  <a:srgbClr val="000000"/>
                </a:solidFill>
              </a:rPr>
              <a:t> · </a:t>
            </a:r>
            <a:r>
              <a:rPr sz="2000" b="0" dirty="0" err="1">
                <a:solidFill>
                  <a:srgbClr val="000000"/>
                </a:solidFill>
              </a:rPr>
              <a:t>Three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artifacts</a:t>
            </a:r>
            <a:r>
              <a:rPr sz="2000" b="0" dirty="0">
                <a:solidFill>
                  <a:srgbClr val="000000"/>
                </a:solidFill>
              </a:rPr>
              <a:t> the </a:t>
            </a:r>
            <a:r>
              <a:rPr sz="2000" b="0" dirty="0" err="1">
                <a:solidFill>
                  <a:srgbClr val="000000"/>
                </a:solidFill>
              </a:rPr>
              <a:t>baseline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failed</a:t>
            </a:r>
            <a:r>
              <a:rPr sz="2000" b="0" dirty="0">
                <a:solidFill>
                  <a:srgbClr val="000000"/>
                </a:solidFill>
              </a:rPr>
              <a:t> to </a:t>
            </a:r>
            <a:r>
              <a:rPr sz="2000" b="0" dirty="0" err="1">
                <a:solidFill>
                  <a:srgbClr val="000000"/>
                </a:solidFill>
              </a:rPr>
              <a:t>produce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correctly</a:t>
            </a:r>
            <a:endParaRPr sz="2000" b="0" dirty="0">
              <a:solidFill>
                <a:srgbClr val="0000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>
                <a:solidFill>
                  <a:srgbClr val="0065BD"/>
                </a:solidFill>
              </a:rPr>
              <a:t>One table never emitted; two captions never attached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49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13" name="Picture 12" descr="fm_e15_missed_and_captions_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470" y="1339535"/>
            <a:ext cx="7003914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366126"/>
          </a:xfrm>
        </p:spPr>
        <p:txBody>
          <a:bodyPr wrap="square" anchor="t"/>
          <a:lstStyle/>
          <a:p>
            <a:pPr algn="l"/>
            <a:r>
              <a:rPr sz="2000" b="0" dirty="0">
                <a:solidFill>
                  <a:srgbClr val="000000"/>
                </a:solidFill>
              </a:rPr>
              <a:t>E</a:t>
            </a:r>
            <a:r>
              <a:rPr lang="de-DE" sz="2000" b="0" dirty="0">
                <a:solidFill>
                  <a:srgbClr val="000000"/>
                </a:solidFill>
              </a:rPr>
              <a:t>10</a:t>
            </a:r>
            <a:r>
              <a:rPr sz="2000" b="0" dirty="0">
                <a:solidFill>
                  <a:srgbClr val="000000"/>
                </a:solidFill>
              </a:rPr>
              <a:t> · Text </a:t>
            </a:r>
            <a:r>
              <a:rPr sz="2000" b="0" dirty="0" err="1">
                <a:solidFill>
                  <a:srgbClr val="000000"/>
                </a:solidFill>
              </a:rPr>
              <a:t>assembly</a:t>
            </a:r>
            <a:r>
              <a:rPr sz="2000" b="0" dirty="0">
                <a:solidFill>
                  <a:srgbClr val="000000"/>
                </a:solidFill>
              </a:rPr>
              <a:t> also </a:t>
            </a:r>
            <a:r>
              <a:rPr sz="2000" b="0" dirty="0" err="1">
                <a:solidFill>
                  <a:srgbClr val="000000"/>
                </a:solidFill>
              </a:rPr>
              <a:t>strips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citations</a:t>
            </a:r>
            <a:r>
              <a:rPr sz="2000" b="0" dirty="0">
                <a:solidFill>
                  <a:srgbClr val="000000"/>
                </a:solidFill>
              </a:rPr>
              <a:t> and </a:t>
            </a:r>
            <a:r>
              <a:rPr sz="2000" b="0" dirty="0" err="1">
                <a:solidFill>
                  <a:srgbClr val="000000"/>
                </a:solidFill>
              </a:rPr>
              <a:t>layout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artifacts</a:t>
            </a:r>
            <a:endParaRPr sz="2000" b="0" dirty="0">
              <a:solidFill>
                <a:srgbClr val="0000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>
                <a:solidFill>
                  <a:srgbClr val="0065BD"/>
                </a:solidFill>
              </a:rPr>
              <a:t>out/text_raw (pre-assembly) vs out/text (assembled)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50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13" name="Picture 12" descr="fm_e16_text_cleanup_b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1574707"/>
            <a:ext cx="8513064" cy="288664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366126"/>
          </a:xfrm>
        </p:spPr>
        <p:txBody>
          <a:bodyPr wrap="square" anchor="t"/>
          <a:lstStyle/>
          <a:p>
            <a:pPr algn="l"/>
            <a:r>
              <a:rPr sz="2000" b="0" dirty="0">
                <a:solidFill>
                  <a:srgbClr val="000000"/>
                </a:solidFill>
              </a:rPr>
              <a:t>E1</a:t>
            </a:r>
            <a:r>
              <a:rPr lang="de-DE" sz="2000" b="0" dirty="0">
                <a:solidFill>
                  <a:srgbClr val="000000"/>
                </a:solidFill>
              </a:rPr>
              <a:t>1</a:t>
            </a:r>
            <a:r>
              <a:rPr sz="2000" b="0" dirty="0">
                <a:solidFill>
                  <a:srgbClr val="000000"/>
                </a:solidFill>
              </a:rPr>
              <a:t> · The </a:t>
            </a:r>
            <a:r>
              <a:rPr sz="2000" b="0" dirty="0" err="1">
                <a:solidFill>
                  <a:srgbClr val="000000"/>
                </a:solidFill>
              </a:rPr>
              <a:t>agreement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scorer</a:t>
            </a:r>
            <a:r>
              <a:rPr sz="2000" b="0" dirty="0">
                <a:solidFill>
                  <a:srgbClr val="000000"/>
                </a:solidFill>
              </a:rPr>
              <a:t>, end to end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 dirty="0">
                <a:solidFill>
                  <a:srgbClr val="0065BD"/>
                </a:solidFill>
              </a:rPr>
              <a:t>One method: eligible voter outputs in, a deferral score and a winner out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51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" y="1344168"/>
            <a:ext cx="8513064" cy="3435299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50" b="0" dirty="0">
                <a:solidFill>
                  <a:srgbClr val="000000"/>
                </a:solidFill>
              </a:rPr>
              <a:t>•  Input: the voter outputs that passed the schema and provenance gates</a:t>
            </a:r>
            <a:r>
              <a:rPr lang="en-US" sz="1450" b="0" dirty="0">
                <a:solidFill>
                  <a:srgbClr val="000000"/>
                </a:solidFill>
              </a:rPr>
              <a:t>, </a:t>
            </a:r>
            <a:r>
              <a:rPr sz="1450" b="0" dirty="0">
                <a:solidFill>
                  <a:srgbClr val="000000"/>
                </a:solidFill>
              </a:rPr>
              <a:t>each a set of typed findings, not a string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50" b="0" dirty="0">
                <a:solidFill>
                  <a:srgbClr val="000000"/>
                </a:solidFill>
              </a:rPr>
              <a:t>•  No voters → REJECT · exactly one → score 1.0 by construction (hence </a:t>
            </a:r>
            <a:r>
              <a:rPr sz="1450" b="0" dirty="0" err="1">
                <a:solidFill>
                  <a:srgbClr val="000000"/>
                </a:solidFill>
              </a:rPr>
              <a:t>legacy_single_voter_policy</a:t>
            </a:r>
            <a:r>
              <a:rPr sz="1450" b="0" dirty="0">
                <a:solidFill>
                  <a:srgbClr val="000000"/>
                </a:solidFill>
              </a:rPr>
              <a:t> = escalate)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50" b="0" dirty="0">
                <a:solidFill>
                  <a:srgbClr val="000000"/>
                </a:solidFill>
              </a:rPr>
              <a:t>•  Voters with zero findings are dropped before the matrix; fewer than two survive → ESCALATE at 0.0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50" b="0" dirty="0">
                <a:solidFill>
                  <a:srgbClr val="000000"/>
                </a:solidFill>
              </a:rPr>
              <a:t>•  Pairwise similarity over the survivors</a:t>
            </a:r>
            <a:r>
              <a:rPr lang="en-US" sz="1450" b="0" dirty="0">
                <a:solidFill>
                  <a:srgbClr val="000000"/>
                </a:solidFill>
              </a:rPr>
              <a:t>. </a:t>
            </a:r>
            <a:r>
              <a:rPr lang="en-US" sz="1450" dirty="0">
                <a:solidFill>
                  <a:srgbClr val="000000"/>
                </a:solidFill>
              </a:rPr>
              <a:t>T</a:t>
            </a:r>
            <a:r>
              <a:rPr sz="1450" b="0" dirty="0">
                <a:solidFill>
                  <a:srgbClr val="000000"/>
                </a:solidFill>
              </a:rPr>
              <a:t>he `hybrid` scorer blends four signals:</a:t>
            </a:r>
          </a:p>
          <a:p>
            <a:pPr lvl="1">
              <a:spcBef>
                <a:spcPts val="0"/>
              </a:spcBef>
              <a:spcAft>
                <a:spcPts val="500"/>
              </a:spcAft>
            </a:pPr>
            <a:r>
              <a:rPr sz="1300" b="0" dirty="0">
                <a:solidFill>
                  <a:srgbClr val="000000"/>
                </a:solidFill>
              </a:rPr>
              <a:t>0.50  biomedical entity overlap        0.30  claim-embedding similarity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300" b="0" dirty="0">
                <a:solidFill>
                  <a:srgbClr val="000000"/>
                </a:solidFill>
              </a:rPr>
              <a:t>0.15  category agreement                0.05  cited-evidence overlap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50" b="0" dirty="0">
                <a:solidFill>
                  <a:srgbClr val="000000"/>
                </a:solidFill>
              </a:rPr>
              <a:t>•  Each voter scores its mean similarity to the others; the chunk score is the maximum of those means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50" b="0" dirty="0">
                <a:solidFill>
                  <a:srgbClr val="000000"/>
                </a:solidFill>
              </a:rPr>
              <a:t>•  Winner = the argmax, ties broken on grounding quality. </a:t>
            </a:r>
            <a:r>
              <a:rPr sz="1450" b="0" dirty="0" err="1">
                <a:solidFill>
                  <a:srgbClr val="000000"/>
                </a:solidFill>
              </a:rPr>
              <a:t>θ</a:t>
            </a:r>
            <a:r>
              <a:rPr sz="1450" b="0" dirty="0">
                <a:solidFill>
                  <a:srgbClr val="000000"/>
                </a:solidFill>
              </a:rPr>
              <a:t> = 0.9 / </a:t>
            </a:r>
            <a:r>
              <a:rPr sz="1450" b="0" dirty="0" err="1">
                <a:solidFill>
                  <a:srgbClr val="000000"/>
                </a:solidFill>
              </a:rPr>
              <a:t>θ_reject</a:t>
            </a:r>
            <a:r>
              <a:rPr sz="1450" b="0" dirty="0">
                <a:solidFill>
                  <a:srgbClr val="000000"/>
                </a:solidFill>
              </a:rPr>
              <a:t> = 0.2 are applied downstream, not here.</a:t>
            </a:r>
            <a:endParaRPr lang="en-US" sz="1450" b="0" dirty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100" b="1" dirty="0">
                <a:solidFill>
                  <a:srgbClr val="E37222"/>
                </a:solidFill>
              </a:rPr>
              <a:t>Max, not mean: one agreeing pair carries the chunk. Agreement is not correctness</a:t>
            </a:r>
            <a:r>
              <a:rPr lang="en-US" sz="1100" b="1" dirty="0">
                <a:solidFill>
                  <a:srgbClr val="E37222"/>
                </a:solidFill>
              </a:rPr>
              <a:t>, </a:t>
            </a:r>
            <a:r>
              <a:rPr sz="1100" b="1" dirty="0">
                <a:solidFill>
                  <a:srgbClr val="E37222"/>
                </a:solidFill>
              </a:rPr>
              <a:t>which is why GROUNDING runs afterwards.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039" y="896112"/>
            <a:ext cx="8307125" cy="960120"/>
          </a:xfrm>
        </p:spPr>
        <p:txBody>
          <a:bodyPr wrap="square"/>
          <a:lstStyle/>
          <a:p>
            <a:r>
              <a:rPr sz="2300" dirty="0">
                <a:solidFill>
                  <a:srgbClr val="000000"/>
                </a:solidFill>
              </a:rPr>
              <a:t>A Pipeline for </a:t>
            </a:r>
            <a:r>
              <a:rPr sz="2300" dirty="0" err="1">
                <a:solidFill>
                  <a:srgbClr val="000000"/>
                </a:solidFill>
              </a:rPr>
              <a:t>Extracting</a:t>
            </a:r>
            <a:r>
              <a:rPr sz="2300" dirty="0">
                <a:solidFill>
                  <a:srgbClr val="000000"/>
                </a:solidFill>
              </a:rPr>
              <a:t> Simple Rules </a:t>
            </a:r>
            <a:r>
              <a:rPr sz="2300" dirty="0" err="1">
                <a:solidFill>
                  <a:srgbClr val="000000"/>
                </a:solidFill>
              </a:rPr>
              <a:t>from</a:t>
            </a:r>
            <a:r>
              <a:rPr sz="2300" dirty="0">
                <a:solidFill>
                  <a:srgbClr val="000000"/>
                </a:solidFill>
              </a:rPr>
              <a:t> Medical </a:t>
            </a:r>
            <a:r>
              <a:rPr sz="2300" dirty="0" err="1">
                <a:solidFill>
                  <a:srgbClr val="000000"/>
                </a:solidFill>
              </a:rPr>
              <a:t>Literature</a:t>
            </a:r>
            <a:endParaRPr sz="2300" dirty="0">
              <a:solidFill>
                <a:srgbClr val="000000"/>
              </a:solidFill>
            </a:endParaRPr>
          </a:p>
          <a:p>
            <a:r>
              <a:rPr sz="2300" dirty="0">
                <a:solidFill>
                  <a:srgbClr val="000000"/>
                </a:solidFill>
              </a:rPr>
              <a:t>for </a:t>
            </a:r>
            <a:r>
              <a:rPr sz="2300" dirty="0" err="1">
                <a:solidFill>
                  <a:srgbClr val="000000"/>
                </a:solidFill>
              </a:rPr>
              <a:t>Automatic</a:t>
            </a:r>
            <a:r>
              <a:rPr sz="2300" dirty="0">
                <a:solidFill>
                  <a:srgbClr val="000000"/>
                </a:solidFill>
              </a:rPr>
              <a:t> Disease </a:t>
            </a:r>
            <a:r>
              <a:rPr sz="2300" dirty="0" err="1">
                <a:solidFill>
                  <a:srgbClr val="000000"/>
                </a:solidFill>
              </a:rPr>
              <a:t>Detection</a:t>
            </a:r>
            <a:r>
              <a:rPr sz="2300" dirty="0">
                <a:solidFill>
                  <a:srgbClr val="000000"/>
                </a:solidFill>
              </a:rPr>
              <a:t> in </a:t>
            </a:r>
            <a:r>
              <a:rPr sz="2300" dirty="0" err="1">
                <a:solidFill>
                  <a:srgbClr val="000000"/>
                </a:solidFill>
              </a:rPr>
              <a:t>Histopathology</a:t>
            </a:r>
            <a:endParaRPr sz="2300" dirty="0">
              <a:solidFill>
                <a:srgbClr val="0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0"/>
          </p:nvPr>
        </p:nvSpPr>
        <p:spPr>
          <a:xfrm>
            <a:off x="320040" y="2103120"/>
            <a:ext cx="7818120" cy="118872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500" b="0" dirty="0">
                <a:solidFill>
                  <a:srgbClr val="000000"/>
                </a:solidFill>
              </a:rPr>
              <a:t>Master's Thesis in </a:t>
            </a:r>
            <a:r>
              <a:rPr sz="1500" b="0" dirty="0" err="1">
                <a:solidFill>
                  <a:srgbClr val="000000"/>
                </a:solidFill>
              </a:rPr>
              <a:t>Informatics</a:t>
            </a:r>
            <a:endParaRPr lang="de-DE" sz="1500" dirty="0"/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500" b="0" dirty="0">
                <a:solidFill>
                  <a:srgbClr val="000000"/>
                </a:solidFill>
              </a:rPr>
              <a:t>Emirhan Nadir Karaman</a:t>
            </a:r>
            <a:endParaRPr lang="de-DE" sz="1300" b="0" dirty="0">
              <a:solidFill>
                <a:srgbClr val="595959"/>
              </a:solidFill>
            </a:endParaRP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0" dirty="0">
                <a:solidFill>
                  <a:srgbClr val="595959"/>
                </a:solidFill>
              </a:rPr>
              <a:t>Supervisor:  Frederic Mrozinski, </a:t>
            </a:r>
            <a:r>
              <a:rPr sz="1300" b="0" dirty="0" err="1">
                <a:solidFill>
                  <a:srgbClr val="595959"/>
                </a:solidFill>
              </a:rPr>
              <a:t>M.Sc</a:t>
            </a:r>
            <a:r>
              <a:rPr sz="1300" b="0" dirty="0">
                <a:solidFill>
                  <a:srgbClr val="595959"/>
                </a:solidFill>
              </a:rPr>
              <a:t>.      </a:t>
            </a:r>
            <a:endParaRPr lang="de-DE" sz="1300" b="0" dirty="0">
              <a:solidFill>
                <a:srgbClr val="595959"/>
              </a:solidFill>
            </a:endParaRP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0" dirty="0">
                <a:solidFill>
                  <a:srgbClr val="595959"/>
                </a:solidFill>
              </a:rPr>
              <a:t>Examiner:  </a:t>
            </a:r>
            <a:r>
              <a:rPr sz="1300" b="0" dirty="0" err="1">
                <a:solidFill>
                  <a:srgbClr val="595959"/>
                </a:solidFill>
              </a:rPr>
              <a:t>apl</a:t>
            </a:r>
            <a:r>
              <a:rPr sz="1300" b="0" dirty="0">
                <a:solidFill>
                  <a:srgbClr val="595959"/>
                </a:solidFill>
              </a:rPr>
              <a:t>. Prof. Dr. Georg Groh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0" dirty="0">
                <a:solidFill>
                  <a:srgbClr val="595959"/>
                </a:solidFill>
              </a:rPr>
              <a:t>Chair of </a:t>
            </a:r>
            <a:r>
              <a:rPr sz="1300" b="0" dirty="0" err="1">
                <a:solidFill>
                  <a:srgbClr val="595959"/>
                </a:solidFill>
              </a:rPr>
              <a:t>Connected</a:t>
            </a:r>
            <a:r>
              <a:rPr sz="1300" b="0" dirty="0">
                <a:solidFill>
                  <a:srgbClr val="595959"/>
                </a:solidFill>
              </a:rPr>
              <a:t> Mobility  |  Munich, </a:t>
            </a:r>
            <a:r>
              <a:rPr lang="de-DE" sz="1300" b="0" dirty="0">
                <a:solidFill>
                  <a:srgbClr val="595959"/>
                </a:solidFill>
              </a:rPr>
              <a:t>11</a:t>
            </a:r>
            <a:r>
              <a:rPr sz="1300" b="0" dirty="0">
                <a:solidFill>
                  <a:srgbClr val="595959"/>
                </a:solidFill>
              </a:rPr>
              <a:t>. August 2026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de-DE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1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fld id="{CE58CB1E-F828-4F11-99E0-327109AF9DA4}" type="slidenum">
              <a:rPr lang="de-DE" smtClean="0"/>
              <a:pPr/>
              <a:t>52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12441905"/>
      </p:ext>
    </p:extLst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0">
                <a:solidFill>
                  <a:srgbClr val="000000"/>
                </a:solidFill>
              </a:rPr>
              <a:t>An LLM will answer. The problem is knowing whether to believe it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sz="1350" b="0">
                <a:solidFill>
                  <a:srgbClr val="0065BD"/>
                </a:solidFill>
              </a:rPr>
              <a:t>The research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225296"/>
            <a:ext cx="851306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50" b="0">
                <a:solidFill>
                  <a:srgbClr val="000000"/>
                </a:solidFill>
              </a:rPr>
              <a:t>•  Modern models extract these claims fluently — and also hallucinate, omit, and paraphrase away the qualifier that mattered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000000"/>
                </a:solidFill>
              </a:rPr>
              <a:t>•  For a clinical use case, an unsourced claim is worthless. You need the sentence, the page, the coordinates.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000000"/>
                </a:solidFill>
              </a:rPr>
              <a:t>•  So provenance is not a feature bolted on at the end — it is a hard constraint that shapes the whole architecture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000000"/>
                </a:solidFill>
              </a:rPr>
              <a:t>•  And it forces two pipelines: you cannot trace a rule to a paragraph if the parser silently dropped the table that paragraph refers to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0">
                <a:solidFill>
                  <a:srgbClr val="000000"/>
                </a:solidFill>
              </a:rPr>
              <a:t>Two pipelines, joined by a database that carries provenance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sz="1350" b="0">
                <a:solidFill>
                  <a:srgbClr val="0065BD"/>
                </a:solidFill>
              </a:rPr>
              <a:t>End-to-end architecture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88720"/>
            <a:ext cx="8503920" cy="28356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4115807"/>
            <a:ext cx="85130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555"/>
                </a:solidFill>
              </a:rPr>
              <a:t>Only the MAP stage is stochastic. Everything else is deterministic or a database operation.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0">
                <a:solidFill>
                  <a:srgbClr val="000000"/>
                </a:solidFill>
              </a:rPr>
              <a:t>Published PDFs are adversarial in ways nobody warns you about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sz="1350" b="0">
                <a:solidFill>
                  <a:srgbClr val="0065BD"/>
                </a:solidFill>
              </a:rPr>
              <a:t>Left: the page as published. Right: what the pipeline redacts before reading it.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247" y="1188720"/>
            <a:ext cx="6815505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4389120"/>
            <a:ext cx="85130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555"/>
                </a:solidFill>
              </a:rPr>
              <a:t>Running headers, footers and side matter are removed geometrically, before any text assembly.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0">
                <a:solidFill>
                  <a:srgbClr val="000000"/>
                </a:solidFill>
              </a:rPr>
              <a:t>Three things a detector called a table, and none of them is one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sz="1350" b="0">
                <a:solidFill>
                  <a:srgbClr val="0065BD"/>
                </a:solidFill>
              </a:rPr>
              <a:t>Detector false positives, suppressed by the pipeline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88720"/>
            <a:ext cx="8503920" cy="246080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3740967"/>
            <a:ext cx="85130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555"/>
                </a:solidFill>
              </a:rPr>
              <a:t>A journal masthead, an author byline, and a table nested inside a figure.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0">
                <a:solidFill>
                  <a:srgbClr val="000000"/>
                </a:solidFill>
              </a:rPr>
              <a:t>Text assembly also strips citations and layout artifacts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sz="1350" b="0">
                <a:solidFill>
                  <a:srgbClr val="0065BD"/>
                </a:solidFill>
              </a:rPr>
              <a:t>out/text_raw (pre-assembly) vs out/text (assembled)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88720"/>
            <a:ext cx="8503920" cy="28835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4163699"/>
            <a:ext cx="85130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555"/>
                </a:solidFill>
              </a:rPr>
              <a:t>Citation markers, hyphenation across column breaks, and ligature codepoints are all normalised before a sentence reaches the model.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0">
                <a:solidFill>
                  <a:srgbClr val="000000"/>
                </a:solidFill>
              </a:rPr>
              <a:t>RQ1: the targeted fixes roughly double strict-F1 on tables and figures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sz="1350" b="0">
                <a:solidFill>
                  <a:srgbClr val="0065BD"/>
                </a:solidFill>
              </a:rPr>
              <a:t>27-PDF rubric set · human labels · strict-F1 requires every applicable dimension to be correct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253" y="1188720"/>
            <a:ext cx="4871493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4389120"/>
            <a:ext cx="85130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555"/>
                </a:solidFill>
              </a:rPr>
              <a:t>Strict means no partial credit: a crop with the right region but a missing footnote scores zero.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0">
                <a:solidFill>
                  <a:srgbClr val="000000"/>
                </a:solidFill>
              </a:rPr>
              <a:t>Seven stages, and only the first one is stochastic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sz="1350" b="0">
                <a:solidFill>
                  <a:srgbClr val="0065BD"/>
                </a:solidFill>
              </a:rPr>
              <a:t>MAP → GROUNDING → NORMALIZE → GROUP → CANONICALIZE → RELATE → RESOLVE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88720"/>
            <a:ext cx="8503920" cy="2278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3558460"/>
            <a:ext cx="85130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555"/>
                </a:solidFill>
              </a:rPr>
              <a:t>Everything after MAP is deterministic — the same inputs give the same rules, every run.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0">
                <a:solidFill>
                  <a:srgbClr val="000000"/>
                </a:solidFill>
              </a:rPr>
              <a:t>Cheap voters decide; the strong model is called only on disagreement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sz="1350" b="0">
                <a:solidFill>
                  <a:srgbClr val="0065BD"/>
                </a:solidFill>
              </a:rPr>
              <a:t>Agreement-based cascading at the MAP stage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98" y="1188720"/>
            <a:ext cx="7805203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4389120"/>
            <a:ext cx="85130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555"/>
                </a:solidFill>
              </a:rPr>
              <a:t>Five voters across three providers. Escalation happens when they disagree, not on a schedule.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0">
                <a:solidFill>
                  <a:srgbClr val="000000"/>
                </a:solidFill>
              </a:rPr>
              <a:t>Grounding: every claim is checked against the sentence it cites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sz="1350" b="0">
                <a:solidFill>
                  <a:srgbClr val="0065BD"/>
                </a:solidFill>
              </a:rPr>
              <a:t>One frozen NLI model, no fine-tuning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225296"/>
            <a:ext cx="851306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50" b="0">
                <a:solidFill>
                  <a:srgbClr val="000000"/>
                </a:solidFill>
              </a:rPr>
              <a:t>•  MAP returns a claim plus the verbatim sentence it came from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000000"/>
                </a:solidFill>
              </a:rPr>
              <a:t>•  An NLI model scores entailment on that pair; below 0.5 the finding is dropped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000000"/>
                </a:solidFill>
              </a:rPr>
              <a:t>•  The model is </a:t>
            </a:r>
            <a:r>
              <a:rPr sz="1450" b="1">
                <a:solidFill>
                  <a:srgbClr val="000000"/>
                </a:solidFill>
              </a:rPr>
              <a:t>PubMedBERT-MNLI-MedNLI</a:t>
            </a:r>
            <a:r>
              <a:rPr sz="1450" b="0">
                <a:solidFill>
                  <a:srgbClr val="000000"/>
                </a:solidFill>
              </a:rPr>
              <a:t>, frozen — no fine-tuning, and the same model is reused later for relation classification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000000"/>
                </a:solidFill>
              </a:rPr>
              <a:t>•  This is the check that catches a fluent, well-formed, unsupported claim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0">
                <a:solidFill>
                  <a:srgbClr val="000000"/>
                </a:solidFill>
              </a:rPr>
              <a:t>RQ2: 1,747 rules, and every one traces back to a source paragraph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sz="1350" b="0">
                <a:solidFill>
                  <a:srgbClr val="0065BD"/>
                </a:solidFill>
              </a:rPr>
              <a:t>related15 · frozen five-voter cascade · θ = 0.9, grounding 0.5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6891" y="1188720"/>
            <a:ext cx="4330216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4389120"/>
            <a:ext cx="85130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555"/>
                </a:solidFill>
              </a:rPr>
              <a:t>The funnel is lossy by design — each stage removes findings that cannot be supported.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0">
                <a:solidFill>
                  <a:srgbClr val="000000"/>
                </a:solidFill>
              </a:rPr>
              <a:t>RQ3a: top cascade quality requires near-universal escalation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sz="1350" b="0">
                <a:solidFill>
                  <a:srgbClr val="0065BD"/>
                </a:solidFill>
              </a:rPr>
              <a:t>Calibration on related15 · 474 chunks · strict-F1 vs Opus silver labels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744" y="1188720"/>
            <a:ext cx="5112511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4389120"/>
            <a:ext cx="85130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555"/>
                </a:solidFill>
              </a:rPr>
              <a:t>At the shipped operating point, 95.6% of chunks reach the strong model.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0">
                <a:solidFill>
                  <a:srgbClr val="000000"/>
                </a:solidFill>
              </a:rPr>
              <a:t>RQ3b: the cascade ties the best single model, which costs 24% less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sz="1350" b="0">
                <a:solidFill>
                  <a:srgbClr val="0065BD"/>
                </a:solidFill>
              </a:rPr>
              <a:t>The thesis's central negative result — reported, not buried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761" y="1188720"/>
            <a:ext cx="6018477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4389120"/>
            <a:ext cx="85130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555"/>
                </a:solidFill>
              </a:rPr>
              <a:t>Four operating points on the cascade's θ-curve. A single Sonnet sits above the frontier's knee at lower cost.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0">
                <a:solidFill>
                  <a:srgbClr val="000000"/>
                </a:solidFill>
              </a:rPr>
              <a:t>RQ4: one frozen NLI model, two roles — grounding costs six F1 points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sz="1350" b="0">
                <a:solidFill>
                  <a:srgbClr val="0065BD"/>
                </a:solidFill>
              </a:rPr>
              <a:t>Same model for claim-level grounding and pairwise relation classification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88720"/>
            <a:ext cx="8503920" cy="30041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4284348"/>
            <a:ext cx="85130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555"/>
                </a:solidFill>
              </a:rPr>
              <a:t>The grounding filter is a deliberate precision-for-recall trade, quantified rather than assumed.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0">
                <a:solidFill>
                  <a:srgbClr val="000000"/>
                </a:solidFill>
              </a:rPr>
              <a:t>RQ5: held-out performance sits within noise of calibration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sz="1350" b="0">
                <a:solidFill>
                  <a:srgbClr val="0065BD"/>
                </a:solidFill>
              </a:rPr>
              <a:t>heldout15 — 15 papers, disjoint from calibration, randomly sampled, configuration frozen before evaluation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268" y="1188720"/>
            <a:ext cx="4889462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4389120"/>
            <a:ext cx="85130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555"/>
                </a:solidFill>
              </a:rPr>
              <a:t>Two physically separate clusters, so the held-out set is structurally impossible to tune 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el 1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2" id="{F266FCC4-7D6D-1F4C-B467-8A21D017BCEF}" vid="{F39E7027-915F-7341-A9EA-C8CBFD2E8FA2}"/>
    </a:ext>
  </a:extLst>
</a:theme>
</file>

<file path=ppt/theme/theme2.xml><?xml version="1.0" encoding="utf-8"?>
<a:theme xmlns:a="http://schemas.openxmlformats.org/drawingml/2006/main" name="Title Blank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itel 2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2" id="{F266FCC4-7D6D-1F4C-B467-8A21D017BCEF}" vid="{BD7862EB-E8D6-994B-BBF4-6CC3FFF92DD2}"/>
    </a:ext>
  </a:extLst>
</a:theme>
</file>

<file path=ppt/theme/theme4.xml><?xml version="1.0" encoding="utf-8"?>
<a:theme xmlns:a="http://schemas.openxmlformats.org/drawingml/2006/main" name="Titel 3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2" id="{F266FCC4-7D6D-1F4C-B467-8A21D017BCEF}" vid="{16AD8073-F55B-9144-802C-46456E9E217B}"/>
    </a:ext>
  </a:extLst>
</a:theme>
</file>

<file path=ppt/theme/theme5.xml><?xml version="1.0" encoding="utf-8"?>
<a:theme xmlns:a="http://schemas.openxmlformats.org/drawingml/2006/main" name="Inhalt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2" id="{F266FCC4-7D6D-1F4C-B467-8A21D017BCEF}" vid="{741D405E-8307-9B40-9F97-3F5DAC837EF3}"/>
    </a:ext>
  </a:extLst>
</a:theme>
</file>

<file path=ppt/theme/theme5.xml><?xml version="1.0" encoding="utf-8"?>
<a:theme xmlns:a="http://schemas.openxmlformats.org/drawingml/2006/main" name="Inhalt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2" id="{F266FCC4-7D6D-1F4C-B467-8A21D017BCEF}" vid="{741D405E-8307-9B40-9F97-3F5DAC837EF3}"/>
    </a:ext>
  </a:extLst>
</a:theme>
</file>

<file path=ppt/theme/theme6.xml><?xml version="1.0" encoding="utf-8"?>
<a:theme xmlns:a="http://schemas.openxmlformats.org/drawingml/2006/main" name="Kapiteltrenner blau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2" id="{F266FCC4-7D6D-1F4C-B467-8A21D017BCEF}" vid="{4BFAB656-7532-6C41-9541-858AFF7D6765}"/>
    </a:ext>
  </a:extLst>
</a:theme>
</file>

<file path=ppt/theme/theme7.xml><?xml version="1.0" encoding="utf-8"?>
<a:theme xmlns:a="http://schemas.openxmlformats.org/drawingml/2006/main" name="Kapiteltrenner schwarz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2" id="{F266FCC4-7D6D-1F4C-B467-8A21D017BCEF}" vid="{A724F04A-1212-AA4C-B6F1-157BE88DDFD7}"/>
    </a:ext>
  </a:extLst>
</a:theme>
</file>

<file path=ppt/theme/theme8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TUM_Praesentation_p_v1_16-9 (5)</Template>
  <TotalTime>591</TotalTime>
  <Words>16355</Words>
  <Application>Microsoft Macintosh PowerPoint</Application>
  <PresentationFormat>On-screen Show (16:9)</PresentationFormat>
  <Paragraphs>1660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52</vt:i4>
      </vt:variant>
    </vt:vector>
  </HeadingPairs>
  <TitlesOfParts>
    <vt:vector size="64" baseType="lpstr">
      <vt:lpstr>Arial</vt:lpstr>
      <vt:lpstr>Calibri</vt:lpstr>
      <vt:lpstr>Courier New</vt:lpstr>
      <vt:lpstr>Symbol</vt:lpstr>
      <vt:lpstr>Wingdings</vt:lpstr>
      <vt:lpstr>Titel 1</vt:lpstr>
      <vt:lpstr>Title Blank</vt:lpstr>
      <vt:lpstr>Titel 2</vt:lpstr>
      <vt:lpstr>Titel 3</vt:lpstr>
      <vt:lpstr>Inhalt</vt:lpstr>
      <vt:lpstr>Kapiteltrenner blau</vt:lpstr>
      <vt:lpstr>Kapiteltrenner schwarz</vt:lpstr>
      <vt:lpstr>A Pipeline for Extracting Simple Rules from Medical Literature for Automatic Disease Detection in Histopathology</vt:lpstr>
      <vt:lpstr>Diagnostic knowledge is trapped in prose, and an LLM's word for it is not enough</vt:lpstr>
      <vt:lpstr>Five research questions, each answered by a measurement</vt:lpstr>
      <vt:lpstr>Two pipelines, joined by a database that carries provenance</vt:lpstr>
      <vt:lpstr>Docling plus three targeted fixes, each aimed at a named failure</vt:lpstr>
      <vt:lpstr>Two-pass extraction removes an invisible “FOR PEER REVIEW” header</vt:lpstr>
      <vt:lpstr>Illustrative extraction example from the evaluation corpus</vt:lpstr>
      <vt:lpstr>Seven stages, only the MAP stage is stochastic</vt:lpstr>
      <vt:lpstr>Cheap voters decide; the strong model is called on disagreement</vt:lpstr>
      <vt:lpstr>How the agreement scorer picks a winner</vt:lpstr>
      <vt:lpstr>Four frozen datasets: one human-labeled, three LLM-labeled</vt:lpstr>
      <vt:lpstr>RQ1: Footnote capture and figure post-processing roughly double strict-F1</vt:lpstr>
      <vt:lpstr>Footnote expansion is the single biggest lever in the document layer</vt:lpstr>
      <vt:lpstr>RQ2: 1,747 rules, and every one traces back to a source paragraph</vt:lpstr>
      <vt:lpstr>What one extracted rule actually looks like</vt:lpstr>
      <vt:lpstr>RQ3a: Top cascade quality requires near-universal escalation</vt:lpstr>
      <vt:lpstr>How the shipped configuration was chosen: six experiments, in order</vt:lpstr>
      <vt:lpstr>RQ3b: The cascade ties the best single model, which costs 24% less</vt:lpstr>
      <vt:lpstr>RQ4: One frozen NLI model, two roles: grounding costs 6 F1 points</vt:lpstr>
      <vt:lpstr>RQ5: Held-out performance sits within noise of calibration</vt:lpstr>
      <vt:lpstr>Every number after RQ1 measures agreement with an LLM, not a pathologist</vt:lpstr>
      <vt:lpstr>Four questions answered; one negative result reported, not buried</vt:lpstr>
      <vt:lpstr>Backup</vt:lpstr>
      <vt:lpstr>Post-submission audit: the sub-figure merge step never executes</vt:lpstr>
      <vt:lpstr>B1 · Research questions, and their answers</vt:lpstr>
      <vt:lpstr>B2 · Corpus acquisition and the page-cap trade-off</vt:lpstr>
      <vt:lpstr>B3 · Why these 15 calibration papers: an integer linear program</vt:lpstr>
      <vt:lpstr>B4 · The document-extraction rubric: four dimensions, no partial credit</vt:lpstr>
      <vt:lpstr>B5 · Full document-extraction sweep, all key variants</vt:lpstr>
      <vt:lpstr>B6 · How a pipeline finding is matched to a silver label</vt:lpstr>
      <vt:lpstr>B7 · The pinned cascade configuration of record</vt:lpstr>
      <vt:lpstr>B8 · θ sweep and the gate ablation</vt:lpstr>
      <vt:lpstr>B9 · Cost model, operating points, and all single-model baselines</vt:lpstr>
      <vt:lpstr>B10 · Significance testing: paper-level clustered paired bootstrap</vt:lpstr>
      <vt:lpstr>B11 · Grounding score distribution and threshold trade-off</vt:lpstr>
      <vt:lpstr>B12 · Relation classification, per class, both input modes</vt:lpstr>
      <vt:lpstr>B13 · Held-out knowledge-extraction funnel, side by side</vt:lpstr>
      <vt:lpstr>B14 · Provenance chain and offline replay</vt:lpstr>
      <vt:lpstr>B15 · Operating points: why the knee misses the middle</vt:lpstr>
      <vt:lpstr>Expansion slides</vt:lpstr>
      <vt:lpstr>E1 · The icon filter removes journal furniture, not science</vt:lpstr>
      <vt:lpstr>E2 · Same pixels, correct caption: the geometric matcher</vt:lpstr>
      <vt:lpstr>E3 · A hidden duplicate paragraph would have been extracted twice</vt:lpstr>
      <vt:lpstr>E4 · Paragraph stitching is purely syntactic, which cuts both ways</vt:lpstr>
      <vt:lpstr>E5 · The corpus graph is small, but one contradiction is real</vt:lpstr>
      <vt:lpstr>E6 · Every component is mature; the audited integration is not</vt:lpstr>
      <vt:lpstr>E7 · Header, footer and sidebar are redacted before text assembly</vt:lpstr>
      <vt:lpstr>E8 · Three things a detector called a table, and none of them is one</vt:lpstr>
      <vt:lpstr>E9 · Three artifacts the baseline failed to produce correctly</vt:lpstr>
      <vt:lpstr>E10 · Text assembly also strips citations and layout artifacts</vt:lpstr>
      <vt:lpstr>E11 · The agreement scorer, end to end</vt:lpstr>
      <vt:lpstr>A Pipeline for Extracting Simple Rules from Medical Literature for Automatic Disease Detection in Histopathology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Wei Tian</dc:creator>
  <cp:lastModifiedBy>Emirhan Nadir Karaman</cp:lastModifiedBy>
  <cp:revision>49</cp:revision>
  <cp:lastPrinted>2015-07-30T14:04:45Z</cp:lastPrinted>
  <dcterms:created xsi:type="dcterms:W3CDTF">2020-10-03T23:03:33Z</dcterms:created>
  <dcterms:modified xsi:type="dcterms:W3CDTF">2026-08-09T15:06:08Z</dcterms:modified>
</cp:coreProperties>
</file>